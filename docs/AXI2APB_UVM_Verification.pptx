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8.xml.rels" ContentType="application/vnd.openxmlformats-package.relationships+xml"/>
  <Override PartName="/ppt/notesSlides/_rels/notesSlide2.xml.rels" ContentType="application/vnd.openxmlformats-package.relationships+xml"/>
  <Override PartName="/ppt/notesSlides/_rels/notesSlide7.xml.rels" ContentType="application/vnd.openxmlformats-package.relationships+xml"/>
  <Override PartName="/ppt/notesSlides/_rels/notesSlide1.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_rels/presentation.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23.xml.rels" ContentType="application/vnd.openxmlformats-package.relationships+xml"/>
  <Override PartName="/ppt/slideLayouts/_rels/slideLayout30.xml.rels" ContentType="application/vnd.openxmlformats-package.relationships+xml"/>
  <Override PartName="/ppt/slideLayouts/_rels/slideLayout14.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5.xml.rels" ContentType="application/vnd.openxmlformats-package.relationships+xml"/>
  <Override PartName="/ppt/slideLayouts/_rels/slideLayout16.xml.rels" ContentType="application/vnd.openxmlformats-package.relationships+xml"/>
  <Override PartName="/ppt/slideLayouts/_rels/slideLayout32.xml.rels" ContentType="application/vnd.openxmlformats-package.relationships+xml"/>
  <Override PartName="/ppt/slideLayouts/_rels/slideLayout34.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3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27.xml.rels" ContentType="application/vnd.openxmlformats-package.relationships+xml"/>
  <Override PartName="/ppt/slideLayouts/_rels/slideLayout5.xml.rels" ContentType="application/vnd.openxmlformats-package.relationships+xml"/>
  <Override PartName="/ppt/slideLayouts/_rels/slideLayout1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33.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4.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media/image9.png" ContentType="image/png"/>
  <Override PartName="/ppt/media/image13.png" ContentType="image/png"/>
  <Override PartName="/ppt/media/image8.png" ContentType="image/png"/>
  <Override PartName="/ppt/media/image12.png" ContentType="image/png"/>
  <Override PartName="/ppt/media/image7.png" ContentType="image/png"/>
  <Override PartName="/ppt/media/image11.png" ContentType="image/png"/>
  <Override PartName="/ppt/media/image6.png" ContentType="image/png"/>
  <Override PartName="/ppt/media/image10.png" ContentType="image/png"/>
  <Override PartName="/ppt/media/image5.png" ContentType="image/png"/>
  <Override PartName="/ppt/media/image22.png" ContentType="image/png"/>
  <Override PartName="/ppt/media/image4.png" ContentType="image/png"/>
  <Override PartName="/ppt/media/image21.png" ContentType="image/png"/>
  <Override PartName="/ppt/media/image19.png" ContentType="image/png"/>
  <Override PartName="/ppt/media/image1.png" ContentType="image/png"/>
  <Override PartName="/ppt/media/image3.png" ContentType="image/png"/>
  <Override PartName="/ppt/media/image20.png" ContentType="image/png"/>
  <Override PartName="/ppt/media/image18.png" ContentType="image/png"/>
  <Override PartName="/ppt/media/image17.png" ContentType="image/png"/>
  <Override PartName="/ppt/media/image16.png" ContentType="image/png"/>
  <Override PartName="/ppt/media/image15.png" ContentType="image/png"/>
  <Override PartName="/ppt/media/image14.png" ContentType="image/png"/>
  <Override PartName="/ppt/media/image2.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3.xml.rels" ContentType="application/vnd.openxmlformats-package.relationships+xml"/>
  <Override PartName="/ppt/slides/_rels/slide12.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2192000" cy="6858000"/>
  <p:notesSz cx="6858000" cy="12192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sldImg"/>
          </p:nvPr>
        </p:nvSpPr>
        <p:spPr>
          <a:xfrm>
            <a:off x="533520" y="764280"/>
            <a:ext cx="6704640" cy="3771360"/>
          </a:xfrm>
          <a:prstGeom prst="rect">
            <a:avLst/>
          </a:prstGeom>
        </p:spPr>
        <p:txBody>
          <a:bodyPr lIns="0" rIns="0" tIns="0" bIns="0" anchor="ctr">
            <a:noAutofit/>
          </a:bodyPr>
          <a:p>
            <a:r>
              <a:rPr b="0" lang="en-US" sz="1800" spc="-1" strike="noStrike">
                <a:solidFill>
                  <a:srgbClr val="0f1b2d"/>
                </a:solidFill>
                <a:latin typeface="Calibri"/>
              </a:rPr>
              <a:t>Clic</a:t>
            </a:r>
            <a:r>
              <a:rPr b="0" lang="en-US" sz="1800" spc="-1" strike="noStrike">
                <a:solidFill>
                  <a:srgbClr val="0f1b2d"/>
                </a:solidFill>
                <a:latin typeface="Calibri"/>
              </a:rPr>
              <a:t>k to </a:t>
            </a:r>
            <a:r>
              <a:rPr b="0" lang="en-US" sz="1800" spc="-1" strike="noStrike">
                <a:solidFill>
                  <a:srgbClr val="0f1b2d"/>
                </a:solidFill>
                <a:latin typeface="Calibri"/>
              </a:rPr>
              <a:t>mov</a:t>
            </a:r>
            <a:r>
              <a:rPr b="0" lang="en-US" sz="1800" spc="-1" strike="noStrike">
                <a:solidFill>
                  <a:srgbClr val="0f1b2d"/>
                </a:solidFill>
                <a:latin typeface="Calibri"/>
              </a:rPr>
              <a:t>e </a:t>
            </a:r>
            <a:r>
              <a:rPr b="0" lang="en-US" sz="1800" spc="-1" strike="noStrike">
                <a:solidFill>
                  <a:srgbClr val="0f1b2d"/>
                </a:solidFill>
                <a:latin typeface="Calibri"/>
              </a:rPr>
              <a:t>the </a:t>
            </a:r>
            <a:r>
              <a:rPr b="0" lang="en-US" sz="1800" spc="-1" strike="noStrike">
                <a:solidFill>
                  <a:srgbClr val="0f1b2d"/>
                </a:solidFill>
                <a:latin typeface="Calibri"/>
              </a:rPr>
              <a:t>slid</a:t>
            </a:r>
            <a:r>
              <a:rPr b="0" lang="en-US" sz="1800" spc="-1" strike="noStrike">
                <a:solidFill>
                  <a:srgbClr val="0f1b2d"/>
                </a:solidFill>
                <a:latin typeface="Calibri"/>
              </a:rPr>
              <a:t>e</a:t>
            </a:r>
            <a:endParaRPr b="0" lang="en-US" sz="1800" spc="-1" strike="noStrike">
              <a:solidFill>
                <a:srgbClr val="0f1b2d"/>
              </a:solidFill>
              <a:latin typeface="Calibri"/>
            </a:endParaRPr>
          </a:p>
        </p:txBody>
      </p:sp>
      <p:sp>
        <p:nvSpPr>
          <p:cNvPr id="119" name="PlaceHolder 2"/>
          <p:cNvSpPr>
            <a:spLocks noGrp="1"/>
          </p:cNvSpPr>
          <p:nvPr>
            <p:ph type="body"/>
          </p:nvPr>
        </p:nvSpPr>
        <p:spPr>
          <a:xfrm>
            <a:off x="777240" y="4777560"/>
            <a:ext cx="6217560" cy="4525920"/>
          </a:xfrm>
          <a:prstGeom prst="rect">
            <a:avLst/>
          </a:prstGeom>
        </p:spPr>
        <p:txBody>
          <a:bodyPr lIns="0" rIns="0" tIns="0" bIns="0">
            <a:noAutofit/>
          </a:bodyPr>
          <a:p>
            <a:r>
              <a:rPr b="0" lang="en-US" sz="2000" spc="-1" strike="noStrike">
                <a:latin typeface="Arial"/>
              </a:rPr>
              <a:t>Click to edit the notes format</a:t>
            </a:r>
            <a:endParaRPr b="0" lang="en-US" sz="2000" spc="-1" strike="noStrike">
              <a:latin typeface="Arial"/>
            </a:endParaRPr>
          </a:p>
        </p:txBody>
      </p:sp>
      <p:sp>
        <p:nvSpPr>
          <p:cNvPr id="120" name="PlaceHolder 3"/>
          <p:cNvSpPr>
            <a:spLocks noGrp="1"/>
          </p:cNvSpPr>
          <p:nvPr>
            <p:ph type="hdr"/>
          </p:nvPr>
        </p:nvSpPr>
        <p:spPr>
          <a:xfrm>
            <a:off x="0" y="0"/>
            <a:ext cx="3372840" cy="502560"/>
          </a:xfrm>
          <a:prstGeom prst="rect">
            <a:avLst/>
          </a:prstGeom>
        </p:spPr>
        <p:txBody>
          <a:bodyPr lIns="0" rIns="0" tIns="0" bIns="0">
            <a:noAutofit/>
          </a:bodyPr>
          <a:p>
            <a:r>
              <a:rPr b="0" lang="en-US" sz="1400" spc="-1" strike="noStrike">
                <a:latin typeface="Times New Roman"/>
              </a:rPr>
              <a:t>&lt;header&gt;</a:t>
            </a:r>
            <a:endParaRPr b="0" lang="en-US" sz="1400" spc="-1" strike="noStrike">
              <a:latin typeface="Times New Roman"/>
            </a:endParaRPr>
          </a:p>
        </p:txBody>
      </p:sp>
      <p:sp>
        <p:nvSpPr>
          <p:cNvPr id="121" name="PlaceHolder 4"/>
          <p:cNvSpPr>
            <a:spLocks noGrp="1"/>
          </p:cNvSpPr>
          <p:nvPr>
            <p:ph type="dt"/>
          </p:nvPr>
        </p:nvSpPr>
        <p:spPr>
          <a:xfrm>
            <a:off x="4399200" y="0"/>
            <a:ext cx="3372840" cy="502560"/>
          </a:xfrm>
          <a:prstGeom prst="rect">
            <a:avLst/>
          </a:prstGeom>
        </p:spPr>
        <p:txBody>
          <a:bodyPr lIns="0" rIns="0" tIns="0" bIns="0">
            <a:noAutofit/>
          </a:bodyPr>
          <a:p>
            <a:pPr algn="r"/>
            <a:r>
              <a:rPr b="0" lang="en-US" sz="1400" spc="-1" strike="noStrike">
                <a:latin typeface="Times New Roman"/>
              </a:rPr>
              <a:t>&lt;date/time&gt;</a:t>
            </a:r>
            <a:endParaRPr b="0" lang="en-US" sz="1400" spc="-1" strike="noStrike">
              <a:latin typeface="Times New Roman"/>
            </a:endParaRPr>
          </a:p>
        </p:txBody>
      </p:sp>
      <p:sp>
        <p:nvSpPr>
          <p:cNvPr id="122" name="PlaceHolder 5"/>
          <p:cNvSpPr>
            <a:spLocks noGrp="1"/>
          </p:cNvSpPr>
          <p:nvPr>
            <p:ph type="ftr"/>
          </p:nvPr>
        </p:nvSpPr>
        <p:spPr>
          <a:xfrm>
            <a:off x="0" y="9555480"/>
            <a:ext cx="3372840" cy="502560"/>
          </a:xfrm>
          <a:prstGeom prst="rect">
            <a:avLst/>
          </a:prstGeom>
        </p:spPr>
        <p:txBody>
          <a:bodyPr lIns="0" rIns="0" tIns="0" bIns="0" anchor="b">
            <a:noAutofit/>
          </a:bodyPr>
          <a:p>
            <a:r>
              <a:rPr b="0" lang="en-US" sz="1400" spc="-1" strike="noStrike">
                <a:latin typeface="Times New Roman"/>
              </a:rPr>
              <a:t>&lt;footer&gt;</a:t>
            </a:r>
            <a:endParaRPr b="0" lang="en-US" sz="1400" spc="-1" strike="noStrike">
              <a:latin typeface="Times New Roman"/>
            </a:endParaRPr>
          </a:p>
        </p:txBody>
      </p:sp>
      <p:sp>
        <p:nvSpPr>
          <p:cNvPr id="123" name="PlaceHolder 6"/>
          <p:cNvSpPr>
            <a:spLocks noGrp="1"/>
          </p:cNvSpPr>
          <p:nvPr>
            <p:ph type="sldNum"/>
          </p:nvPr>
        </p:nvSpPr>
        <p:spPr>
          <a:xfrm>
            <a:off x="4399200" y="9555480"/>
            <a:ext cx="3372840" cy="502560"/>
          </a:xfrm>
          <a:prstGeom prst="rect">
            <a:avLst/>
          </a:prstGeom>
        </p:spPr>
        <p:txBody>
          <a:bodyPr lIns="0" rIns="0" tIns="0" bIns="0" anchor="b">
            <a:noAutofit/>
          </a:bodyPr>
          <a:p>
            <a:pPr algn="r"/>
            <a:fld id="{EA270FFA-A5EC-4C96-9C81-5BCA8ADE9D1E}"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PlaceHolder 1"/>
          <p:cNvSpPr>
            <a:spLocks noGrp="1"/>
          </p:cNvSpPr>
          <p:nvPr>
            <p:ph type="sldImg"/>
          </p:nvPr>
        </p:nvSpPr>
        <p:spPr>
          <a:xfrm>
            <a:off x="685800" y="1143000"/>
            <a:ext cx="5486040" cy="3085920"/>
          </a:xfrm>
          <a:prstGeom prst="rect">
            <a:avLst/>
          </a:prstGeom>
        </p:spPr>
      </p:sp>
      <p:sp>
        <p:nvSpPr>
          <p:cNvPr id="449"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Introduce the project: a UVM environment that verifies the axi2apb bridge. The DUT is an AXI slave on one side and an APB master on the other, so the testbench plays AXI master and APB slave.</a:t>
            </a:r>
            <a:endParaRPr b="0" lang="en-US" sz="2000" spc="-1" strike="noStrike">
              <a:latin typeface="Arial"/>
            </a:endParaRPr>
          </a:p>
        </p:txBody>
      </p:sp>
      <p:sp>
        <p:nvSpPr>
          <p:cNvPr id="450" name="TextShape 3"/>
          <p:cNvSpPr txBox="1"/>
          <p:nvPr/>
        </p:nvSpPr>
        <p:spPr>
          <a:xfrm>
            <a:off x="3884760" y="8685360"/>
            <a:ext cx="2971440" cy="458280"/>
          </a:xfrm>
          <a:prstGeom prst="rect">
            <a:avLst/>
          </a:prstGeom>
          <a:noFill/>
          <a:ln>
            <a:noFill/>
          </a:ln>
        </p:spPr>
        <p:txBody>
          <a:bodyPr anchor="b">
            <a:noAutofit/>
          </a:bodyPr>
          <a:p>
            <a:pPr algn="r">
              <a:lnSpc>
                <a:spcPct val="100000"/>
              </a:lnSpc>
            </a:pPr>
            <a:fld id="{45BAEB98-C6AD-45E4-9698-8B1543E11757}"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sldImg"/>
          </p:nvPr>
        </p:nvSpPr>
        <p:spPr>
          <a:xfrm>
            <a:off x="685800" y="1143000"/>
            <a:ext cx="5486040" cy="3085920"/>
          </a:xfrm>
          <a:prstGeom prst="rect">
            <a:avLst/>
          </a:prstGeom>
        </p:spPr>
      </p:sp>
      <p:sp>
        <p:nvSpPr>
          <p:cNvPr id="452"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Scope: one DUT, two agents, directed tests only. Seven RTL files are verified unmodified. The testbench-only fifo model is not counted.</a:t>
            </a:r>
            <a:endParaRPr b="0" lang="en-US" sz="2000" spc="-1" strike="noStrike">
              <a:latin typeface="Arial"/>
            </a:endParaRPr>
          </a:p>
        </p:txBody>
      </p:sp>
      <p:sp>
        <p:nvSpPr>
          <p:cNvPr id="453" name="TextShape 3"/>
          <p:cNvSpPr txBox="1"/>
          <p:nvPr/>
        </p:nvSpPr>
        <p:spPr>
          <a:xfrm>
            <a:off x="3884760" y="8685360"/>
            <a:ext cx="2971440" cy="458280"/>
          </a:xfrm>
          <a:prstGeom prst="rect">
            <a:avLst/>
          </a:prstGeom>
          <a:noFill/>
          <a:ln>
            <a:noFill/>
          </a:ln>
        </p:spPr>
        <p:txBody>
          <a:bodyPr anchor="b">
            <a:noAutofit/>
          </a:bodyPr>
          <a:p>
            <a:pPr algn="r">
              <a:lnSpc>
                <a:spcPct val="100000"/>
              </a:lnSpc>
            </a:pPr>
            <a:fld id="{25B44DFC-A319-4E36-BF05-8E9D131FA5BD}"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sldImg"/>
          </p:nvPr>
        </p:nvSpPr>
        <p:spPr>
          <a:xfrm>
            <a:off x="685800" y="1143000"/>
            <a:ext cx="5486040" cy="3085920"/>
          </a:xfrm>
          <a:prstGeom prst="rect">
            <a:avLst/>
          </a:prstGeom>
        </p:spPr>
      </p:sp>
      <p:sp>
        <p:nvSpPr>
          <p:cNvPr id="455"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Walk left to right. The testbench plays both outer blocks. Inside the dashed boundary: five channel buffers (each a FIFO slice), the FSM, and the APB master port. Mention the missing fifo module and that it was reported rather than silently fixed.</a:t>
            </a:r>
            <a:endParaRPr b="0" lang="en-US" sz="2000" spc="-1" strike="noStrike">
              <a:latin typeface="Arial"/>
            </a:endParaRPr>
          </a:p>
        </p:txBody>
      </p:sp>
      <p:sp>
        <p:nvSpPr>
          <p:cNvPr id="456" name="TextShape 3"/>
          <p:cNvSpPr txBox="1"/>
          <p:nvPr/>
        </p:nvSpPr>
        <p:spPr>
          <a:xfrm>
            <a:off x="3884760" y="8685360"/>
            <a:ext cx="2971440" cy="458280"/>
          </a:xfrm>
          <a:prstGeom prst="rect">
            <a:avLst/>
          </a:prstGeom>
          <a:noFill/>
          <a:ln>
            <a:noFill/>
          </a:ln>
        </p:spPr>
        <p:txBody>
          <a:bodyPr anchor="b">
            <a:noAutofit/>
          </a:bodyPr>
          <a:p>
            <a:pPr algn="r">
              <a:lnSpc>
                <a:spcPct val="100000"/>
              </a:lnSpc>
            </a:pPr>
            <a:fld id="{5F50A9A9-AFCA-4D4D-9428-6255F5F3988F}"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sldImg"/>
          </p:nvPr>
        </p:nvSpPr>
        <p:spPr>
          <a:xfrm>
            <a:off x="685800" y="1143000"/>
            <a:ext cx="5486040" cy="3085920"/>
          </a:xfrm>
          <a:prstGeom prst="rect">
            <a:avLst/>
          </a:prstGeom>
        </p:spPr>
      </p:sp>
      <p:sp>
        <p:nvSpPr>
          <p:cNvPr id="458"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These six observations come from reading the RTL. Each one is either checked by the scoreboard or documented by a dedicated test: PSLVERR and WSTRB have their own tests, read priority has the priority test.</a:t>
            </a:r>
            <a:endParaRPr b="0" lang="en-US" sz="2000" spc="-1" strike="noStrike">
              <a:latin typeface="Arial"/>
            </a:endParaRPr>
          </a:p>
        </p:txBody>
      </p:sp>
      <p:sp>
        <p:nvSpPr>
          <p:cNvPr id="459" name="TextShape 3"/>
          <p:cNvSpPr txBox="1"/>
          <p:nvPr/>
        </p:nvSpPr>
        <p:spPr>
          <a:xfrm>
            <a:off x="3884760" y="8685360"/>
            <a:ext cx="2971440" cy="458280"/>
          </a:xfrm>
          <a:prstGeom prst="rect">
            <a:avLst/>
          </a:prstGeom>
          <a:noFill/>
          <a:ln>
            <a:noFill/>
          </a:ln>
        </p:spPr>
        <p:txBody>
          <a:bodyPr anchor="b">
            <a:noAutofit/>
          </a:bodyPr>
          <a:p>
            <a:pPr algn="r">
              <a:lnSpc>
                <a:spcPct val="100000"/>
              </a:lnSpc>
            </a:pPr>
            <a:fld id="{AE2D1F07-5EE4-4F4D-AFDC-FBCADAB2D6D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sldImg"/>
          </p:nvPr>
        </p:nvSpPr>
        <p:spPr>
          <a:xfrm>
            <a:off x="685800" y="1143000"/>
            <a:ext cx="5486040" cy="3085920"/>
          </a:xfrm>
          <a:prstGeom prst="rect">
            <a:avLst/>
          </a:prstGeom>
        </p:spPr>
      </p:sp>
      <p:sp>
        <p:nvSpPr>
          <p:cNvPr id="461"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Two lanes, one per direction. The dashed wait states are only entered when PREADY is low in the first cycle. DONE_SINGLE_RD and SEND_B_RESP push the response into the R or B buffer and pop the request FIFOs.</a:t>
            </a:r>
            <a:endParaRPr b="0" lang="en-US" sz="2000" spc="-1" strike="noStrike">
              <a:latin typeface="Arial"/>
            </a:endParaRPr>
          </a:p>
        </p:txBody>
      </p:sp>
      <p:sp>
        <p:nvSpPr>
          <p:cNvPr id="462" name="TextShape 3"/>
          <p:cNvSpPr txBox="1"/>
          <p:nvPr/>
        </p:nvSpPr>
        <p:spPr>
          <a:xfrm>
            <a:off x="3884760" y="8685360"/>
            <a:ext cx="2971440" cy="458280"/>
          </a:xfrm>
          <a:prstGeom prst="rect">
            <a:avLst/>
          </a:prstGeom>
          <a:noFill/>
          <a:ln>
            <a:noFill/>
          </a:ln>
        </p:spPr>
        <p:txBody>
          <a:bodyPr anchor="b">
            <a:noAutofit/>
          </a:bodyPr>
          <a:p>
            <a:pPr algn="r">
              <a:lnSpc>
                <a:spcPct val="100000"/>
              </a:lnSpc>
            </a:pPr>
            <a:fld id="{6B0111FA-BCBB-46FC-9D13-0CC8460D332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PlaceHolder 1"/>
          <p:cNvSpPr>
            <a:spLocks noGrp="1"/>
          </p:cNvSpPr>
          <p:nvPr>
            <p:ph type="sldImg"/>
          </p:nvPr>
        </p:nvSpPr>
        <p:spPr>
          <a:xfrm>
            <a:off x="685800" y="1143000"/>
            <a:ext cx="5486040" cy="3085920"/>
          </a:xfrm>
          <a:prstGeom prst="rect">
            <a:avLst/>
          </a:prstGeom>
        </p:spPr>
      </p:sp>
      <p:sp>
        <p:nvSpPr>
          <p:cNvPr id="464"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The test starts a virtual sequence. It drives the AXI sequencer and queues response items for the APB sequencer. Both monitors publish transactions to the scoreboard and the coverage collector.</a:t>
            </a:r>
            <a:endParaRPr b="0" lang="en-US" sz="2000" spc="-1" strike="noStrike">
              <a:latin typeface="Arial"/>
            </a:endParaRPr>
          </a:p>
        </p:txBody>
      </p:sp>
      <p:sp>
        <p:nvSpPr>
          <p:cNvPr id="465" name="TextShape 3"/>
          <p:cNvSpPr txBox="1"/>
          <p:nvPr/>
        </p:nvSpPr>
        <p:spPr>
          <a:xfrm>
            <a:off x="3884760" y="8685360"/>
            <a:ext cx="2971440" cy="458280"/>
          </a:xfrm>
          <a:prstGeom prst="rect">
            <a:avLst/>
          </a:prstGeom>
          <a:noFill/>
          <a:ln>
            <a:noFill/>
          </a:ln>
        </p:spPr>
        <p:txBody>
          <a:bodyPr anchor="b">
            <a:noAutofit/>
          </a:bodyPr>
          <a:p>
            <a:pPr algn="r">
              <a:lnSpc>
                <a:spcPct val="100000"/>
              </a:lnSpc>
            </a:pPr>
            <a:fld id="{2001D662-24B0-471A-B28A-319F996A17F0}"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sldImg"/>
          </p:nvPr>
        </p:nvSpPr>
        <p:spPr>
          <a:xfrm>
            <a:off x="685800" y="1143000"/>
            <a:ext cx="5486040" cy="3085920"/>
          </a:xfrm>
          <a:prstGeom prst="rect">
            <a:avLst/>
          </a:prstGeom>
        </p:spPr>
      </p:sp>
      <p:sp>
        <p:nvSpPr>
          <p:cNvPr id="467"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Folder layout follows the project specification: rtl, tb, uvm, sequences, tests. Assertions are deliberately left out of this phase.</a:t>
            </a:r>
            <a:endParaRPr b="0" lang="en-US" sz="2000" spc="-1" strike="noStrike">
              <a:latin typeface="Arial"/>
            </a:endParaRPr>
          </a:p>
        </p:txBody>
      </p:sp>
      <p:sp>
        <p:nvSpPr>
          <p:cNvPr id="468" name="TextShape 3"/>
          <p:cNvSpPr txBox="1"/>
          <p:nvPr/>
        </p:nvSpPr>
        <p:spPr>
          <a:xfrm>
            <a:off x="3884760" y="8685360"/>
            <a:ext cx="2971440" cy="458280"/>
          </a:xfrm>
          <a:prstGeom prst="rect">
            <a:avLst/>
          </a:prstGeom>
          <a:noFill/>
          <a:ln>
            <a:noFill/>
          </a:ln>
        </p:spPr>
        <p:txBody>
          <a:bodyPr anchor="b">
            <a:noAutofit/>
          </a:bodyPr>
          <a:p>
            <a:pPr algn="r">
              <a:lnSpc>
                <a:spcPct val="100000"/>
              </a:lnSpc>
            </a:pPr>
            <a:fld id="{007AE273-26DA-4A0A-A23E-53BFC7C8E63C}"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PlaceHolder 1"/>
          <p:cNvSpPr>
            <a:spLocks noGrp="1"/>
          </p:cNvSpPr>
          <p:nvPr>
            <p:ph type="sldImg"/>
          </p:nvPr>
        </p:nvSpPr>
        <p:spPr>
          <a:xfrm>
            <a:off x="685800" y="1143000"/>
            <a:ext cx="5486040" cy="3085920"/>
          </a:xfrm>
          <a:prstGeom prst="rect">
            <a:avLst/>
          </a:prstGeom>
        </p:spPr>
      </p:sp>
      <p:sp>
        <p:nvSpPr>
          <p:cNvPr id="470"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The driver has one engine per channel. That is what lets AW, W and AR go valid together. Using objections per item means the run phase cannot finish while a response is still outstanding.</a:t>
            </a:r>
            <a:endParaRPr b="0" lang="en-US" sz="2000" spc="-1" strike="noStrike">
              <a:latin typeface="Arial"/>
            </a:endParaRPr>
          </a:p>
        </p:txBody>
      </p:sp>
      <p:sp>
        <p:nvSpPr>
          <p:cNvPr id="471" name="TextShape 3"/>
          <p:cNvSpPr txBox="1"/>
          <p:nvPr/>
        </p:nvSpPr>
        <p:spPr>
          <a:xfrm>
            <a:off x="3884760" y="8685360"/>
            <a:ext cx="2971440" cy="458280"/>
          </a:xfrm>
          <a:prstGeom prst="rect">
            <a:avLst/>
          </a:prstGeom>
          <a:noFill/>
          <a:ln>
            <a:noFill/>
          </a:ln>
        </p:spPr>
        <p:txBody>
          <a:bodyPr anchor="b">
            <a:noAutofit/>
          </a:bodyPr>
          <a:p>
            <a:pPr algn="r">
              <a:lnSpc>
                <a:spcPct val="100000"/>
              </a:lnSpc>
            </a:pPr>
            <a:fld id="{D0CCE71B-64FE-40E6-9E45-002C19027449}"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sldImg"/>
          </p:nvPr>
        </p:nvSpPr>
        <p:spPr>
          <a:xfrm>
            <a:off x="685800" y="1143000"/>
            <a:ext cx="5486040" cy="3085920"/>
          </a:xfrm>
          <a:prstGeom prst="rect">
            <a:avLst/>
          </a:prstGeom>
        </p:spPr>
      </p:sp>
      <p:sp>
        <p:nvSpPr>
          <p:cNvPr id="473"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The DUT checks PREADY in the same cycle it raises PENABLE, so the driver must answer on the negedge of the first request cycle. Response items come from the APB sequencer; when none are queued the driver uses config defaults.</a:t>
            </a:r>
            <a:endParaRPr b="0" lang="en-US" sz="2000" spc="-1" strike="noStrike">
              <a:latin typeface="Arial"/>
            </a:endParaRPr>
          </a:p>
        </p:txBody>
      </p:sp>
      <p:sp>
        <p:nvSpPr>
          <p:cNvPr id="474" name="TextShape 3"/>
          <p:cNvSpPr txBox="1"/>
          <p:nvPr/>
        </p:nvSpPr>
        <p:spPr>
          <a:xfrm>
            <a:off x="3884760" y="8685360"/>
            <a:ext cx="2971440" cy="458280"/>
          </a:xfrm>
          <a:prstGeom prst="rect">
            <a:avLst/>
          </a:prstGeom>
          <a:noFill/>
          <a:ln>
            <a:noFill/>
          </a:ln>
        </p:spPr>
        <p:txBody>
          <a:bodyPr anchor="b">
            <a:noAutofit/>
          </a:bodyPr>
          <a:p>
            <a:pPr algn="r">
              <a:lnSpc>
                <a:spcPct val="100000"/>
              </a:lnSpc>
            </a:pPr>
            <a:fld id="{359CA96D-72AB-473F-801E-C05A39802124}"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PlaceHolder 1"/>
          <p:cNvSpPr>
            <a:spLocks noGrp="1"/>
          </p:cNvSpPr>
          <p:nvPr>
            <p:ph type="sldImg"/>
          </p:nvPr>
        </p:nvSpPr>
        <p:spPr>
          <a:xfrm>
            <a:off x="685800" y="1143000"/>
            <a:ext cx="5486040" cy="3085920"/>
          </a:xfrm>
          <a:prstGeom prst="rect">
            <a:avLst/>
          </a:prstGeom>
        </p:spPr>
      </p:sp>
      <p:sp>
        <p:nvSpPr>
          <p:cNvPr id="476"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Expected values do not come from the driver. For writes the AXI monitor is the reference and the APB monitor is the actual. For reads it flips: the APB monitor's PRDATA is the reference for the RDATA seen by the AXI master.</a:t>
            </a:r>
            <a:endParaRPr b="0" lang="en-US" sz="2000" spc="-1" strike="noStrike">
              <a:latin typeface="Arial"/>
            </a:endParaRPr>
          </a:p>
        </p:txBody>
      </p:sp>
      <p:sp>
        <p:nvSpPr>
          <p:cNvPr id="477" name="TextShape 3"/>
          <p:cNvSpPr txBox="1"/>
          <p:nvPr/>
        </p:nvSpPr>
        <p:spPr>
          <a:xfrm>
            <a:off x="3884760" y="8685360"/>
            <a:ext cx="2971440" cy="458280"/>
          </a:xfrm>
          <a:prstGeom prst="rect">
            <a:avLst/>
          </a:prstGeom>
          <a:noFill/>
          <a:ln>
            <a:noFill/>
          </a:ln>
        </p:spPr>
        <p:txBody>
          <a:bodyPr anchor="b">
            <a:noAutofit/>
          </a:bodyPr>
          <a:p>
            <a:pPr algn="r">
              <a:lnSpc>
                <a:spcPct val="100000"/>
              </a:lnSpc>
            </a:pPr>
            <a:fld id="{27D7F185-4155-4FAC-921C-2FCBB6243D23}"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sldImg"/>
          </p:nvPr>
        </p:nvSpPr>
        <p:spPr>
          <a:xfrm>
            <a:off x="685800" y="1143000"/>
            <a:ext cx="5486040" cy="3085920"/>
          </a:xfrm>
          <a:prstGeom prst="rect">
            <a:avLst/>
          </a:prstGeom>
        </p:spPr>
      </p:sp>
      <p:sp>
        <p:nvSpPr>
          <p:cNvPr id="479"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Every test is a base test plus one virtual sequence. Number 8, the read/write priority test, is highlighted because the next slide walks through it.</a:t>
            </a:r>
            <a:endParaRPr b="0" lang="en-US" sz="2000" spc="-1" strike="noStrike">
              <a:latin typeface="Arial"/>
            </a:endParaRPr>
          </a:p>
        </p:txBody>
      </p:sp>
      <p:sp>
        <p:nvSpPr>
          <p:cNvPr id="480" name="TextShape 3"/>
          <p:cNvSpPr txBox="1"/>
          <p:nvPr/>
        </p:nvSpPr>
        <p:spPr>
          <a:xfrm>
            <a:off x="3884760" y="8685360"/>
            <a:ext cx="2971440" cy="458280"/>
          </a:xfrm>
          <a:prstGeom prst="rect">
            <a:avLst/>
          </a:prstGeom>
          <a:noFill/>
          <a:ln>
            <a:noFill/>
          </a:ln>
        </p:spPr>
        <p:txBody>
          <a:bodyPr anchor="b">
            <a:noAutofit/>
          </a:bodyPr>
          <a:p>
            <a:pPr algn="r">
              <a:lnSpc>
                <a:spcPct val="100000"/>
              </a:lnSpc>
            </a:pPr>
            <a:fld id="{384024CE-2AE8-40AB-B9A5-4125F5FB2D63}"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PlaceHolder 1"/>
          <p:cNvSpPr>
            <a:spLocks noGrp="1"/>
          </p:cNvSpPr>
          <p:nvPr>
            <p:ph type="sldImg"/>
          </p:nvPr>
        </p:nvSpPr>
        <p:spPr>
          <a:xfrm>
            <a:off x="685800" y="1143000"/>
            <a:ext cx="5486040" cy="3085920"/>
          </a:xfrm>
          <a:prstGeom prst="rect">
            <a:avLst/>
          </a:prstGeom>
        </p:spPr>
      </p:sp>
      <p:sp>
        <p:nvSpPr>
          <p:cNvPr id="482"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Why wait_resp = 0 matters: if the write finished first, the read would never compete with it and the test would prove nothing. The pass criterion is the order of transfers recorded by the scoreboard.</a:t>
            </a:r>
            <a:endParaRPr b="0" lang="en-US" sz="2000" spc="-1" strike="noStrike">
              <a:latin typeface="Arial"/>
            </a:endParaRPr>
          </a:p>
        </p:txBody>
      </p:sp>
      <p:sp>
        <p:nvSpPr>
          <p:cNvPr id="483" name="TextShape 3"/>
          <p:cNvSpPr txBox="1"/>
          <p:nvPr/>
        </p:nvSpPr>
        <p:spPr>
          <a:xfrm>
            <a:off x="3884760" y="8685360"/>
            <a:ext cx="2971440" cy="458280"/>
          </a:xfrm>
          <a:prstGeom prst="rect">
            <a:avLst/>
          </a:prstGeom>
          <a:noFill/>
          <a:ln>
            <a:noFill/>
          </a:ln>
        </p:spPr>
        <p:txBody>
          <a:bodyPr anchor="b">
            <a:noAutofit/>
          </a:bodyPr>
          <a:p>
            <a:pPr algn="r">
              <a:lnSpc>
                <a:spcPct val="100000"/>
              </a:lnSpc>
            </a:pPr>
            <a:fld id="{5CEC9A91-92EC-4666-BFFB-585F1069A975}"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type="sldImg"/>
          </p:nvPr>
        </p:nvSpPr>
        <p:spPr>
          <a:xfrm>
            <a:off x="685800" y="1143000"/>
            <a:ext cx="5486040" cy="3085920"/>
          </a:xfrm>
          <a:prstGeom prst="rect">
            <a:avLst/>
          </a:prstGeom>
        </p:spPr>
      </p:sp>
      <p:sp>
        <p:nvSpPr>
          <p:cNvPr id="485"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The Makefile follows the reference style but builds once and runs every test from the same simv. The regress target prints a PASS/FAIL table and then generates the merged coverage report.</a:t>
            </a:r>
            <a:endParaRPr b="0" lang="en-US" sz="2000" spc="-1" strike="noStrike">
              <a:latin typeface="Arial"/>
            </a:endParaRPr>
          </a:p>
        </p:txBody>
      </p:sp>
      <p:sp>
        <p:nvSpPr>
          <p:cNvPr id="486" name="TextShape 3"/>
          <p:cNvSpPr txBox="1"/>
          <p:nvPr/>
        </p:nvSpPr>
        <p:spPr>
          <a:xfrm>
            <a:off x="3884760" y="8685360"/>
            <a:ext cx="2971440" cy="458280"/>
          </a:xfrm>
          <a:prstGeom prst="rect">
            <a:avLst/>
          </a:prstGeom>
          <a:noFill/>
          <a:ln>
            <a:noFill/>
          </a:ln>
        </p:spPr>
        <p:txBody>
          <a:bodyPr anchor="b">
            <a:noAutofit/>
          </a:bodyPr>
          <a:p>
            <a:pPr algn="r">
              <a:lnSpc>
                <a:spcPct val="100000"/>
              </a:lnSpc>
            </a:pPr>
            <a:fld id="{202BCF8E-E51A-477A-9E23-972680DD7E7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3"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5"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7"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solidFill>
                <a:srgbClr val="0f1b2d"/>
              </a:solidFill>
              <a:latin typeface="Calibri"/>
            </a:endParaRPr>
          </a:p>
        </p:txBody>
      </p:sp>
      <p:sp>
        <p:nvSpPr>
          <p:cNvPr id="8"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548640" y="365760"/>
            <a:ext cx="11063880" cy="3390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12"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13"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solidFill>
                <a:srgbClr val="0f1b2d"/>
              </a:solidFill>
              <a:latin typeface="Calibri"/>
            </a:endParaRPr>
          </a:p>
        </p:txBody>
      </p:sp>
      <p:sp>
        <p:nvSpPr>
          <p:cNvPr id="14"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16"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solidFill>
                <a:srgbClr val="0f1b2d"/>
              </a:solidFill>
              <a:latin typeface="Calibri"/>
            </a:endParaRPr>
          </a:p>
        </p:txBody>
      </p:sp>
      <p:sp>
        <p:nvSpPr>
          <p:cNvPr id="17"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18"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2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21"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22"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24"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25"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27"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2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29"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30"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32"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33"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34"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35"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36"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37"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2"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43"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45"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47"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solidFill>
                <a:srgbClr val="0f1b2d"/>
              </a:solidFill>
              <a:latin typeface="Calibri"/>
            </a:endParaRPr>
          </a:p>
        </p:txBody>
      </p:sp>
      <p:sp>
        <p:nvSpPr>
          <p:cNvPr id="48"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0" name="PlaceHolder 1"/>
          <p:cNvSpPr>
            <a:spLocks noGrp="1"/>
          </p:cNvSpPr>
          <p:nvPr>
            <p:ph type="subTitle"/>
          </p:nvPr>
        </p:nvSpPr>
        <p:spPr>
          <a:xfrm>
            <a:off x="548640" y="365760"/>
            <a:ext cx="11063880" cy="3390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52"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53"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solidFill>
                <a:srgbClr val="0f1b2d"/>
              </a:solidFill>
              <a:latin typeface="Calibri"/>
            </a:endParaRPr>
          </a:p>
        </p:txBody>
      </p:sp>
      <p:sp>
        <p:nvSpPr>
          <p:cNvPr id="54"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56"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solidFill>
                <a:srgbClr val="0f1b2d"/>
              </a:solidFill>
              <a:latin typeface="Calibri"/>
            </a:endParaRPr>
          </a:p>
        </p:txBody>
      </p:sp>
      <p:sp>
        <p:nvSpPr>
          <p:cNvPr id="57"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58"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6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61"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62"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64"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65"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67"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6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69"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70"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72"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73"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74"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75"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76"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77"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2"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83"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85"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87"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solidFill>
                <a:srgbClr val="0f1b2d"/>
              </a:solidFill>
              <a:latin typeface="Calibri"/>
            </a:endParaRPr>
          </a:p>
        </p:txBody>
      </p:sp>
      <p:sp>
        <p:nvSpPr>
          <p:cNvPr id="88"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9"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0" name="PlaceHolder 1"/>
          <p:cNvSpPr>
            <a:spLocks noGrp="1"/>
          </p:cNvSpPr>
          <p:nvPr>
            <p:ph type="subTitle"/>
          </p:nvPr>
        </p:nvSpPr>
        <p:spPr>
          <a:xfrm>
            <a:off x="548640" y="365760"/>
            <a:ext cx="11063880" cy="3390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92"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93"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solidFill>
                <a:srgbClr val="0f1b2d"/>
              </a:solidFill>
              <a:latin typeface="Calibri"/>
            </a:endParaRPr>
          </a:p>
        </p:txBody>
      </p:sp>
      <p:sp>
        <p:nvSpPr>
          <p:cNvPr id="94"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96"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solidFill>
                <a:srgbClr val="0f1b2d"/>
              </a:solidFill>
              <a:latin typeface="Calibri"/>
            </a:endParaRPr>
          </a:p>
        </p:txBody>
      </p:sp>
      <p:sp>
        <p:nvSpPr>
          <p:cNvPr id="97"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98"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10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101"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102"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104"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105"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107"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10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109"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110"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548640" y="365760"/>
            <a:ext cx="11063880" cy="731160"/>
          </a:xfrm>
          <a:prstGeom prst="rect">
            <a:avLst/>
          </a:prstGeom>
        </p:spPr>
        <p:txBody>
          <a:bodyPr lIns="0" rIns="0" tIns="0" bIns="0" anchor="ctr">
            <a:noAutofit/>
          </a:bodyPr>
          <a:p>
            <a:endParaRPr b="0" lang="en-US" sz="1800" spc="-1" strike="noStrike">
              <a:solidFill>
                <a:srgbClr val="0f1b2d"/>
              </a:solidFill>
              <a:latin typeface="Calibri"/>
            </a:endParaRPr>
          </a:p>
        </p:txBody>
      </p:sp>
      <p:sp>
        <p:nvSpPr>
          <p:cNvPr id="112"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113"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114"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115"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116"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solidFill>
                <a:srgbClr val="0f1b2d"/>
              </a:solidFill>
              <a:latin typeface="Calibri"/>
            </a:endParaRPr>
          </a:p>
        </p:txBody>
      </p:sp>
      <p:sp>
        <p:nvSpPr>
          <p:cNvPr id="117"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solidFill>
                <a:srgbClr val="0f1b2d"/>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548640" y="1737360"/>
            <a:ext cx="5760360" cy="2285640"/>
          </a:xfrm>
          <a:prstGeom prst="rect">
            <a:avLst/>
          </a:prstGeom>
        </p:spPr>
        <p:txBody>
          <a:bodyPr lIns="90000" rIns="90000" tIns="45000" bIns="45000">
            <a:noAutofit/>
          </a:bodyPr>
          <a:p>
            <a:r>
              <a:rPr b="0" lang="en-US" sz="4400" spc="-1" strike="noStrike">
                <a:solidFill>
                  <a:srgbClr val="0f1b2d"/>
                </a:solidFill>
                <a:latin typeface="Calibri"/>
              </a:rPr>
              <a:t>Click to edit the title text format</a:t>
            </a:r>
            <a:endParaRPr b="0" lang="en-US" sz="4400" spc="-1" strike="noStrike">
              <a:solidFill>
                <a:srgbClr val="0f1b2d"/>
              </a:solidFill>
              <a:latin typeface="Calibri"/>
            </a:endParaRPr>
          </a:p>
        </p:txBody>
      </p:sp>
      <p:sp>
        <p:nvSpPr>
          <p:cNvPr id="1" name="PlaceHolder 2"/>
          <p:cNvSpPr>
            <a:spLocks noGrp="1"/>
          </p:cNvSpPr>
          <p:nvPr>
            <p:ph type="body"/>
          </p:nvPr>
        </p:nvSpPr>
        <p:spPr>
          <a:xfrm>
            <a:off x="548640" y="4206240"/>
            <a:ext cx="5760360" cy="914040"/>
          </a:xfrm>
          <a:prstGeom prst="rect">
            <a:avLst/>
          </a:prstGeom>
        </p:spPr>
        <p:txBody>
          <a:bodyPr lIns="90000" rIns="90000" tIns="45000" bIns="45000">
            <a:noAutofit/>
          </a:bodyPr>
          <a:p>
            <a:pPr marL="432000" indent="-324000">
              <a:spcBef>
                <a:spcPts val="1417"/>
              </a:spcBef>
              <a:buClr>
                <a:srgbClr val="ffffff"/>
              </a:buClr>
              <a:buSzPct val="45000"/>
              <a:buFont typeface="Wingdings" charset="2"/>
              <a:buChar char=""/>
            </a:pPr>
            <a:r>
              <a:rPr b="0" lang="en-US" sz="2000" spc="-1" strike="noStrike">
                <a:solidFill>
                  <a:srgbClr val="0f1b2d"/>
                </a:solidFill>
                <a:latin typeface="Calibri"/>
              </a:rPr>
              <a:t>Click to edit the outline text format</a:t>
            </a:r>
            <a:endParaRPr b="0" lang="en-US" sz="2000" spc="-1" strike="noStrike">
              <a:solidFill>
                <a:srgbClr val="0f1b2d"/>
              </a:solidFill>
              <a:latin typeface="Calibri"/>
            </a:endParaRPr>
          </a:p>
          <a:p>
            <a:pPr lvl="1" marL="864000" indent="-324000">
              <a:spcBef>
                <a:spcPts val="1134"/>
              </a:spcBef>
              <a:buClr>
                <a:srgbClr val="ffffff"/>
              </a:buClr>
              <a:buSzPct val="75000"/>
              <a:buFont typeface="Symbol" charset="2"/>
              <a:buChar char=""/>
            </a:pPr>
            <a:r>
              <a:rPr b="0" lang="en-US" sz="2000" spc="-1" strike="noStrike">
                <a:solidFill>
                  <a:srgbClr val="0f1b2d"/>
                </a:solidFill>
                <a:latin typeface="Calibri"/>
              </a:rPr>
              <a:t>Second Outline Level</a:t>
            </a:r>
            <a:endParaRPr b="0" lang="en-US" sz="2000" spc="-1" strike="noStrike">
              <a:solidFill>
                <a:srgbClr val="0f1b2d"/>
              </a:solidFill>
              <a:latin typeface="Calibri"/>
            </a:endParaRPr>
          </a:p>
          <a:p>
            <a:pPr lvl="2" marL="1296000" indent="-288000">
              <a:spcBef>
                <a:spcPts val="850"/>
              </a:spcBef>
              <a:buClr>
                <a:srgbClr val="ffffff"/>
              </a:buClr>
              <a:buSzPct val="45000"/>
              <a:buFont typeface="Wingdings" charset="2"/>
              <a:buChar char=""/>
            </a:pPr>
            <a:r>
              <a:rPr b="0" lang="en-US" sz="2000" spc="-1" strike="noStrike">
                <a:solidFill>
                  <a:srgbClr val="0f1b2d"/>
                </a:solidFill>
                <a:latin typeface="Calibri"/>
              </a:rPr>
              <a:t>Third Outline Level</a:t>
            </a:r>
            <a:endParaRPr b="0" lang="en-US" sz="2000" spc="-1" strike="noStrike">
              <a:solidFill>
                <a:srgbClr val="0f1b2d"/>
              </a:solidFill>
              <a:latin typeface="Calibri"/>
            </a:endParaRPr>
          </a:p>
          <a:p>
            <a:pPr lvl="3" marL="1728000" indent="-216000">
              <a:spcBef>
                <a:spcPts val="567"/>
              </a:spcBef>
              <a:buClr>
                <a:srgbClr val="ffffff"/>
              </a:buClr>
              <a:buSzPct val="75000"/>
              <a:buFont typeface="Symbol" charset="2"/>
              <a:buChar char=""/>
            </a:pPr>
            <a:r>
              <a:rPr b="0" lang="en-US" sz="2000" spc="-1" strike="noStrike">
                <a:solidFill>
                  <a:srgbClr val="0f1b2d"/>
                </a:solidFill>
                <a:latin typeface="Calibri"/>
              </a:rPr>
              <a:t>Fourth Outline Level</a:t>
            </a:r>
            <a:endParaRPr b="0" lang="en-US" sz="2000" spc="-1" strike="noStrike">
              <a:solidFill>
                <a:srgbClr val="0f1b2d"/>
              </a:solidFill>
              <a:latin typeface="Calibri"/>
            </a:endParaRPr>
          </a:p>
          <a:p>
            <a:pPr lvl="4" marL="2160000" indent="-216000">
              <a:spcBef>
                <a:spcPts val="283"/>
              </a:spcBef>
              <a:buClr>
                <a:srgbClr val="ffffff"/>
              </a:buClr>
              <a:buSzPct val="45000"/>
              <a:buFont typeface="Wingdings" charset="2"/>
              <a:buChar char=""/>
            </a:pPr>
            <a:r>
              <a:rPr b="0" lang="en-US" sz="2000" spc="-1" strike="noStrike">
                <a:solidFill>
                  <a:srgbClr val="0f1b2d"/>
                </a:solidFill>
                <a:latin typeface="Calibri"/>
              </a:rPr>
              <a:t>Fifth Outline Level</a:t>
            </a:r>
            <a:endParaRPr b="0" lang="en-US" sz="2000" spc="-1" strike="noStrike">
              <a:solidFill>
                <a:srgbClr val="0f1b2d"/>
              </a:solidFill>
              <a:latin typeface="Calibri"/>
            </a:endParaRPr>
          </a:p>
          <a:p>
            <a:pPr lvl="5" marL="2592000" indent="-216000">
              <a:spcBef>
                <a:spcPts val="283"/>
              </a:spcBef>
              <a:buClr>
                <a:srgbClr val="ffffff"/>
              </a:buClr>
              <a:buSzPct val="45000"/>
              <a:buFont typeface="Wingdings" charset="2"/>
              <a:buChar char=""/>
            </a:pPr>
            <a:r>
              <a:rPr b="0" lang="en-US" sz="2000" spc="-1" strike="noStrike">
                <a:solidFill>
                  <a:srgbClr val="0f1b2d"/>
                </a:solidFill>
                <a:latin typeface="Calibri"/>
              </a:rPr>
              <a:t>Sixth Outline Level</a:t>
            </a:r>
            <a:endParaRPr b="0" lang="en-US" sz="2000" spc="-1" strike="noStrike">
              <a:solidFill>
                <a:srgbClr val="0f1b2d"/>
              </a:solidFill>
              <a:latin typeface="Calibri"/>
            </a:endParaRPr>
          </a:p>
          <a:p>
            <a:pPr lvl="6" marL="3024000" indent="-216000">
              <a:spcBef>
                <a:spcPts val="283"/>
              </a:spcBef>
              <a:buClr>
                <a:srgbClr val="ffffff"/>
              </a:buClr>
              <a:buSzPct val="45000"/>
              <a:buFont typeface="Wingdings" charset="2"/>
              <a:buChar char=""/>
            </a:pPr>
            <a:r>
              <a:rPr b="0" lang="en-US" sz="2000" spc="-1" strike="noStrike">
                <a:solidFill>
                  <a:srgbClr val="0f1b2d"/>
                </a:solidFill>
                <a:latin typeface="Calibri"/>
              </a:rPr>
              <a:t>Seventh Outline Level</a:t>
            </a:r>
            <a:endParaRPr b="0" lang="en-US" sz="2000" spc="-1" strike="noStrike">
              <a:solidFill>
                <a:srgbClr val="0f1b2d"/>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548640" y="365760"/>
            <a:ext cx="11063880" cy="731160"/>
          </a:xfrm>
          <a:prstGeom prst="rect">
            <a:avLst/>
          </a:prstGeom>
        </p:spPr>
        <p:txBody>
          <a:bodyPr lIns="90000" rIns="90000" tIns="45000" bIns="45000">
            <a:noAutofit/>
          </a:bodyPr>
          <a:p>
            <a:r>
              <a:rPr b="0" lang="en-US" sz="3400" spc="-1" strike="noStrike">
                <a:solidFill>
                  <a:srgbClr val="0f1b2d"/>
                </a:solidFill>
                <a:latin typeface="Calibri"/>
              </a:rPr>
              <a:t>Click to edit the title text format</a:t>
            </a:r>
            <a:endParaRPr b="0" lang="en-US" sz="3400" spc="-1" strike="noStrike">
              <a:solidFill>
                <a:srgbClr val="0f1b2d"/>
              </a:solidFill>
              <a:latin typeface="Calibri"/>
            </a:endParaRPr>
          </a:p>
        </p:txBody>
      </p:sp>
      <p:sp>
        <p:nvSpPr>
          <p:cNvPr id="39" name="CustomShape 2"/>
          <p:cNvSpPr/>
          <p:nvPr/>
        </p:nvSpPr>
        <p:spPr>
          <a:xfrm>
            <a:off x="548640" y="6419160"/>
            <a:ext cx="5486040" cy="27396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b6c8f"/>
                </a:solidFill>
                <a:latin typeface="Calibri"/>
              </a:rPr>
              <a:t>AXI2APB UVM verification</a:t>
            </a:r>
            <a:endParaRPr b="0" lang="en-US" sz="1000" spc="-1" strike="noStrike">
              <a:latin typeface="Arial"/>
            </a:endParaRPr>
          </a:p>
        </p:txBody>
      </p:sp>
      <p:sp>
        <p:nvSpPr>
          <p:cNvPr id="40" name="PlaceHolder 3"/>
          <p:cNvSpPr>
            <a:spLocks noGrp="1"/>
          </p:cNvSpPr>
          <p:nvPr>
            <p:ph type="sldNum"/>
          </p:nvPr>
        </p:nvSpPr>
        <p:spPr>
          <a:xfrm>
            <a:off x="11064240" y="6419160"/>
            <a:ext cx="548280" cy="273960"/>
          </a:xfrm>
          <a:prstGeom prst="rect">
            <a:avLst/>
          </a:prstGeom>
        </p:spPr>
        <p:txBody>
          <a:bodyPr lIns="90000" rIns="90000" tIns="45000" bIns="45000">
            <a:noAutofit/>
          </a:bodyPr>
          <a:p>
            <a:pPr algn="r">
              <a:lnSpc>
                <a:spcPct val="100000"/>
              </a:lnSpc>
            </a:pPr>
            <a:fld id="{973FA9DE-2B67-4F60-BE89-247E6914E4BF}" type="slidenum">
              <a:rPr b="0" lang="en-US" sz="1000" spc="-1" strike="noStrike">
                <a:solidFill>
                  <a:srgbClr val="5b6c8f"/>
                </a:solidFill>
                <a:latin typeface="Calibri"/>
              </a:rPr>
              <a:t>&lt;number&gt;</a:t>
            </a:fld>
            <a:endParaRPr b="0" lang="en-US" sz="1000" spc="-1" strike="noStrike">
              <a:latin typeface="Times New Roman"/>
            </a:endParaRPr>
          </a:p>
        </p:txBody>
      </p:sp>
      <p:sp>
        <p:nvSpPr>
          <p:cNvPr id="41" name="PlaceHolder 4"/>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solidFill>
                  <a:srgbClr val="0f1b2d"/>
                </a:solidFill>
                <a:latin typeface="Calibri"/>
              </a:rPr>
              <a:t>Click to edit the outline </a:t>
            </a:r>
            <a:r>
              <a:rPr b="0" lang="en-US" sz="3200" spc="-1" strike="noStrike">
                <a:solidFill>
                  <a:srgbClr val="0f1b2d"/>
                </a:solidFill>
                <a:latin typeface="Calibri"/>
              </a:rPr>
              <a:t>text format</a:t>
            </a:r>
            <a:endParaRPr b="0" lang="en-US" sz="3200" spc="-1" strike="noStrike">
              <a:solidFill>
                <a:srgbClr val="0f1b2d"/>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f1b2d"/>
                </a:solidFill>
                <a:latin typeface="Calibri"/>
              </a:rPr>
              <a:t>Second Outline Level</a:t>
            </a:r>
            <a:endParaRPr b="0" lang="en-US" sz="2400" spc="-1" strike="noStrike">
              <a:solidFill>
                <a:srgbClr val="0f1b2d"/>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f1b2d"/>
                </a:solidFill>
                <a:latin typeface="Calibri"/>
              </a:rPr>
              <a:t>Third Outline Level</a:t>
            </a:r>
            <a:endParaRPr b="0" lang="en-US" sz="2000" spc="-1" strike="noStrike">
              <a:solidFill>
                <a:srgbClr val="0f1b2d"/>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f1b2d"/>
                </a:solidFill>
                <a:latin typeface="Calibri"/>
              </a:rPr>
              <a:t>Fourth Outline Level</a:t>
            </a:r>
            <a:endParaRPr b="0" lang="en-US" sz="2000" spc="-1" strike="noStrike">
              <a:solidFill>
                <a:srgbClr val="0f1b2d"/>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f1b2d"/>
                </a:solidFill>
                <a:latin typeface="Calibri"/>
              </a:rPr>
              <a:t>Fifth Outline Level</a:t>
            </a:r>
            <a:endParaRPr b="0" lang="en-US" sz="2000" spc="-1" strike="noStrike">
              <a:solidFill>
                <a:srgbClr val="0f1b2d"/>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f1b2d"/>
                </a:solidFill>
                <a:latin typeface="Calibri"/>
              </a:rPr>
              <a:t>Sixth Outline Level</a:t>
            </a:r>
            <a:endParaRPr b="0" lang="en-US" sz="2000" spc="-1" strike="noStrike">
              <a:solidFill>
                <a:srgbClr val="0f1b2d"/>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f1b2d"/>
                </a:solidFill>
                <a:latin typeface="Calibri"/>
              </a:rPr>
              <a:t>Seventh Outline </a:t>
            </a:r>
            <a:r>
              <a:rPr b="0" lang="en-US" sz="2000" spc="-1" strike="noStrike">
                <a:solidFill>
                  <a:srgbClr val="0f1b2d"/>
                </a:solidFill>
                <a:latin typeface="Calibri"/>
              </a:rPr>
              <a:t>Level</a:t>
            </a:r>
            <a:endParaRPr b="0" lang="en-US" sz="2000" spc="-1" strike="noStrike">
              <a:solidFill>
                <a:srgbClr val="0f1b2d"/>
              </a:solidFill>
              <a:latin typeface="Calibri"/>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sp>
        <p:nvSpPr>
          <p:cNvPr id="78" name="PlaceHolder 1"/>
          <p:cNvSpPr>
            <a:spLocks noGrp="1"/>
          </p:cNvSpPr>
          <p:nvPr>
            <p:ph type="title"/>
          </p:nvPr>
        </p:nvSpPr>
        <p:spPr>
          <a:xfrm>
            <a:off x="548640" y="365760"/>
            <a:ext cx="11063880" cy="731160"/>
          </a:xfrm>
          <a:prstGeom prst="rect">
            <a:avLst/>
          </a:prstGeom>
        </p:spPr>
        <p:txBody>
          <a:bodyPr lIns="90000" rIns="90000" tIns="45000" bIns="45000">
            <a:noAutofit/>
          </a:bodyPr>
          <a:p>
            <a:r>
              <a:rPr b="0" lang="en-US" sz="3400" spc="-1" strike="noStrike">
                <a:solidFill>
                  <a:srgbClr val="0f1b2d"/>
                </a:solidFill>
                <a:latin typeface="Calibri"/>
              </a:rPr>
              <a:t>Click to </a:t>
            </a:r>
            <a:r>
              <a:rPr b="0" lang="en-US" sz="3400" spc="-1" strike="noStrike">
                <a:solidFill>
                  <a:srgbClr val="0f1b2d"/>
                </a:solidFill>
                <a:latin typeface="Calibri"/>
              </a:rPr>
              <a:t>edit the </a:t>
            </a:r>
            <a:r>
              <a:rPr b="0" lang="en-US" sz="3400" spc="-1" strike="noStrike">
                <a:solidFill>
                  <a:srgbClr val="0f1b2d"/>
                </a:solidFill>
                <a:latin typeface="Calibri"/>
              </a:rPr>
              <a:t>title text </a:t>
            </a:r>
            <a:r>
              <a:rPr b="0" lang="en-US" sz="3400" spc="-1" strike="noStrike">
                <a:solidFill>
                  <a:srgbClr val="0f1b2d"/>
                </a:solidFill>
                <a:latin typeface="Calibri"/>
              </a:rPr>
              <a:t>format</a:t>
            </a:r>
            <a:endParaRPr b="0" lang="en-US" sz="3400" spc="-1" strike="noStrike">
              <a:solidFill>
                <a:srgbClr val="0f1b2d"/>
              </a:solidFill>
              <a:latin typeface="Calibri"/>
            </a:endParaRPr>
          </a:p>
        </p:txBody>
      </p:sp>
      <p:sp>
        <p:nvSpPr>
          <p:cNvPr id="79" name="CustomShape 2"/>
          <p:cNvSpPr/>
          <p:nvPr/>
        </p:nvSpPr>
        <p:spPr>
          <a:xfrm>
            <a:off x="548640" y="6419160"/>
            <a:ext cx="5486040" cy="27396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f3f6fa"/>
                </a:solidFill>
                <a:latin typeface="Calibri"/>
              </a:rPr>
              <a:t>AXI2APB UVM verification</a:t>
            </a:r>
            <a:endParaRPr b="0" lang="en-US" sz="1000" spc="-1" strike="noStrike">
              <a:latin typeface="Arial"/>
            </a:endParaRPr>
          </a:p>
        </p:txBody>
      </p:sp>
      <p:sp>
        <p:nvSpPr>
          <p:cNvPr id="80" name="PlaceHolder 3"/>
          <p:cNvSpPr>
            <a:spLocks noGrp="1"/>
          </p:cNvSpPr>
          <p:nvPr>
            <p:ph type="sldNum"/>
          </p:nvPr>
        </p:nvSpPr>
        <p:spPr>
          <a:xfrm>
            <a:off x="11064240" y="6419160"/>
            <a:ext cx="548280" cy="273960"/>
          </a:xfrm>
          <a:prstGeom prst="rect">
            <a:avLst/>
          </a:prstGeom>
        </p:spPr>
        <p:txBody>
          <a:bodyPr lIns="90000" rIns="90000" tIns="45000" bIns="45000">
            <a:noAutofit/>
          </a:bodyPr>
          <a:p>
            <a:pPr algn="r">
              <a:lnSpc>
                <a:spcPct val="100000"/>
              </a:lnSpc>
            </a:pPr>
            <a:fld id="{1E9DECF6-F7BD-4DE8-932C-6FEDCE3B56B1}" type="slidenum">
              <a:rPr b="0" lang="en-US" sz="1000" spc="-1" strike="noStrike">
                <a:solidFill>
                  <a:srgbClr val="f3f6fa"/>
                </a:solidFill>
                <a:latin typeface="Calibri"/>
              </a:rPr>
              <a:t>&lt;number&gt;</a:t>
            </a:fld>
            <a:endParaRPr b="0" lang="en-US" sz="1000" spc="-1" strike="noStrike">
              <a:latin typeface="Times New Roman"/>
            </a:endParaRPr>
          </a:p>
        </p:txBody>
      </p:sp>
      <p:sp>
        <p:nvSpPr>
          <p:cNvPr id="81" name="PlaceHolder 4"/>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ffffff"/>
              </a:buClr>
              <a:buSzPct val="45000"/>
              <a:buFont typeface="Wingdings" charset="2"/>
              <a:buChar char=""/>
            </a:pPr>
            <a:r>
              <a:rPr b="0" lang="en-US" sz="3200" spc="-1" strike="noStrike">
                <a:solidFill>
                  <a:srgbClr val="0f1b2d"/>
                </a:solidFill>
                <a:latin typeface="Calibri"/>
              </a:rPr>
              <a:t>Click to edit the outline </a:t>
            </a:r>
            <a:r>
              <a:rPr b="0" lang="en-US" sz="3200" spc="-1" strike="noStrike">
                <a:solidFill>
                  <a:srgbClr val="0f1b2d"/>
                </a:solidFill>
                <a:latin typeface="Calibri"/>
              </a:rPr>
              <a:t>text format</a:t>
            </a:r>
            <a:endParaRPr b="0" lang="en-US" sz="3200" spc="-1" strike="noStrike">
              <a:solidFill>
                <a:srgbClr val="0f1b2d"/>
              </a:solidFill>
              <a:latin typeface="Calibri"/>
            </a:endParaRPr>
          </a:p>
          <a:p>
            <a:pPr lvl="1" marL="864000" indent="-324000">
              <a:spcBef>
                <a:spcPts val="1134"/>
              </a:spcBef>
              <a:buClr>
                <a:srgbClr val="ffffff"/>
              </a:buClr>
              <a:buSzPct val="75000"/>
              <a:buFont typeface="Symbol" charset="2"/>
              <a:buChar char=""/>
            </a:pPr>
            <a:r>
              <a:rPr b="0" lang="en-US" sz="2400" spc="-1" strike="noStrike">
                <a:solidFill>
                  <a:srgbClr val="0f1b2d"/>
                </a:solidFill>
                <a:latin typeface="Calibri"/>
              </a:rPr>
              <a:t>Second Outline Level</a:t>
            </a:r>
            <a:endParaRPr b="0" lang="en-US" sz="2400" spc="-1" strike="noStrike">
              <a:solidFill>
                <a:srgbClr val="0f1b2d"/>
              </a:solidFill>
              <a:latin typeface="Calibri"/>
            </a:endParaRPr>
          </a:p>
          <a:p>
            <a:pPr lvl="2" marL="1296000" indent="-288000">
              <a:spcBef>
                <a:spcPts val="850"/>
              </a:spcBef>
              <a:buClr>
                <a:srgbClr val="ffffff"/>
              </a:buClr>
              <a:buSzPct val="45000"/>
              <a:buFont typeface="Wingdings" charset="2"/>
              <a:buChar char=""/>
            </a:pPr>
            <a:r>
              <a:rPr b="0" lang="en-US" sz="2000" spc="-1" strike="noStrike">
                <a:solidFill>
                  <a:srgbClr val="0f1b2d"/>
                </a:solidFill>
                <a:latin typeface="Calibri"/>
              </a:rPr>
              <a:t>Third Outline Level</a:t>
            </a:r>
            <a:endParaRPr b="0" lang="en-US" sz="2000" spc="-1" strike="noStrike">
              <a:solidFill>
                <a:srgbClr val="0f1b2d"/>
              </a:solidFill>
              <a:latin typeface="Calibri"/>
            </a:endParaRPr>
          </a:p>
          <a:p>
            <a:pPr lvl="3" marL="1728000" indent="-216000">
              <a:spcBef>
                <a:spcPts val="567"/>
              </a:spcBef>
              <a:buClr>
                <a:srgbClr val="ffffff"/>
              </a:buClr>
              <a:buSzPct val="75000"/>
              <a:buFont typeface="Symbol" charset="2"/>
              <a:buChar char=""/>
            </a:pPr>
            <a:r>
              <a:rPr b="0" lang="en-US" sz="2000" spc="-1" strike="noStrike">
                <a:solidFill>
                  <a:srgbClr val="0f1b2d"/>
                </a:solidFill>
                <a:latin typeface="Calibri"/>
              </a:rPr>
              <a:t>Fourth Outline Level</a:t>
            </a:r>
            <a:endParaRPr b="0" lang="en-US" sz="2000" spc="-1" strike="noStrike">
              <a:solidFill>
                <a:srgbClr val="0f1b2d"/>
              </a:solidFill>
              <a:latin typeface="Calibri"/>
            </a:endParaRPr>
          </a:p>
          <a:p>
            <a:pPr lvl="4" marL="2160000" indent="-216000">
              <a:spcBef>
                <a:spcPts val="283"/>
              </a:spcBef>
              <a:buClr>
                <a:srgbClr val="ffffff"/>
              </a:buClr>
              <a:buSzPct val="45000"/>
              <a:buFont typeface="Wingdings" charset="2"/>
              <a:buChar char=""/>
            </a:pPr>
            <a:r>
              <a:rPr b="0" lang="en-US" sz="2000" spc="-1" strike="noStrike">
                <a:solidFill>
                  <a:srgbClr val="0f1b2d"/>
                </a:solidFill>
                <a:latin typeface="Calibri"/>
              </a:rPr>
              <a:t>Fifth Outline Level</a:t>
            </a:r>
            <a:endParaRPr b="0" lang="en-US" sz="2000" spc="-1" strike="noStrike">
              <a:solidFill>
                <a:srgbClr val="0f1b2d"/>
              </a:solidFill>
              <a:latin typeface="Calibri"/>
            </a:endParaRPr>
          </a:p>
          <a:p>
            <a:pPr lvl="5" marL="2592000" indent="-216000">
              <a:spcBef>
                <a:spcPts val="283"/>
              </a:spcBef>
              <a:buClr>
                <a:srgbClr val="ffffff"/>
              </a:buClr>
              <a:buSzPct val="45000"/>
              <a:buFont typeface="Wingdings" charset="2"/>
              <a:buChar char=""/>
            </a:pPr>
            <a:r>
              <a:rPr b="0" lang="en-US" sz="2000" spc="-1" strike="noStrike">
                <a:solidFill>
                  <a:srgbClr val="0f1b2d"/>
                </a:solidFill>
                <a:latin typeface="Calibri"/>
              </a:rPr>
              <a:t>Sixth Outline Level</a:t>
            </a:r>
            <a:endParaRPr b="0" lang="en-US" sz="2000" spc="-1" strike="noStrike">
              <a:solidFill>
                <a:srgbClr val="0f1b2d"/>
              </a:solidFill>
              <a:latin typeface="Calibri"/>
            </a:endParaRPr>
          </a:p>
          <a:p>
            <a:pPr lvl="6" marL="3024000" indent="-216000">
              <a:spcBef>
                <a:spcPts val="283"/>
              </a:spcBef>
              <a:buClr>
                <a:srgbClr val="ffffff"/>
              </a:buClr>
              <a:buSzPct val="45000"/>
              <a:buFont typeface="Wingdings" charset="2"/>
              <a:buChar char=""/>
            </a:pPr>
            <a:r>
              <a:rPr b="0" lang="en-US" sz="2000" spc="-1" strike="noStrike">
                <a:solidFill>
                  <a:srgbClr val="0f1b2d"/>
                </a:solidFill>
                <a:latin typeface="Calibri"/>
              </a:rPr>
              <a:t>Seventh Outline </a:t>
            </a:r>
            <a:r>
              <a:rPr b="0" lang="en-US" sz="2000" spc="-1" strike="noStrike">
                <a:solidFill>
                  <a:srgbClr val="0f1b2d"/>
                </a:solidFill>
                <a:latin typeface="Calibri"/>
              </a:rPr>
              <a:t>Level</a:t>
            </a:r>
            <a:endParaRPr b="0" lang="en-US" sz="2000" spc="-1" strike="noStrike">
              <a:solidFill>
                <a:srgbClr val="0f1b2d"/>
              </a:solidFill>
              <a:latin typeface="Calibri"/>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3.xml"/><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slideLayout" Target="../slideLayouts/slideLayout13.xml"/><Relationship Id="rId8"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13.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slideLayout" Target="../slideLayouts/slideLayout13.xml"/><Relationship Id="rId5"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slideLayout" Target="../slideLayouts/slideLayout13.xml"/><Relationship Id="rId5"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3.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slideLayout" Target="../slideLayouts/slideLayout13.xml"/><Relationship Id="rId5"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TextShape 1"/>
          <p:cNvSpPr txBox="1"/>
          <p:nvPr/>
        </p:nvSpPr>
        <p:spPr>
          <a:xfrm>
            <a:off x="548640" y="1737360"/>
            <a:ext cx="5760360" cy="2285640"/>
          </a:xfrm>
          <a:prstGeom prst="rect">
            <a:avLst/>
          </a:prstGeom>
          <a:noFill/>
          <a:ln>
            <a:noFill/>
          </a:ln>
        </p:spPr>
        <p:txBody>
          <a:bodyPr lIns="0" rIns="0" tIns="0" bIns="0">
            <a:noAutofit/>
          </a:bodyPr>
          <a:p>
            <a:pPr algn="ctr">
              <a:lnSpc>
                <a:spcPct val="100000"/>
              </a:lnSpc>
              <a:tabLst>
                <a:tab algn="l" pos="0"/>
              </a:tabLst>
            </a:pPr>
            <a:r>
              <a:rPr b="1" lang="en-US" sz="4400" spc="-1" strike="noStrike">
                <a:solidFill>
                  <a:srgbClr val="ffffff"/>
                </a:solidFill>
                <a:latin typeface="Cambria"/>
              </a:rPr>
              <a:t>Verifying an AXI4-to-APB bridge</a:t>
            </a:r>
            <a:endParaRPr b="0" lang="en-US" sz="4400" spc="-1" strike="noStrike">
              <a:solidFill>
                <a:srgbClr val="0f1b2d"/>
              </a:solidFill>
              <a:latin typeface="Calibri"/>
            </a:endParaRPr>
          </a:p>
        </p:txBody>
      </p:sp>
      <p:sp>
        <p:nvSpPr>
          <p:cNvPr id="125" name="TextShape 2"/>
          <p:cNvSpPr txBox="1"/>
          <p:nvPr/>
        </p:nvSpPr>
        <p:spPr>
          <a:xfrm>
            <a:off x="548640" y="4206240"/>
            <a:ext cx="5760360" cy="914040"/>
          </a:xfrm>
          <a:prstGeom prst="rect">
            <a:avLst/>
          </a:prstGeom>
          <a:noFill/>
          <a:ln>
            <a:noFill/>
          </a:ln>
        </p:spPr>
        <p:txBody>
          <a:bodyPr lIns="0" rIns="0" tIns="0" bIns="0">
            <a:noAutofit/>
          </a:bodyPr>
          <a:p>
            <a:pPr>
              <a:lnSpc>
                <a:spcPct val="100000"/>
              </a:lnSpc>
              <a:spcBef>
                <a:spcPts val="400"/>
              </a:spcBef>
              <a:tabLst>
                <a:tab algn="l" pos="0"/>
              </a:tabLst>
            </a:pPr>
            <a:r>
              <a:rPr b="0" lang="en-US" sz="2000" spc="-1" strike="noStrike">
                <a:solidFill>
                  <a:srgbClr val="f3f6fa"/>
                </a:solidFill>
                <a:latin typeface="Calibri"/>
              </a:rPr>
              <a:t>UVM verification environment, directed-test phase</a:t>
            </a:r>
            <a:endParaRPr b="0" lang="en-US" sz="2000" spc="-1" strike="noStrike">
              <a:solidFill>
                <a:srgbClr val="0f1b2d"/>
              </a:solidFill>
              <a:latin typeface="Calibri"/>
            </a:endParaRPr>
          </a:p>
        </p:txBody>
      </p:sp>
      <p:sp>
        <p:nvSpPr>
          <p:cNvPr id="126" name="CustomShape 3"/>
          <p:cNvSpPr/>
          <p:nvPr/>
        </p:nvSpPr>
        <p:spPr>
          <a:xfrm>
            <a:off x="548640" y="5760720"/>
            <a:ext cx="5760360" cy="3654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f3f6fa"/>
                </a:solidFill>
                <a:latin typeface="Calibri"/>
              </a:rPr>
              <a:t>UVM 1.2  |  Synopsys VCS  |  14 directed tests</a:t>
            </a:r>
            <a:endParaRPr b="0" lang="en-US" sz="1400" spc="-1" strike="noStrike">
              <a:latin typeface="Arial"/>
            </a:endParaRPr>
          </a:p>
        </p:txBody>
      </p:sp>
      <p:sp>
        <p:nvSpPr>
          <p:cNvPr id="127" name="CustomShape 4"/>
          <p:cNvSpPr/>
          <p:nvPr/>
        </p:nvSpPr>
        <p:spPr>
          <a:xfrm>
            <a:off x="6400800" y="2834640"/>
            <a:ext cx="1508400" cy="1005480"/>
          </a:xfrm>
          <a:prstGeom prst="roundRect">
            <a:avLst>
              <a:gd name="adj" fmla="val 9091"/>
            </a:avLst>
          </a:prstGeom>
          <a:solidFill>
            <a:schemeClr val="accent1"/>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AXI4 master</a:t>
            </a:r>
            <a:endParaRPr b="0" lang="en-US" sz="1500" spc="-1" strike="noStrike">
              <a:latin typeface="Arial"/>
            </a:endParaRPr>
          </a:p>
          <a:p>
            <a:pPr algn="ctr">
              <a:lnSpc>
                <a:spcPct val="100000"/>
              </a:lnSpc>
              <a:tabLst>
                <a:tab algn="l" pos="0"/>
              </a:tabLst>
            </a:pPr>
            <a:r>
              <a:rPr b="1" lang="en-US" sz="1500" spc="-1" strike="noStrike">
                <a:solidFill>
                  <a:srgbClr val="ffffff"/>
                </a:solidFill>
                <a:latin typeface="Calibri"/>
              </a:rPr>
              <a:t>agent</a:t>
            </a:r>
            <a:endParaRPr b="0" lang="en-US" sz="1500" spc="-1" strike="noStrike">
              <a:latin typeface="Arial"/>
            </a:endParaRPr>
          </a:p>
        </p:txBody>
      </p:sp>
      <p:sp>
        <p:nvSpPr>
          <p:cNvPr id="128" name="CustomShape 5"/>
          <p:cNvSpPr/>
          <p:nvPr/>
        </p:nvSpPr>
        <p:spPr>
          <a:xfrm>
            <a:off x="8275320" y="2834640"/>
            <a:ext cx="1508400" cy="1005480"/>
          </a:xfrm>
          <a:prstGeom prst="roundRect">
            <a:avLst>
              <a:gd name="adj" fmla="val 9091"/>
            </a:avLst>
          </a:prstGeom>
          <a:solidFill>
            <a:schemeClr val="bg1"/>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0f1b2d"/>
                </a:solidFill>
                <a:latin typeface="Calibri"/>
              </a:rPr>
              <a:t>axi2apb</a:t>
            </a:r>
            <a:endParaRPr b="0" lang="en-US" sz="1500" spc="-1" strike="noStrike">
              <a:latin typeface="Arial"/>
            </a:endParaRPr>
          </a:p>
          <a:p>
            <a:pPr algn="ctr">
              <a:lnSpc>
                <a:spcPct val="100000"/>
              </a:lnSpc>
              <a:tabLst>
                <a:tab algn="l" pos="0"/>
              </a:tabLst>
            </a:pPr>
            <a:r>
              <a:rPr b="1" lang="en-US" sz="1500" spc="-1" strike="noStrike">
                <a:solidFill>
                  <a:srgbClr val="0f1b2d"/>
                </a:solidFill>
                <a:latin typeface="Calibri"/>
              </a:rPr>
              <a:t>DUT</a:t>
            </a:r>
            <a:endParaRPr b="0" lang="en-US" sz="1500" spc="-1" strike="noStrike">
              <a:latin typeface="Arial"/>
            </a:endParaRPr>
          </a:p>
        </p:txBody>
      </p:sp>
      <p:sp>
        <p:nvSpPr>
          <p:cNvPr id="129" name="CustomShape 6"/>
          <p:cNvSpPr/>
          <p:nvPr/>
        </p:nvSpPr>
        <p:spPr>
          <a:xfrm>
            <a:off x="10149840" y="2834640"/>
            <a:ext cx="1508400" cy="1005480"/>
          </a:xfrm>
          <a:prstGeom prst="roundRect">
            <a:avLst>
              <a:gd name="adj" fmla="val 9091"/>
            </a:avLst>
          </a:prstGeom>
          <a:solidFill>
            <a:schemeClr val="accent2"/>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APB slave</a:t>
            </a:r>
            <a:endParaRPr b="0" lang="en-US" sz="1500" spc="-1" strike="noStrike">
              <a:latin typeface="Arial"/>
            </a:endParaRPr>
          </a:p>
          <a:p>
            <a:pPr algn="ctr">
              <a:lnSpc>
                <a:spcPct val="100000"/>
              </a:lnSpc>
              <a:tabLst>
                <a:tab algn="l" pos="0"/>
              </a:tabLst>
            </a:pPr>
            <a:r>
              <a:rPr b="1" lang="en-US" sz="1500" spc="-1" strike="noStrike">
                <a:solidFill>
                  <a:srgbClr val="ffffff"/>
                </a:solidFill>
                <a:latin typeface="Calibri"/>
              </a:rPr>
              <a:t>agent</a:t>
            </a:r>
            <a:endParaRPr b="0" lang="en-US" sz="1500" spc="-1" strike="noStrike">
              <a:latin typeface="Arial"/>
            </a:endParaRPr>
          </a:p>
        </p:txBody>
      </p:sp>
      <p:sp>
        <p:nvSpPr>
          <p:cNvPr id="130" name="Line 7"/>
          <p:cNvSpPr/>
          <p:nvPr/>
        </p:nvSpPr>
        <p:spPr>
          <a:xfrm>
            <a:off x="7909560" y="3337560"/>
            <a:ext cx="365760" cy="0"/>
          </a:xfrm>
          <a:prstGeom prst="line">
            <a:avLst/>
          </a:prstGeom>
          <a:ln w="19080">
            <a:solidFill>
              <a:schemeClr val="accent4"/>
            </a:solidFill>
            <a:round/>
            <a:headEnd len="med" type="triangle" w="med"/>
            <a:tailEnd len="med" type="triangle" w="med"/>
          </a:ln>
        </p:spPr>
        <p:style>
          <a:lnRef idx="0"/>
          <a:fillRef idx="0"/>
          <a:effectRef idx="0"/>
          <a:fontRef idx="minor"/>
        </p:style>
      </p:sp>
      <p:sp>
        <p:nvSpPr>
          <p:cNvPr id="131" name="Line 8"/>
          <p:cNvSpPr/>
          <p:nvPr/>
        </p:nvSpPr>
        <p:spPr>
          <a:xfrm>
            <a:off x="9784080" y="3337560"/>
            <a:ext cx="365760" cy="0"/>
          </a:xfrm>
          <a:prstGeom prst="line">
            <a:avLst/>
          </a:prstGeom>
          <a:ln w="19080">
            <a:solidFill>
              <a:schemeClr val="accent4"/>
            </a:solidFill>
            <a:round/>
            <a:headEnd len="med" type="triangle" w="med"/>
            <a:tailEnd len="med" type="triangle" w="med"/>
          </a:ln>
        </p:spPr>
        <p:style>
          <a:lnRef idx="0"/>
          <a:fillRef idx="0"/>
          <a:effectRef idx="0"/>
          <a:fontRef idx="minor"/>
        </p:style>
      </p:sp>
      <p:sp>
        <p:nvSpPr>
          <p:cNvPr id="132" name="CustomShape 9"/>
          <p:cNvSpPr/>
          <p:nvPr/>
        </p:nvSpPr>
        <p:spPr>
          <a:xfrm>
            <a:off x="6400800" y="4114800"/>
            <a:ext cx="5257440" cy="3654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f3f6fa"/>
                </a:solidFill>
                <a:latin typeface="Calibri"/>
              </a:rPr>
              <a:t>The bridge under test sits between two UVM agents</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TextShape 1"/>
          <p:cNvSpPr txBox="1"/>
          <p:nvPr/>
        </p:nvSpPr>
        <p:spPr>
          <a:xfrm>
            <a:off x="548640" y="365760"/>
            <a:ext cx="11063880" cy="731160"/>
          </a:xfrm>
          <a:prstGeom prst="rect">
            <a:avLst/>
          </a:prstGeom>
          <a:noFill/>
          <a:ln>
            <a:noFill/>
          </a:ln>
        </p:spPr>
        <p:txBody>
          <a:bodyPr lIns="0" rIns="0" tIns="0" bIns="0" anchor="ctr">
            <a:noAutofit/>
          </a:bodyPr>
          <a:p>
            <a:pPr algn="ctr">
              <a:lnSpc>
                <a:spcPct val="100000"/>
              </a:lnSpc>
              <a:tabLst>
                <a:tab algn="l" pos="0"/>
              </a:tabLst>
            </a:pPr>
            <a:r>
              <a:rPr b="1" lang="en-US" sz="3400" spc="-1" strike="noStrike">
                <a:solidFill>
                  <a:srgbClr val="0f1b2d"/>
                </a:solidFill>
                <a:latin typeface="Cambria"/>
              </a:rPr>
              <a:t>Project goal and scope</a:t>
            </a:r>
            <a:endParaRPr b="0" lang="en-US" sz="3400" spc="-1" strike="noStrike">
              <a:solidFill>
                <a:srgbClr val="0f1b2d"/>
              </a:solidFill>
              <a:latin typeface="Calibri"/>
            </a:endParaRPr>
          </a:p>
        </p:txBody>
      </p:sp>
      <p:sp>
        <p:nvSpPr>
          <p:cNvPr id="134" name="CustomShape 2"/>
          <p:cNvSpPr/>
          <p:nvPr/>
        </p:nvSpPr>
        <p:spPr>
          <a:xfrm>
            <a:off x="548640" y="1371600"/>
            <a:ext cx="2559960" cy="1554120"/>
          </a:xfrm>
          <a:prstGeom prst="roundRect">
            <a:avLst>
              <a:gd name="adj" fmla="val 7059"/>
            </a:avLst>
          </a:prstGeom>
          <a:solidFill>
            <a:schemeClr val="bg2"/>
          </a:solidFill>
          <a:ln>
            <a:noFill/>
          </a:ln>
        </p:spPr>
        <p:style>
          <a:lnRef idx="0"/>
          <a:fillRef idx="0"/>
          <a:effectRef idx="0"/>
          <a:fontRef idx="minor"/>
        </p:style>
      </p:sp>
      <p:sp>
        <p:nvSpPr>
          <p:cNvPr id="135" name="CustomShape 3"/>
          <p:cNvSpPr/>
          <p:nvPr/>
        </p:nvSpPr>
        <p:spPr>
          <a:xfrm>
            <a:off x="777240" y="1463040"/>
            <a:ext cx="2102760" cy="8683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5400" spc="-1" strike="noStrike">
                <a:solidFill>
                  <a:srgbClr val="12806e"/>
                </a:solidFill>
                <a:latin typeface="Cambria"/>
                <a:ea typeface="Cambria"/>
              </a:rPr>
              <a:t>14</a:t>
            </a:r>
            <a:endParaRPr b="0" lang="en-US" sz="5400" spc="-1" strike="noStrike">
              <a:latin typeface="Arial"/>
            </a:endParaRPr>
          </a:p>
        </p:txBody>
      </p:sp>
      <p:sp>
        <p:nvSpPr>
          <p:cNvPr id="136" name="CustomShape 4"/>
          <p:cNvSpPr/>
          <p:nvPr/>
        </p:nvSpPr>
        <p:spPr>
          <a:xfrm>
            <a:off x="777240" y="2377440"/>
            <a:ext cx="2194200" cy="4568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0f1b2d"/>
                </a:solidFill>
                <a:latin typeface="Calibri"/>
              </a:rPr>
              <a:t>directed tests</a:t>
            </a:r>
            <a:endParaRPr b="0" lang="en-US" sz="1400" spc="-1" strike="noStrike">
              <a:latin typeface="Arial"/>
            </a:endParaRPr>
          </a:p>
        </p:txBody>
      </p:sp>
      <p:sp>
        <p:nvSpPr>
          <p:cNvPr id="137" name="CustomShape 5"/>
          <p:cNvSpPr/>
          <p:nvPr/>
        </p:nvSpPr>
        <p:spPr>
          <a:xfrm>
            <a:off x="3383280" y="1371600"/>
            <a:ext cx="2559960" cy="1554120"/>
          </a:xfrm>
          <a:prstGeom prst="roundRect">
            <a:avLst>
              <a:gd name="adj" fmla="val 7059"/>
            </a:avLst>
          </a:prstGeom>
          <a:solidFill>
            <a:schemeClr val="bg2"/>
          </a:solidFill>
          <a:ln>
            <a:noFill/>
          </a:ln>
        </p:spPr>
        <p:style>
          <a:lnRef idx="0"/>
          <a:fillRef idx="0"/>
          <a:effectRef idx="0"/>
          <a:fontRef idx="minor"/>
        </p:style>
      </p:sp>
      <p:sp>
        <p:nvSpPr>
          <p:cNvPr id="138" name="CustomShape 6"/>
          <p:cNvSpPr/>
          <p:nvPr/>
        </p:nvSpPr>
        <p:spPr>
          <a:xfrm>
            <a:off x="3611880" y="1463040"/>
            <a:ext cx="2102760" cy="8683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5400" spc="-1" strike="noStrike">
                <a:solidFill>
                  <a:srgbClr val="d14a22"/>
                </a:solidFill>
                <a:latin typeface="Cambria"/>
                <a:ea typeface="Cambria"/>
              </a:rPr>
              <a:t>2</a:t>
            </a:r>
            <a:endParaRPr b="0" lang="en-US" sz="5400" spc="-1" strike="noStrike">
              <a:latin typeface="Arial"/>
            </a:endParaRPr>
          </a:p>
        </p:txBody>
      </p:sp>
      <p:sp>
        <p:nvSpPr>
          <p:cNvPr id="139" name="CustomShape 7"/>
          <p:cNvSpPr/>
          <p:nvPr/>
        </p:nvSpPr>
        <p:spPr>
          <a:xfrm>
            <a:off x="3611880" y="2377440"/>
            <a:ext cx="2194200" cy="4568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0f1b2d"/>
                </a:solidFill>
                <a:latin typeface="Calibri"/>
              </a:rPr>
              <a:t>UVM agents: AXI and APB</a:t>
            </a:r>
            <a:endParaRPr b="0" lang="en-US" sz="1400" spc="-1" strike="noStrike">
              <a:latin typeface="Arial"/>
            </a:endParaRPr>
          </a:p>
        </p:txBody>
      </p:sp>
      <p:sp>
        <p:nvSpPr>
          <p:cNvPr id="140" name="CustomShape 8"/>
          <p:cNvSpPr/>
          <p:nvPr/>
        </p:nvSpPr>
        <p:spPr>
          <a:xfrm>
            <a:off x="6217920" y="1371600"/>
            <a:ext cx="2559960" cy="1554120"/>
          </a:xfrm>
          <a:prstGeom prst="roundRect">
            <a:avLst>
              <a:gd name="adj" fmla="val 7059"/>
            </a:avLst>
          </a:prstGeom>
          <a:solidFill>
            <a:schemeClr val="bg2"/>
          </a:solidFill>
          <a:ln>
            <a:noFill/>
          </a:ln>
        </p:spPr>
        <p:style>
          <a:lnRef idx="0"/>
          <a:fillRef idx="0"/>
          <a:effectRef idx="0"/>
          <a:fontRef idx="minor"/>
        </p:style>
      </p:sp>
      <p:sp>
        <p:nvSpPr>
          <p:cNvPr id="141" name="CustomShape 9"/>
          <p:cNvSpPr/>
          <p:nvPr/>
        </p:nvSpPr>
        <p:spPr>
          <a:xfrm>
            <a:off x="6446520" y="1463040"/>
            <a:ext cx="2102760" cy="8683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5400" spc="-1" strike="noStrike">
                <a:solidFill>
                  <a:srgbClr val="6b5bd2"/>
                </a:solidFill>
                <a:latin typeface="Cambria"/>
                <a:ea typeface="Cambria"/>
              </a:rPr>
              <a:t>7</a:t>
            </a:r>
            <a:endParaRPr b="0" lang="en-US" sz="5400" spc="-1" strike="noStrike">
              <a:latin typeface="Arial"/>
            </a:endParaRPr>
          </a:p>
        </p:txBody>
      </p:sp>
      <p:sp>
        <p:nvSpPr>
          <p:cNvPr id="142" name="CustomShape 10"/>
          <p:cNvSpPr/>
          <p:nvPr/>
        </p:nvSpPr>
        <p:spPr>
          <a:xfrm>
            <a:off x="6446520" y="2377440"/>
            <a:ext cx="2194200" cy="4568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0f1b2d"/>
                </a:solidFill>
                <a:latin typeface="Calibri"/>
              </a:rPr>
              <a:t>RTL files under test</a:t>
            </a:r>
            <a:endParaRPr b="0" lang="en-US" sz="1400" spc="-1" strike="noStrike">
              <a:latin typeface="Arial"/>
            </a:endParaRPr>
          </a:p>
        </p:txBody>
      </p:sp>
      <p:sp>
        <p:nvSpPr>
          <p:cNvPr id="143" name="CustomShape 11"/>
          <p:cNvSpPr/>
          <p:nvPr/>
        </p:nvSpPr>
        <p:spPr>
          <a:xfrm>
            <a:off x="9052560" y="1371600"/>
            <a:ext cx="2559960" cy="1554120"/>
          </a:xfrm>
          <a:prstGeom prst="roundRect">
            <a:avLst>
              <a:gd name="adj" fmla="val 7059"/>
            </a:avLst>
          </a:prstGeom>
          <a:solidFill>
            <a:schemeClr val="bg2"/>
          </a:solidFill>
          <a:ln>
            <a:noFill/>
          </a:ln>
        </p:spPr>
        <p:style>
          <a:lnRef idx="0"/>
          <a:fillRef idx="0"/>
          <a:effectRef idx="0"/>
          <a:fontRef idx="minor"/>
        </p:style>
      </p:sp>
      <p:sp>
        <p:nvSpPr>
          <p:cNvPr id="144" name="CustomShape 12"/>
          <p:cNvSpPr/>
          <p:nvPr/>
        </p:nvSpPr>
        <p:spPr>
          <a:xfrm>
            <a:off x="9281160" y="1463040"/>
            <a:ext cx="2102760" cy="8683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5400" spc="-1" strike="noStrike">
                <a:solidFill>
                  <a:srgbClr val="5b6c8f"/>
                </a:solidFill>
                <a:latin typeface="Cambria"/>
                <a:ea typeface="Cambria"/>
              </a:rPr>
              <a:t>0</a:t>
            </a:r>
            <a:endParaRPr b="0" lang="en-US" sz="5400" spc="-1" strike="noStrike">
              <a:latin typeface="Arial"/>
            </a:endParaRPr>
          </a:p>
        </p:txBody>
      </p:sp>
      <p:sp>
        <p:nvSpPr>
          <p:cNvPr id="145" name="CustomShape 13"/>
          <p:cNvSpPr/>
          <p:nvPr/>
        </p:nvSpPr>
        <p:spPr>
          <a:xfrm>
            <a:off x="9281160" y="2377440"/>
            <a:ext cx="2194200" cy="4568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0f1b2d"/>
                </a:solidFill>
                <a:latin typeface="Calibri"/>
              </a:rPr>
              <a:t>changes made to the DUT</a:t>
            </a:r>
            <a:endParaRPr b="0" lang="en-US" sz="1400" spc="-1" strike="noStrike">
              <a:latin typeface="Arial"/>
            </a:endParaRPr>
          </a:p>
        </p:txBody>
      </p:sp>
      <p:sp>
        <p:nvSpPr>
          <p:cNvPr id="146" name="CustomShape 14"/>
          <p:cNvSpPr/>
          <p:nvPr/>
        </p:nvSpPr>
        <p:spPr>
          <a:xfrm>
            <a:off x="548640" y="3291840"/>
            <a:ext cx="3565800" cy="2742840"/>
          </a:xfrm>
          <a:prstGeom prst="roundRect">
            <a:avLst>
              <a:gd name="adj" fmla="val 4000"/>
            </a:avLst>
          </a:prstGeom>
          <a:solidFill>
            <a:schemeClr val="bg2"/>
          </a:solidFill>
          <a:ln>
            <a:noFill/>
          </a:ln>
        </p:spPr>
        <p:style>
          <a:lnRef idx="0"/>
          <a:fillRef idx="0"/>
          <a:effectRef idx="0"/>
          <a:fontRef idx="minor"/>
        </p:style>
      </p:sp>
      <p:sp>
        <p:nvSpPr>
          <p:cNvPr id="147" name="CustomShape 15"/>
          <p:cNvSpPr/>
          <p:nvPr/>
        </p:nvSpPr>
        <p:spPr>
          <a:xfrm>
            <a:off x="822960" y="3566160"/>
            <a:ext cx="639720" cy="639720"/>
          </a:xfrm>
          <a:prstGeom prst="ellipse">
            <a:avLst/>
          </a:prstGeom>
          <a:solidFill>
            <a:schemeClr val="accent1"/>
          </a:solidFill>
          <a:ln>
            <a:noFill/>
          </a:ln>
        </p:spPr>
        <p:style>
          <a:lnRef idx="0"/>
          <a:fillRef idx="0"/>
          <a:effectRef idx="0"/>
          <a:fontRef idx="minor"/>
        </p:style>
      </p:sp>
      <p:pic>
        <p:nvPicPr>
          <p:cNvPr id="148" name="icon FaMicrochip" descr="preencoded.png"/>
          <p:cNvPicPr/>
          <p:nvPr/>
        </p:nvPicPr>
        <p:blipFill>
          <a:blip r:embed="rId1"/>
          <a:stretch/>
        </p:blipFill>
        <p:spPr>
          <a:xfrm>
            <a:off x="983160" y="3726360"/>
            <a:ext cx="319680" cy="319680"/>
          </a:xfrm>
          <a:prstGeom prst="rect">
            <a:avLst/>
          </a:prstGeom>
          <a:ln>
            <a:noFill/>
          </a:ln>
        </p:spPr>
      </p:pic>
      <p:sp>
        <p:nvSpPr>
          <p:cNvPr id="149" name="CustomShape 16"/>
          <p:cNvSpPr/>
          <p:nvPr/>
        </p:nvSpPr>
        <p:spPr>
          <a:xfrm>
            <a:off x="1645920" y="3703320"/>
            <a:ext cx="2285640" cy="4111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800" spc="-1" strike="noStrike">
                <a:solidFill>
                  <a:srgbClr val="0f1b2d"/>
                </a:solidFill>
                <a:latin typeface="Calibri"/>
              </a:rPr>
              <a:t>What we verify</a:t>
            </a:r>
            <a:endParaRPr b="0" lang="en-US" sz="1800" spc="-1" strike="noStrike">
              <a:latin typeface="Arial"/>
            </a:endParaRPr>
          </a:p>
        </p:txBody>
      </p:sp>
      <p:sp>
        <p:nvSpPr>
          <p:cNvPr id="150" name="CustomShape 17"/>
          <p:cNvSpPr/>
          <p:nvPr/>
        </p:nvSpPr>
        <p:spPr>
          <a:xfrm>
            <a:off x="822960" y="4526280"/>
            <a:ext cx="3017160" cy="13712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The axi2apb bridge: AXI4 slave port in, APB master port out. The supplied RTL stays unmodified.</a:t>
            </a:r>
            <a:endParaRPr b="0" lang="en-US" sz="1400" spc="-1" strike="noStrike">
              <a:latin typeface="Arial"/>
            </a:endParaRPr>
          </a:p>
        </p:txBody>
      </p:sp>
      <p:sp>
        <p:nvSpPr>
          <p:cNvPr id="151" name="CustomShape 18"/>
          <p:cNvSpPr/>
          <p:nvPr/>
        </p:nvSpPr>
        <p:spPr>
          <a:xfrm>
            <a:off x="4297680" y="3291840"/>
            <a:ext cx="3565800" cy="2742840"/>
          </a:xfrm>
          <a:prstGeom prst="roundRect">
            <a:avLst>
              <a:gd name="adj" fmla="val 4000"/>
            </a:avLst>
          </a:prstGeom>
          <a:solidFill>
            <a:schemeClr val="bg2"/>
          </a:solidFill>
          <a:ln>
            <a:noFill/>
          </a:ln>
        </p:spPr>
        <p:style>
          <a:lnRef idx="0"/>
          <a:fillRef idx="0"/>
          <a:effectRef idx="0"/>
          <a:fontRef idx="minor"/>
        </p:style>
      </p:sp>
      <p:sp>
        <p:nvSpPr>
          <p:cNvPr id="152" name="CustomShape 19"/>
          <p:cNvSpPr/>
          <p:nvPr/>
        </p:nvSpPr>
        <p:spPr>
          <a:xfrm>
            <a:off x="4572000" y="3566160"/>
            <a:ext cx="639720" cy="639720"/>
          </a:xfrm>
          <a:prstGeom prst="ellipse">
            <a:avLst/>
          </a:prstGeom>
          <a:solidFill>
            <a:schemeClr val="accent2"/>
          </a:solidFill>
          <a:ln>
            <a:noFill/>
          </a:ln>
        </p:spPr>
        <p:style>
          <a:lnRef idx="0"/>
          <a:fillRef idx="0"/>
          <a:effectRef idx="0"/>
          <a:fontRef idx="minor"/>
        </p:style>
      </p:sp>
      <p:pic>
        <p:nvPicPr>
          <p:cNvPr id="153" name="icon FaProjectDiagram" descr="preencoded.png"/>
          <p:cNvPicPr/>
          <p:nvPr/>
        </p:nvPicPr>
        <p:blipFill>
          <a:blip r:embed="rId2"/>
          <a:stretch/>
        </p:blipFill>
        <p:spPr>
          <a:xfrm>
            <a:off x="4732200" y="3726360"/>
            <a:ext cx="319680" cy="319680"/>
          </a:xfrm>
          <a:prstGeom prst="rect">
            <a:avLst/>
          </a:prstGeom>
          <a:ln>
            <a:noFill/>
          </a:ln>
        </p:spPr>
      </p:pic>
      <p:sp>
        <p:nvSpPr>
          <p:cNvPr id="154" name="CustomShape 20"/>
          <p:cNvSpPr/>
          <p:nvPr/>
        </p:nvSpPr>
        <p:spPr>
          <a:xfrm>
            <a:off x="5394960" y="3703320"/>
            <a:ext cx="2285640" cy="4111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800" spc="-1" strike="noStrike">
                <a:solidFill>
                  <a:srgbClr val="0f1b2d"/>
                </a:solidFill>
                <a:latin typeface="Calibri"/>
              </a:rPr>
              <a:t>How we verify</a:t>
            </a:r>
            <a:endParaRPr b="0" lang="en-US" sz="1800" spc="-1" strike="noStrike">
              <a:latin typeface="Arial"/>
            </a:endParaRPr>
          </a:p>
        </p:txBody>
      </p:sp>
      <p:sp>
        <p:nvSpPr>
          <p:cNvPr id="155" name="CustomShape 21"/>
          <p:cNvSpPr/>
          <p:nvPr/>
        </p:nvSpPr>
        <p:spPr>
          <a:xfrm>
            <a:off x="4572000" y="4526280"/>
            <a:ext cx="3017160" cy="13712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A dual-agent UVM environment: AXI master agent, reactive APB slave agent, scoreboard and coverage.</a:t>
            </a:r>
            <a:endParaRPr b="0" lang="en-US" sz="1400" spc="-1" strike="noStrike">
              <a:latin typeface="Arial"/>
            </a:endParaRPr>
          </a:p>
        </p:txBody>
      </p:sp>
      <p:sp>
        <p:nvSpPr>
          <p:cNvPr id="156" name="CustomShape 22"/>
          <p:cNvSpPr/>
          <p:nvPr/>
        </p:nvSpPr>
        <p:spPr>
          <a:xfrm>
            <a:off x="8046720" y="3291840"/>
            <a:ext cx="3565800" cy="2742840"/>
          </a:xfrm>
          <a:prstGeom prst="roundRect">
            <a:avLst>
              <a:gd name="adj" fmla="val 4000"/>
            </a:avLst>
          </a:prstGeom>
          <a:solidFill>
            <a:schemeClr val="bg2"/>
          </a:solidFill>
          <a:ln>
            <a:noFill/>
          </a:ln>
        </p:spPr>
        <p:style>
          <a:lnRef idx="0"/>
          <a:fillRef idx="0"/>
          <a:effectRef idx="0"/>
          <a:fontRef idx="minor"/>
        </p:style>
      </p:sp>
      <p:sp>
        <p:nvSpPr>
          <p:cNvPr id="157" name="CustomShape 23"/>
          <p:cNvSpPr/>
          <p:nvPr/>
        </p:nvSpPr>
        <p:spPr>
          <a:xfrm>
            <a:off x="8321040" y="3566160"/>
            <a:ext cx="639720" cy="639720"/>
          </a:xfrm>
          <a:prstGeom prst="ellipse">
            <a:avLst/>
          </a:prstGeom>
          <a:solidFill>
            <a:schemeClr val="accent5"/>
          </a:solidFill>
          <a:ln>
            <a:noFill/>
          </a:ln>
        </p:spPr>
        <p:style>
          <a:lnRef idx="0"/>
          <a:fillRef idx="0"/>
          <a:effectRef idx="0"/>
          <a:fontRef idx="minor"/>
        </p:style>
      </p:sp>
      <p:pic>
        <p:nvPicPr>
          <p:cNvPr id="158" name="icon FaClipboardCheck" descr="preencoded.png"/>
          <p:cNvPicPr/>
          <p:nvPr/>
        </p:nvPicPr>
        <p:blipFill>
          <a:blip r:embed="rId3"/>
          <a:stretch/>
        </p:blipFill>
        <p:spPr>
          <a:xfrm>
            <a:off x="8481240" y="3726360"/>
            <a:ext cx="319680" cy="319680"/>
          </a:xfrm>
          <a:prstGeom prst="rect">
            <a:avLst/>
          </a:prstGeom>
          <a:ln>
            <a:noFill/>
          </a:ln>
        </p:spPr>
      </p:pic>
      <p:sp>
        <p:nvSpPr>
          <p:cNvPr id="159" name="CustomShape 24"/>
          <p:cNvSpPr/>
          <p:nvPr/>
        </p:nvSpPr>
        <p:spPr>
          <a:xfrm>
            <a:off x="9144000" y="3703320"/>
            <a:ext cx="2285640" cy="4111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800" spc="-1" strike="noStrike">
                <a:solidFill>
                  <a:srgbClr val="0f1b2d"/>
                </a:solidFill>
                <a:latin typeface="Calibri"/>
              </a:rPr>
              <a:t>This phase</a:t>
            </a:r>
            <a:endParaRPr b="0" lang="en-US" sz="1800" spc="-1" strike="noStrike">
              <a:latin typeface="Arial"/>
            </a:endParaRPr>
          </a:p>
        </p:txBody>
      </p:sp>
      <p:sp>
        <p:nvSpPr>
          <p:cNvPr id="160" name="CustomShape 25"/>
          <p:cNvSpPr/>
          <p:nvPr/>
        </p:nvSpPr>
        <p:spPr>
          <a:xfrm>
            <a:off x="8321040" y="4526280"/>
            <a:ext cx="3017160" cy="13712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Directed tests first. Each test targets one behaviour of the bridge. Assertions come in a later phase.</a:t>
            </a:r>
            <a:endParaRPr b="0" lang="en-US" sz="1400" spc="-1" strike="noStrike">
              <a:latin typeface="Arial"/>
            </a:endParaRPr>
          </a:p>
        </p:txBody>
      </p:sp>
      <p:sp>
        <p:nvSpPr>
          <p:cNvPr id="161" name="TextShape 26"/>
          <p:cNvSpPr txBox="1"/>
          <p:nvPr/>
        </p:nvSpPr>
        <p:spPr>
          <a:xfrm>
            <a:off x="11064240" y="6419160"/>
            <a:ext cx="548280" cy="273960"/>
          </a:xfrm>
          <a:prstGeom prst="rect">
            <a:avLst/>
          </a:prstGeom>
          <a:noFill/>
          <a:ln>
            <a:noFill/>
          </a:ln>
        </p:spPr>
        <p:txBody>
          <a:bodyPr lIns="90000" rIns="90000" tIns="45000" bIns="45000">
            <a:noAutofit/>
          </a:bodyPr>
          <a:p>
            <a:pPr algn="r">
              <a:lnSpc>
                <a:spcPct val="100000"/>
              </a:lnSpc>
            </a:pPr>
            <a:fld id="{1F1EB03D-22EA-47F0-B7AE-BF158FF763BC}" type="slidenum">
              <a:rPr b="0" lang="en-US" sz="1000" spc="-1" strike="noStrike">
                <a:solidFill>
                  <a:srgbClr val="5b6c8f"/>
                </a:solidFill>
                <a:latin typeface="Calibri"/>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TextShape 1"/>
          <p:cNvSpPr txBox="1"/>
          <p:nvPr/>
        </p:nvSpPr>
        <p:spPr>
          <a:xfrm>
            <a:off x="548640" y="365760"/>
            <a:ext cx="11063880" cy="731160"/>
          </a:xfrm>
          <a:prstGeom prst="rect">
            <a:avLst/>
          </a:prstGeom>
          <a:noFill/>
          <a:ln>
            <a:noFill/>
          </a:ln>
        </p:spPr>
        <p:txBody>
          <a:bodyPr lIns="0" rIns="0" tIns="0" bIns="0" anchor="ctr">
            <a:noAutofit/>
          </a:bodyPr>
          <a:p>
            <a:pPr algn="ctr">
              <a:lnSpc>
                <a:spcPct val="100000"/>
              </a:lnSpc>
              <a:tabLst>
                <a:tab algn="l" pos="0"/>
              </a:tabLst>
            </a:pPr>
            <a:r>
              <a:rPr b="1" lang="en-US" sz="3400" spc="-1" strike="noStrike">
                <a:solidFill>
                  <a:srgbClr val="0f1b2d"/>
                </a:solidFill>
                <a:latin typeface="Cambria"/>
              </a:rPr>
              <a:t>The DUT: axi2apb bridge</a:t>
            </a:r>
            <a:endParaRPr b="0" lang="en-US" sz="3400" spc="-1" strike="noStrike">
              <a:solidFill>
                <a:srgbClr val="0f1b2d"/>
              </a:solidFill>
              <a:latin typeface="Calibri"/>
            </a:endParaRPr>
          </a:p>
        </p:txBody>
      </p:sp>
      <p:sp>
        <p:nvSpPr>
          <p:cNvPr id="163" name="CustomShape 2"/>
          <p:cNvSpPr/>
          <p:nvPr/>
        </p:nvSpPr>
        <p:spPr>
          <a:xfrm>
            <a:off x="2743200" y="1188720"/>
            <a:ext cx="2742840" cy="255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200" spc="-1" strike="noStrike">
                <a:solidFill>
                  <a:srgbClr val="5b6c8f"/>
                </a:solidFill>
                <a:latin typeface="Calibri"/>
              </a:rPr>
              <a:t>DUT: axi2apb</a:t>
            </a:r>
            <a:endParaRPr b="0" lang="en-US" sz="1200" spc="-1" strike="noStrike">
              <a:latin typeface="Arial"/>
            </a:endParaRPr>
          </a:p>
        </p:txBody>
      </p:sp>
      <p:sp>
        <p:nvSpPr>
          <p:cNvPr id="164" name="CustomShape 3"/>
          <p:cNvSpPr/>
          <p:nvPr/>
        </p:nvSpPr>
        <p:spPr>
          <a:xfrm>
            <a:off x="2743200" y="1463040"/>
            <a:ext cx="7155000" cy="1599840"/>
          </a:xfrm>
          <a:prstGeom prst="roundRect">
            <a:avLst>
              <a:gd name="adj" fmla="val 6857"/>
            </a:avLst>
          </a:prstGeom>
          <a:noFill/>
          <a:ln w="15840">
            <a:solidFill>
              <a:schemeClr val="accent4"/>
            </a:solidFill>
            <a:prstDash val="dash"/>
            <a:round/>
          </a:ln>
        </p:spPr>
        <p:style>
          <a:lnRef idx="0"/>
          <a:fillRef idx="0"/>
          <a:effectRef idx="0"/>
          <a:fontRef idx="minor"/>
        </p:style>
      </p:sp>
      <p:sp>
        <p:nvSpPr>
          <p:cNvPr id="165" name="CustomShape 4"/>
          <p:cNvSpPr/>
          <p:nvPr/>
        </p:nvSpPr>
        <p:spPr>
          <a:xfrm>
            <a:off x="548640" y="1645920"/>
            <a:ext cx="1828440" cy="1234080"/>
          </a:xfrm>
          <a:prstGeom prst="roundRect">
            <a:avLst>
              <a:gd name="adj" fmla="val 7407"/>
            </a:avLst>
          </a:prstGeom>
          <a:solidFill>
            <a:schemeClr val="accent1"/>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AXI master</a:t>
            </a:r>
            <a:endParaRPr b="0" lang="en-US" sz="1500" spc="-1" strike="noStrike">
              <a:latin typeface="Arial"/>
            </a:endParaRPr>
          </a:p>
          <a:p>
            <a:pPr algn="ctr">
              <a:lnSpc>
                <a:spcPct val="100000"/>
              </a:lnSpc>
              <a:tabLst>
                <a:tab algn="l" pos="0"/>
              </a:tabLst>
            </a:pPr>
            <a:r>
              <a:rPr b="1" lang="en-US" sz="1500" spc="-1" strike="noStrike">
                <a:solidFill>
                  <a:srgbClr val="ffffff"/>
                </a:solidFill>
                <a:latin typeface="Calibri"/>
              </a:rPr>
              <a:t>(testbench)</a:t>
            </a:r>
            <a:endParaRPr b="0" lang="en-US" sz="1500" spc="-1" strike="noStrike">
              <a:latin typeface="Arial"/>
            </a:endParaRPr>
          </a:p>
        </p:txBody>
      </p:sp>
      <p:sp>
        <p:nvSpPr>
          <p:cNvPr id="166" name="CustomShape 5"/>
          <p:cNvSpPr/>
          <p:nvPr/>
        </p:nvSpPr>
        <p:spPr>
          <a:xfrm>
            <a:off x="548640" y="3246120"/>
            <a:ext cx="1828440" cy="11883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Drives AW, W and AR.</a:t>
            </a:r>
            <a:endParaRPr b="0" lang="en-US" sz="1400" spc="-1" strike="noStrike">
              <a:latin typeface="Arial"/>
            </a:endParaRPr>
          </a:p>
          <a:p>
            <a:pPr>
              <a:lnSpc>
                <a:spcPct val="100000"/>
              </a:lnSpc>
              <a:tabLst>
                <a:tab algn="l" pos="0"/>
              </a:tabLst>
            </a:pPr>
            <a:r>
              <a:rPr b="0" lang="en-US" sz="1400" spc="-1" strike="noStrike">
                <a:solidFill>
                  <a:srgbClr val="5b6c8f"/>
                </a:solidFill>
                <a:latin typeface="Calibri"/>
              </a:rPr>
              <a:t>Accepts B and R.</a:t>
            </a:r>
            <a:endParaRPr b="0" lang="en-US" sz="1400" spc="-1" strike="noStrike">
              <a:latin typeface="Arial"/>
            </a:endParaRPr>
          </a:p>
        </p:txBody>
      </p:sp>
      <p:sp>
        <p:nvSpPr>
          <p:cNvPr id="167" name="Line 6"/>
          <p:cNvSpPr/>
          <p:nvPr/>
        </p:nvSpPr>
        <p:spPr>
          <a:xfrm>
            <a:off x="2377440" y="2262960"/>
            <a:ext cx="479880" cy="0"/>
          </a:xfrm>
          <a:prstGeom prst="line">
            <a:avLst/>
          </a:prstGeom>
          <a:ln w="19080">
            <a:solidFill>
              <a:schemeClr val="accent4"/>
            </a:solidFill>
            <a:round/>
            <a:headEnd len="med" type="triangle" w="med"/>
            <a:tailEnd len="med" type="triangle" w="med"/>
          </a:ln>
        </p:spPr>
        <p:style>
          <a:lnRef idx="0"/>
          <a:fillRef idx="0"/>
          <a:effectRef idx="0"/>
          <a:fontRef idx="minor"/>
        </p:style>
      </p:sp>
      <p:sp>
        <p:nvSpPr>
          <p:cNvPr id="168" name="CustomShape 7"/>
          <p:cNvSpPr/>
          <p:nvPr/>
        </p:nvSpPr>
        <p:spPr>
          <a:xfrm>
            <a:off x="2857680" y="1645920"/>
            <a:ext cx="1828440" cy="1234080"/>
          </a:xfrm>
          <a:prstGeom prst="roundRect">
            <a:avLst>
              <a:gd name="adj" fmla="val 7407"/>
            </a:avLst>
          </a:prstGeom>
          <a:solidFill>
            <a:schemeClr val="tx2"/>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Channel buffers</a:t>
            </a:r>
            <a:endParaRPr b="0" lang="en-US" sz="1500" spc="-1" strike="noStrike">
              <a:latin typeface="Arial"/>
            </a:endParaRPr>
          </a:p>
          <a:p>
            <a:pPr algn="ctr">
              <a:lnSpc>
                <a:spcPct val="100000"/>
              </a:lnSpc>
              <a:tabLst>
                <a:tab algn="l" pos="0"/>
              </a:tabLst>
            </a:pPr>
            <a:r>
              <a:rPr b="1" lang="en-US" sz="1500" spc="-1" strike="noStrike">
                <a:solidFill>
                  <a:srgbClr val="ffffff"/>
                </a:solidFill>
                <a:latin typeface="Calibri"/>
              </a:rPr>
              <a:t>5 x FIFO</a:t>
            </a:r>
            <a:endParaRPr b="0" lang="en-US" sz="1500" spc="-1" strike="noStrike">
              <a:latin typeface="Arial"/>
            </a:endParaRPr>
          </a:p>
        </p:txBody>
      </p:sp>
      <p:sp>
        <p:nvSpPr>
          <p:cNvPr id="169" name="CustomShape 8"/>
          <p:cNvSpPr/>
          <p:nvPr/>
        </p:nvSpPr>
        <p:spPr>
          <a:xfrm>
            <a:off x="2857680" y="3246120"/>
            <a:ext cx="1828440" cy="11883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AW, W, AR, R and B slices, depth 4 by default.</a:t>
            </a:r>
            <a:endParaRPr b="0" lang="en-US" sz="1400" spc="-1" strike="noStrike">
              <a:latin typeface="Arial"/>
            </a:endParaRPr>
          </a:p>
        </p:txBody>
      </p:sp>
      <p:sp>
        <p:nvSpPr>
          <p:cNvPr id="170" name="Line 9"/>
          <p:cNvSpPr/>
          <p:nvPr/>
        </p:nvSpPr>
        <p:spPr>
          <a:xfrm>
            <a:off x="4686120" y="2262960"/>
            <a:ext cx="480240" cy="0"/>
          </a:xfrm>
          <a:prstGeom prst="line">
            <a:avLst/>
          </a:prstGeom>
          <a:ln w="19080">
            <a:solidFill>
              <a:schemeClr val="accent4"/>
            </a:solidFill>
            <a:round/>
            <a:headEnd len="med" type="triangle" w="med"/>
            <a:tailEnd len="med" type="triangle" w="med"/>
          </a:ln>
        </p:spPr>
        <p:style>
          <a:lnRef idx="0"/>
          <a:fillRef idx="0"/>
          <a:effectRef idx="0"/>
          <a:fontRef idx="minor"/>
        </p:style>
      </p:sp>
      <p:sp>
        <p:nvSpPr>
          <p:cNvPr id="171" name="CustomShape 10"/>
          <p:cNvSpPr/>
          <p:nvPr/>
        </p:nvSpPr>
        <p:spPr>
          <a:xfrm>
            <a:off x="5166360" y="1645920"/>
            <a:ext cx="1828440" cy="1234080"/>
          </a:xfrm>
          <a:prstGeom prst="roundRect">
            <a:avLst>
              <a:gd name="adj" fmla="val 7407"/>
            </a:avLst>
          </a:prstGeom>
          <a:solidFill>
            <a:schemeClr val="tx2"/>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FSM</a:t>
            </a:r>
            <a:endParaRPr b="0" lang="en-US" sz="1500" spc="-1" strike="noStrike">
              <a:latin typeface="Arial"/>
            </a:endParaRPr>
          </a:p>
          <a:p>
            <a:pPr algn="ctr">
              <a:lnSpc>
                <a:spcPct val="100000"/>
              </a:lnSpc>
              <a:tabLst>
                <a:tab algn="l" pos="0"/>
              </a:tabLst>
            </a:pPr>
            <a:r>
              <a:rPr b="1" lang="en-US" sz="1500" spc="-1" strike="noStrike">
                <a:solidFill>
                  <a:srgbClr val="ffffff"/>
                </a:solidFill>
                <a:latin typeface="Calibri"/>
              </a:rPr>
              <a:t>5 states</a:t>
            </a:r>
            <a:endParaRPr b="0" lang="en-US" sz="1500" spc="-1" strike="noStrike">
              <a:latin typeface="Arial"/>
            </a:endParaRPr>
          </a:p>
        </p:txBody>
      </p:sp>
      <p:sp>
        <p:nvSpPr>
          <p:cNvPr id="172" name="CustomShape 11"/>
          <p:cNvSpPr/>
          <p:nvPr/>
        </p:nvSpPr>
        <p:spPr>
          <a:xfrm>
            <a:off x="5166360" y="3246120"/>
            <a:ext cx="1828440" cy="11883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One transfer at a time. Read has priority over write.</a:t>
            </a:r>
            <a:endParaRPr b="0" lang="en-US" sz="1400" spc="-1" strike="noStrike">
              <a:latin typeface="Arial"/>
            </a:endParaRPr>
          </a:p>
        </p:txBody>
      </p:sp>
      <p:sp>
        <p:nvSpPr>
          <p:cNvPr id="173" name="Line 12"/>
          <p:cNvSpPr/>
          <p:nvPr/>
        </p:nvSpPr>
        <p:spPr>
          <a:xfrm>
            <a:off x="6995160" y="2262960"/>
            <a:ext cx="479880" cy="0"/>
          </a:xfrm>
          <a:prstGeom prst="line">
            <a:avLst/>
          </a:prstGeom>
          <a:ln w="19080">
            <a:solidFill>
              <a:schemeClr val="accent4"/>
            </a:solidFill>
            <a:round/>
            <a:headEnd len="med" type="triangle" w="med"/>
            <a:tailEnd len="med" type="triangle" w="med"/>
          </a:ln>
        </p:spPr>
        <p:style>
          <a:lnRef idx="0"/>
          <a:fillRef idx="0"/>
          <a:effectRef idx="0"/>
          <a:fontRef idx="minor"/>
        </p:style>
      </p:sp>
      <p:sp>
        <p:nvSpPr>
          <p:cNvPr id="174" name="CustomShape 13"/>
          <p:cNvSpPr/>
          <p:nvPr/>
        </p:nvSpPr>
        <p:spPr>
          <a:xfrm>
            <a:off x="7475400" y="1645920"/>
            <a:ext cx="1828440" cy="1234080"/>
          </a:xfrm>
          <a:prstGeom prst="roundRect">
            <a:avLst>
              <a:gd name="adj" fmla="val 7407"/>
            </a:avLst>
          </a:prstGeom>
          <a:solidFill>
            <a:schemeClr val="tx2"/>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APB master port</a:t>
            </a:r>
            <a:endParaRPr b="0" lang="en-US" sz="1500" spc="-1" strike="noStrike">
              <a:latin typeface="Arial"/>
            </a:endParaRPr>
          </a:p>
          <a:p>
            <a:pPr algn="ctr">
              <a:lnSpc>
                <a:spcPct val="100000"/>
              </a:lnSpc>
              <a:tabLst>
                <a:tab algn="l" pos="0"/>
              </a:tabLst>
            </a:pPr>
            <a:r>
              <a:rPr b="1" lang="en-US" sz="1500" spc="-1" strike="noStrike">
                <a:solidFill>
                  <a:srgbClr val="ffffff"/>
                </a:solidFill>
                <a:latin typeface="Calibri"/>
              </a:rPr>
              <a:t>(DUT output)</a:t>
            </a:r>
            <a:endParaRPr b="0" lang="en-US" sz="1500" spc="-1" strike="noStrike">
              <a:latin typeface="Arial"/>
            </a:endParaRPr>
          </a:p>
        </p:txBody>
      </p:sp>
      <p:sp>
        <p:nvSpPr>
          <p:cNvPr id="175" name="CustomShape 14"/>
          <p:cNvSpPr/>
          <p:nvPr/>
        </p:nvSpPr>
        <p:spPr>
          <a:xfrm>
            <a:off x="7475400" y="3246120"/>
            <a:ext cx="1828440" cy="11883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PSEL fixed at 1. PENABLE marks an active request.</a:t>
            </a:r>
            <a:endParaRPr b="0" lang="en-US" sz="1400" spc="-1" strike="noStrike">
              <a:latin typeface="Arial"/>
            </a:endParaRPr>
          </a:p>
        </p:txBody>
      </p:sp>
      <p:sp>
        <p:nvSpPr>
          <p:cNvPr id="176" name="Line 15"/>
          <p:cNvSpPr/>
          <p:nvPr/>
        </p:nvSpPr>
        <p:spPr>
          <a:xfrm>
            <a:off x="9303840" y="2262960"/>
            <a:ext cx="480240" cy="0"/>
          </a:xfrm>
          <a:prstGeom prst="line">
            <a:avLst/>
          </a:prstGeom>
          <a:ln w="19080">
            <a:solidFill>
              <a:schemeClr val="accent4"/>
            </a:solidFill>
            <a:round/>
            <a:headEnd len="med" type="triangle" w="med"/>
            <a:tailEnd len="med" type="triangle" w="med"/>
          </a:ln>
        </p:spPr>
        <p:style>
          <a:lnRef idx="0"/>
          <a:fillRef idx="0"/>
          <a:effectRef idx="0"/>
          <a:fontRef idx="minor"/>
        </p:style>
      </p:sp>
      <p:sp>
        <p:nvSpPr>
          <p:cNvPr id="177" name="CustomShape 16"/>
          <p:cNvSpPr/>
          <p:nvPr/>
        </p:nvSpPr>
        <p:spPr>
          <a:xfrm>
            <a:off x="9784080" y="1645920"/>
            <a:ext cx="1828440" cy="1234080"/>
          </a:xfrm>
          <a:prstGeom prst="roundRect">
            <a:avLst>
              <a:gd name="adj" fmla="val 7407"/>
            </a:avLst>
          </a:prstGeom>
          <a:solidFill>
            <a:schemeClr val="accent2"/>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APB slave</a:t>
            </a:r>
            <a:endParaRPr b="0" lang="en-US" sz="1500" spc="-1" strike="noStrike">
              <a:latin typeface="Arial"/>
            </a:endParaRPr>
          </a:p>
          <a:p>
            <a:pPr algn="ctr">
              <a:lnSpc>
                <a:spcPct val="100000"/>
              </a:lnSpc>
              <a:tabLst>
                <a:tab algn="l" pos="0"/>
              </a:tabLst>
            </a:pPr>
            <a:r>
              <a:rPr b="1" lang="en-US" sz="1500" spc="-1" strike="noStrike">
                <a:solidFill>
                  <a:srgbClr val="ffffff"/>
                </a:solidFill>
                <a:latin typeface="Calibri"/>
              </a:rPr>
              <a:t>(testbench)</a:t>
            </a:r>
            <a:endParaRPr b="0" lang="en-US" sz="1500" spc="-1" strike="noStrike">
              <a:latin typeface="Arial"/>
            </a:endParaRPr>
          </a:p>
        </p:txBody>
      </p:sp>
      <p:sp>
        <p:nvSpPr>
          <p:cNvPr id="178" name="CustomShape 17"/>
          <p:cNvSpPr/>
          <p:nvPr/>
        </p:nvSpPr>
        <p:spPr>
          <a:xfrm>
            <a:off x="9784080" y="3246120"/>
            <a:ext cx="1828440" cy="11883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Answers with PREADY, PRDATA and PSLVERR.</a:t>
            </a:r>
            <a:endParaRPr b="0" lang="en-US" sz="1400" spc="-1" strike="noStrike">
              <a:latin typeface="Arial"/>
            </a:endParaRPr>
          </a:p>
        </p:txBody>
      </p:sp>
      <p:sp>
        <p:nvSpPr>
          <p:cNvPr id="179" name="TextShape 18"/>
          <p:cNvSpPr txBox="1"/>
          <p:nvPr/>
        </p:nvSpPr>
        <p:spPr>
          <a:xfrm>
            <a:off x="11064240" y="6419160"/>
            <a:ext cx="548280" cy="273960"/>
          </a:xfrm>
          <a:prstGeom prst="rect">
            <a:avLst/>
          </a:prstGeom>
          <a:noFill/>
          <a:ln>
            <a:noFill/>
          </a:ln>
        </p:spPr>
        <p:txBody>
          <a:bodyPr lIns="90000" rIns="90000" tIns="45000" bIns="45000">
            <a:noAutofit/>
          </a:bodyPr>
          <a:p>
            <a:pPr algn="r">
              <a:lnSpc>
                <a:spcPct val="100000"/>
              </a:lnSpc>
            </a:pPr>
            <a:fld id="{E5ACC3B4-C9B0-48DD-BDCC-22A0E04136C1}" type="slidenum">
              <a:rPr b="0" lang="en-US" sz="1000" spc="-1" strike="noStrike">
                <a:solidFill>
                  <a:srgbClr val="5b6c8f"/>
                </a:solidFill>
                <a:latin typeface="Calibri"/>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TextShape 1"/>
          <p:cNvSpPr txBox="1"/>
          <p:nvPr/>
        </p:nvSpPr>
        <p:spPr>
          <a:xfrm>
            <a:off x="548640" y="365760"/>
            <a:ext cx="11063880" cy="731160"/>
          </a:xfrm>
          <a:prstGeom prst="rect">
            <a:avLst/>
          </a:prstGeom>
          <a:noFill/>
          <a:ln>
            <a:noFill/>
          </a:ln>
        </p:spPr>
        <p:txBody>
          <a:bodyPr lIns="0" rIns="0" tIns="0" bIns="0" anchor="ctr">
            <a:noAutofit/>
          </a:bodyPr>
          <a:p>
            <a:pPr algn="ctr">
              <a:lnSpc>
                <a:spcPct val="100000"/>
              </a:lnSpc>
              <a:tabLst>
                <a:tab algn="l" pos="0"/>
              </a:tabLst>
            </a:pPr>
            <a:r>
              <a:rPr b="1" lang="en-US" sz="3400" spc="-1" strike="noStrike">
                <a:solidFill>
                  <a:srgbClr val="0f1b2d"/>
                </a:solidFill>
                <a:latin typeface="Cambria"/>
              </a:rPr>
              <a:t>What the RTL actually does</a:t>
            </a:r>
            <a:endParaRPr b="0" lang="en-US" sz="3400" spc="-1" strike="noStrike">
              <a:solidFill>
                <a:srgbClr val="0f1b2d"/>
              </a:solidFill>
              <a:latin typeface="Calibri"/>
            </a:endParaRPr>
          </a:p>
        </p:txBody>
      </p:sp>
      <p:sp>
        <p:nvSpPr>
          <p:cNvPr id="181" name="CustomShape 2"/>
          <p:cNvSpPr/>
          <p:nvPr/>
        </p:nvSpPr>
        <p:spPr>
          <a:xfrm>
            <a:off x="548640" y="1417320"/>
            <a:ext cx="5394600" cy="1371240"/>
          </a:xfrm>
          <a:prstGeom prst="roundRect">
            <a:avLst>
              <a:gd name="adj" fmla="val 8000"/>
            </a:avLst>
          </a:prstGeom>
          <a:solidFill>
            <a:schemeClr val="bg2"/>
          </a:solidFill>
          <a:ln>
            <a:noFill/>
          </a:ln>
        </p:spPr>
        <p:style>
          <a:lnRef idx="0"/>
          <a:fillRef idx="0"/>
          <a:effectRef idx="0"/>
          <a:fontRef idx="minor"/>
        </p:style>
      </p:sp>
      <p:sp>
        <p:nvSpPr>
          <p:cNvPr id="182" name="CustomShape 3"/>
          <p:cNvSpPr/>
          <p:nvPr/>
        </p:nvSpPr>
        <p:spPr>
          <a:xfrm>
            <a:off x="822960" y="1691640"/>
            <a:ext cx="639720" cy="639720"/>
          </a:xfrm>
          <a:prstGeom prst="ellipse">
            <a:avLst/>
          </a:prstGeom>
          <a:solidFill>
            <a:schemeClr val="accent1"/>
          </a:solidFill>
          <a:ln>
            <a:noFill/>
          </a:ln>
        </p:spPr>
        <p:style>
          <a:lnRef idx="0"/>
          <a:fillRef idx="0"/>
          <a:effectRef idx="0"/>
          <a:fontRef idx="minor"/>
        </p:style>
      </p:sp>
      <p:pic>
        <p:nvPicPr>
          <p:cNvPr id="183" name="icon FaPlug" descr="preencoded.png"/>
          <p:cNvPicPr/>
          <p:nvPr/>
        </p:nvPicPr>
        <p:blipFill>
          <a:blip r:embed="rId1"/>
          <a:stretch/>
        </p:blipFill>
        <p:spPr>
          <a:xfrm>
            <a:off x="983160" y="1851840"/>
            <a:ext cx="319680" cy="319680"/>
          </a:xfrm>
          <a:prstGeom prst="rect">
            <a:avLst/>
          </a:prstGeom>
          <a:ln>
            <a:noFill/>
          </a:ln>
        </p:spPr>
      </p:pic>
      <p:sp>
        <p:nvSpPr>
          <p:cNvPr id="184" name="CustomShape 4"/>
          <p:cNvSpPr/>
          <p:nvPr/>
        </p:nvSpPr>
        <p:spPr>
          <a:xfrm>
            <a:off x="1691640" y="1691640"/>
            <a:ext cx="3977280" cy="319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PSEL fixed at 1</a:t>
            </a:r>
            <a:endParaRPr b="0" lang="en-US" sz="1600" spc="-1" strike="noStrike">
              <a:latin typeface="Arial"/>
            </a:endParaRPr>
          </a:p>
        </p:txBody>
      </p:sp>
      <p:sp>
        <p:nvSpPr>
          <p:cNvPr id="185" name="CustomShape 5"/>
          <p:cNvSpPr/>
          <p:nvPr/>
        </p:nvSpPr>
        <p:spPr>
          <a:xfrm>
            <a:off x="1691640" y="2057400"/>
            <a:ext cx="3977280" cy="914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PENABLE rises with the request. There is no separate APB setup phase.</a:t>
            </a:r>
            <a:endParaRPr b="0" lang="en-US" sz="1400" spc="-1" strike="noStrike">
              <a:latin typeface="Arial"/>
            </a:endParaRPr>
          </a:p>
        </p:txBody>
      </p:sp>
      <p:sp>
        <p:nvSpPr>
          <p:cNvPr id="186" name="CustomShape 6"/>
          <p:cNvSpPr/>
          <p:nvPr/>
        </p:nvSpPr>
        <p:spPr>
          <a:xfrm>
            <a:off x="6217920" y="1417320"/>
            <a:ext cx="5394600" cy="1371240"/>
          </a:xfrm>
          <a:prstGeom prst="roundRect">
            <a:avLst>
              <a:gd name="adj" fmla="val 8000"/>
            </a:avLst>
          </a:prstGeom>
          <a:solidFill>
            <a:schemeClr val="bg2"/>
          </a:solidFill>
          <a:ln>
            <a:noFill/>
          </a:ln>
        </p:spPr>
        <p:style>
          <a:lnRef idx="0"/>
          <a:fillRef idx="0"/>
          <a:effectRef idx="0"/>
          <a:fontRef idx="minor"/>
        </p:style>
      </p:sp>
      <p:sp>
        <p:nvSpPr>
          <p:cNvPr id="187" name="CustomShape 7"/>
          <p:cNvSpPr/>
          <p:nvPr/>
        </p:nvSpPr>
        <p:spPr>
          <a:xfrm>
            <a:off x="6492240" y="1691640"/>
            <a:ext cx="639720" cy="639720"/>
          </a:xfrm>
          <a:prstGeom prst="ellipse">
            <a:avLst/>
          </a:prstGeom>
          <a:solidFill>
            <a:schemeClr val="accent1"/>
          </a:solidFill>
          <a:ln>
            <a:noFill/>
          </a:ln>
        </p:spPr>
        <p:style>
          <a:lnRef idx="0"/>
          <a:fillRef idx="0"/>
          <a:effectRef idx="0"/>
          <a:fontRef idx="minor"/>
        </p:style>
      </p:sp>
      <p:pic>
        <p:nvPicPr>
          <p:cNvPr id="188" name="icon FaBan" descr="preencoded.png"/>
          <p:cNvPicPr/>
          <p:nvPr/>
        </p:nvPicPr>
        <p:blipFill>
          <a:blip r:embed="rId2"/>
          <a:stretch/>
        </p:blipFill>
        <p:spPr>
          <a:xfrm>
            <a:off x="6652440" y="1851840"/>
            <a:ext cx="319680" cy="319680"/>
          </a:xfrm>
          <a:prstGeom prst="rect">
            <a:avLst/>
          </a:prstGeom>
          <a:ln>
            <a:noFill/>
          </a:ln>
        </p:spPr>
      </p:pic>
      <p:sp>
        <p:nvSpPr>
          <p:cNvPr id="189" name="CustomShape 8"/>
          <p:cNvSpPr/>
          <p:nvPr/>
        </p:nvSpPr>
        <p:spPr>
          <a:xfrm>
            <a:off x="7360920" y="1691640"/>
            <a:ext cx="3977280" cy="319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PSLVERR ignored</a:t>
            </a:r>
            <a:endParaRPr b="0" lang="en-US" sz="1600" spc="-1" strike="noStrike">
              <a:latin typeface="Arial"/>
            </a:endParaRPr>
          </a:p>
        </p:txBody>
      </p:sp>
      <p:sp>
        <p:nvSpPr>
          <p:cNvPr id="190" name="CustomShape 9"/>
          <p:cNvSpPr/>
          <p:nvPr/>
        </p:nvSpPr>
        <p:spPr>
          <a:xfrm>
            <a:off x="7360920" y="2057400"/>
            <a:ext cx="3977280" cy="914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BRESP and RRESP are always OKAY, whatever the APB slave returns.</a:t>
            </a:r>
            <a:endParaRPr b="0" lang="en-US" sz="1400" spc="-1" strike="noStrike">
              <a:latin typeface="Arial"/>
            </a:endParaRPr>
          </a:p>
        </p:txBody>
      </p:sp>
      <p:sp>
        <p:nvSpPr>
          <p:cNvPr id="191" name="CustomShape 10"/>
          <p:cNvSpPr/>
          <p:nvPr/>
        </p:nvSpPr>
        <p:spPr>
          <a:xfrm>
            <a:off x="548640" y="3063240"/>
            <a:ext cx="5394600" cy="1371240"/>
          </a:xfrm>
          <a:prstGeom prst="roundRect">
            <a:avLst>
              <a:gd name="adj" fmla="val 8000"/>
            </a:avLst>
          </a:prstGeom>
          <a:solidFill>
            <a:schemeClr val="bg2"/>
          </a:solidFill>
          <a:ln>
            <a:noFill/>
          </a:ln>
        </p:spPr>
        <p:style>
          <a:lnRef idx="0"/>
          <a:fillRef idx="0"/>
          <a:effectRef idx="0"/>
          <a:fontRef idx="minor"/>
        </p:style>
      </p:sp>
      <p:sp>
        <p:nvSpPr>
          <p:cNvPr id="192" name="CustomShape 11"/>
          <p:cNvSpPr/>
          <p:nvPr/>
        </p:nvSpPr>
        <p:spPr>
          <a:xfrm>
            <a:off x="822960" y="3337560"/>
            <a:ext cx="639720" cy="639720"/>
          </a:xfrm>
          <a:prstGeom prst="ellipse">
            <a:avLst/>
          </a:prstGeom>
          <a:solidFill>
            <a:schemeClr val="accent1"/>
          </a:solidFill>
          <a:ln>
            <a:noFill/>
          </a:ln>
        </p:spPr>
        <p:style>
          <a:lnRef idx="0"/>
          <a:fillRef idx="0"/>
          <a:effectRef idx="0"/>
          <a:fontRef idx="minor"/>
        </p:style>
      </p:sp>
      <p:pic>
        <p:nvPicPr>
          <p:cNvPr id="193" name="icon FaSlidersH" descr="preencoded.png"/>
          <p:cNvPicPr/>
          <p:nvPr/>
        </p:nvPicPr>
        <p:blipFill>
          <a:blip r:embed="rId3"/>
          <a:stretch/>
        </p:blipFill>
        <p:spPr>
          <a:xfrm>
            <a:off x="983160" y="3497760"/>
            <a:ext cx="319680" cy="319680"/>
          </a:xfrm>
          <a:prstGeom prst="rect">
            <a:avLst/>
          </a:prstGeom>
          <a:ln>
            <a:noFill/>
          </a:ln>
        </p:spPr>
      </p:pic>
      <p:sp>
        <p:nvSpPr>
          <p:cNvPr id="194" name="CustomShape 12"/>
          <p:cNvSpPr/>
          <p:nvPr/>
        </p:nvSpPr>
        <p:spPr>
          <a:xfrm>
            <a:off x="1691640" y="3337560"/>
            <a:ext cx="3977280" cy="319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WSTRB and WLAST unused</a:t>
            </a:r>
            <a:endParaRPr b="0" lang="en-US" sz="1600" spc="-1" strike="noStrike">
              <a:latin typeface="Arial"/>
            </a:endParaRPr>
          </a:p>
        </p:txBody>
      </p:sp>
      <p:sp>
        <p:nvSpPr>
          <p:cNvPr id="195" name="CustomShape 13"/>
          <p:cNvSpPr/>
          <p:nvPr/>
        </p:nvSpPr>
        <p:spPr>
          <a:xfrm>
            <a:off x="1691640" y="3703320"/>
            <a:ext cx="3977280" cy="914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The full WDATA word goes out on PWDATA, with no byte masking.</a:t>
            </a:r>
            <a:endParaRPr b="0" lang="en-US" sz="1400" spc="-1" strike="noStrike">
              <a:latin typeface="Arial"/>
            </a:endParaRPr>
          </a:p>
        </p:txBody>
      </p:sp>
      <p:sp>
        <p:nvSpPr>
          <p:cNvPr id="196" name="CustomShape 14"/>
          <p:cNvSpPr/>
          <p:nvPr/>
        </p:nvSpPr>
        <p:spPr>
          <a:xfrm>
            <a:off x="6217920" y="3063240"/>
            <a:ext cx="5394600" cy="1371240"/>
          </a:xfrm>
          <a:prstGeom prst="roundRect">
            <a:avLst>
              <a:gd name="adj" fmla="val 8000"/>
            </a:avLst>
          </a:prstGeom>
          <a:solidFill>
            <a:schemeClr val="bg2"/>
          </a:solidFill>
          <a:ln>
            <a:noFill/>
          </a:ln>
        </p:spPr>
        <p:style>
          <a:lnRef idx="0"/>
          <a:fillRef idx="0"/>
          <a:effectRef idx="0"/>
          <a:fontRef idx="minor"/>
        </p:style>
      </p:sp>
      <p:sp>
        <p:nvSpPr>
          <p:cNvPr id="197" name="CustomShape 15"/>
          <p:cNvSpPr/>
          <p:nvPr/>
        </p:nvSpPr>
        <p:spPr>
          <a:xfrm>
            <a:off x="6492240" y="3337560"/>
            <a:ext cx="639720" cy="639720"/>
          </a:xfrm>
          <a:prstGeom prst="ellipse">
            <a:avLst/>
          </a:prstGeom>
          <a:solidFill>
            <a:schemeClr val="accent1"/>
          </a:solidFill>
          <a:ln>
            <a:noFill/>
          </a:ln>
        </p:spPr>
        <p:style>
          <a:lnRef idx="0"/>
          <a:fillRef idx="0"/>
          <a:effectRef idx="0"/>
          <a:fontRef idx="minor"/>
        </p:style>
      </p:sp>
      <p:pic>
        <p:nvPicPr>
          <p:cNvPr id="198" name="icon FaBolt" descr="preencoded.png"/>
          <p:cNvPicPr/>
          <p:nvPr/>
        </p:nvPicPr>
        <p:blipFill>
          <a:blip r:embed="rId4"/>
          <a:stretch/>
        </p:blipFill>
        <p:spPr>
          <a:xfrm>
            <a:off x="6652440" y="3497760"/>
            <a:ext cx="319680" cy="319680"/>
          </a:xfrm>
          <a:prstGeom prst="rect">
            <a:avLst/>
          </a:prstGeom>
          <a:ln>
            <a:noFill/>
          </a:ln>
        </p:spPr>
      </p:pic>
      <p:sp>
        <p:nvSpPr>
          <p:cNvPr id="199" name="CustomShape 16"/>
          <p:cNvSpPr/>
          <p:nvPr/>
        </p:nvSpPr>
        <p:spPr>
          <a:xfrm>
            <a:off x="7360920" y="3337560"/>
            <a:ext cx="3977280" cy="319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Read priority</a:t>
            </a:r>
            <a:endParaRPr b="0" lang="en-US" sz="1600" spc="-1" strike="noStrike">
              <a:latin typeface="Arial"/>
            </a:endParaRPr>
          </a:p>
        </p:txBody>
      </p:sp>
      <p:sp>
        <p:nvSpPr>
          <p:cNvPr id="200" name="CustomShape 17"/>
          <p:cNvSpPr/>
          <p:nvPr/>
        </p:nvSpPr>
        <p:spPr>
          <a:xfrm>
            <a:off x="7360920" y="3703320"/>
            <a:ext cx="3977280" cy="914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If a read and a write are both pending, the read is served first.</a:t>
            </a:r>
            <a:endParaRPr b="0" lang="en-US" sz="1400" spc="-1" strike="noStrike">
              <a:latin typeface="Arial"/>
            </a:endParaRPr>
          </a:p>
        </p:txBody>
      </p:sp>
      <p:sp>
        <p:nvSpPr>
          <p:cNvPr id="201" name="CustomShape 18"/>
          <p:cNvSpPr/>
          <p:nvPr/>
        </p:nvSpPr>
        <p:spPr>
          <a:xfrm>
            <a:off x="548640" y="4709160"/>
            <a:ext cx="5394600" cy="1371240"/>
          </a:xfrm>
          <a:prstGeom prst="roundRect">
            <a:avLst>
              <a:gd name="adj" fmla="val 8000"/>
            </a:avLst>
          </a:prstGeom>
          <a:solidFill>
            <a:schemeClr val="bg2"/>
          </a:solidFill>
          <a:ln>
            <a:noFill/>
          </a:ln>
        </p:spPr>
        <p:style>
          <a:lnRef idx="0"/>
          <a:fillRef idx="0"/>
          <a:effectRef idx="0"/>
          <a:fontRef idx="minor"/>
        </p:style>
      </p:sp>
      <p:sp>
        <p:nvSpPr>
          <p:cNvPr id="202" name="CustomShape 19"/>
          <p:cNvSpPr/>
          <p:nvPr/>
        </p:nvSpPr>
        <p:spPr>
          <a:xfrm>
            <a:off x="822960" y="4983480"/>
            <a:ext cx="639720" cy="639720"/>
          </a:xfrm>
          <a:prstGeom prst="ellipse">
            <a:avLst/>
          </a:prstGeom>
          <a:solidFill>
            <a:schemeClr val="accent1"/>
          </a:solidFill>
          <a:ln>
            <a:noFill/>
          </a:ln>
        </p:spPr>
        <p:style>
          <a:lnRef idx="0"/>
          <a:fillRef idx="0"/>
          <a:effectRef idx="0"/>
          <a:fontRef idx="minor"/>
        </p:style>
      </p:sp>
      <p:pic>
        <p:nvPicPr>
          <p:cNvPr id="203" name="icon FaArrowRight" descr="preencoded.png"/>
          <p:cNvPicPr/>
          <p:nvPr/>
        </p:nvPicPr>
        <p:blipFill>
          <a:blip r:embed="rId5"/>
          <a:stretch/>
        </p:blipFill>
        <p:spPr>
          <a:xfrm>
            <a:off x="983160" y="5143680"/>
            <a:ext cx="319680" cy="319680"/>
          </a:xfrm>
          <a:prstGeom prst="rect">
            <a:avLst/>
          </a:prstGeom>
          <a:ln>
            <a:noFill/>
          </a:ln>
        </p:spPr>
      </p:pic>
      <p:sp>
        <p:nvSpPr>
          <p:cNvPr id="204" name="CustomShape 20"/>
          <p:cNvSpPr/>
          <p:nvPr/>
        </p:nvSpPr>
        <p:spPr>
          <a:xfrm>
            <a:off x="1691640" y="4983480"/>
            <a:ext cx="3977280" cy="319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Single beat only</a:t>
            </a:r>
            <a:endParaRPr b="0" lang="en-US" sz="1600" spc="-1" strike="noStrike">
              <a:latin typeface="Arial"/>
            </a:endParaRPr>
          </a:p>
        </p:txBody>
      </p:sp>
      <p:sp>
        <p:nvSpPr>
          <p:cNvPr id="205" name="CustomShape 21"/>
          <p:cNvSpPr/>
          <p:nvPr/>
        </p:nvSpPr>
        <p:spPr>
          <a:xfrm>
            <a:off x="1691640" y="5349240"/>
            <a:ext cx="3977280" cy="914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AWLEN and ARLEN are not used, so bursts are not implemented.</a:t>
            </a:r>
            <a:endParaRPr b="0" lang="en-US" sz="1400" spc="-1" strike="noStrike">
              <a:latin typeface="Arial"/>
            </a:endParaRPr>
          </a:p>
        </p:txBody>
      </p:sp>
      <p:sp>
        <p:nvSpPr>
          <p:cNvPr id="206" name="CustomShape 22"/>
          <p:cNvSpPr/>
          <p:nvPr/>
        </p:nvSpPr>
        <p:spPr>
          <a:xfrm>
            <a:off x="6217920" y="4709160"/>
            <a:ext cx="5394600" cy="1371240"/>
          </a:xfrm>
          <a:prstGeom prst="roundRect">
            <a:avLst>
              <a:gd name="adj" fmla="val 8000"/>
            </a:avLst>
          </a:prstGeom>
          <a:solidFill>
            <a:schemeClr val="bg2"/>
          </a:solidFill>
          <a:ln>
            <a:noFill/>
          </a:ln>
        </p:spPr>
        <p:style>
          <a:lnRef idx="0"/>
          <a:fillRef idx="0"/>
          <a:effectRef idx="0"/>
          <a:fontRef idx="minor"/>
        </p:style>
      </p:sp>
      <p:sp>
        <p:nvSpPr>
          <p:cNvPr id="207" name="CustomShape 23"/>
          <p:cNvSpPr/>
          <p:nvPr/>
        </p:nvSpPr>
        <p:spPr>
          <a:xfrm>
            <a:off x="6492240" y="4983480"/>
            <a:ext cx="639720" cy="639720"/>
          </a:xfrm>
          <a:prstGeom prst="ellipse">
            <a:avLst/>
          </a:prstGeom>
          <a:solidFill>
            <a:schemeClr val="accent2"/>
          </a:solidFill>
          <a:ln>
            <a:noFill/>
          </a:ln>
        </p:spPr>
        <p:style>
          <a:lnRef idx="0"/>
          <a:fillRef idx="0"/>
          <a:effectRef idx="0"/>
          <a:fontRef idx="minor"/>
        </p:style>
      </p:sp>
      <p:pic>
        <p:nvPicPr>
          <p:cNvPr id="208" name="icon FaExclamationTriangle" descr="preencoded.png"/>
          <p:cNvPicPr/>
          <p:nvPr/>
        </p:nvPicPr>
        <p:blipFill>
          <a:blip r:embed="rId6"/>
          <a:stretch/>
        </p:blipFill>
        <p:spPr>
          <a:xfrm>
            <a:off x="6652440" y="5143680"/>
            <a:ext cx="319680" cy="319680"/>
          </a:xfrm>
          <a:prstGeom prst="rect">
            <a:avLst/>
          </a:prstGeom>
          <a:ln>
            <a:noFill/>
          </a:ln>
        </p:spPr>
      </p:pic>
      <p:sp>
        <p:nvSpPr>
          <p:cNvPr id="209" name="CustomShape 24"/>
          <p:cNvSpPr/>
          <p:nvPr/>
        </p:nvSpPr>
        <p:spPr>
          <a:xfrm>
            <a:off x="7360920" y="4983480"/>
            <a:ext cx="3977280" cy="319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Latch in the FSM</a:t>
            </a:r>
            <a:endParaRPr b="0" lang="en-US" sz="1600" spc="-1" strike="noStrike">
              <a:latin typeface="Arial"/>
            </a:endParaRPr>
          </a:p>
        </p:txBody>
      </p:sp>
      <p:sp>
        <p:nvSpPr>
          <p:cNvPr id="210" name="CustomShape 25"/>
          <p:cNvSpPr/>
          <p:nvPr/>
        </p:nvSpPr>
        <p:spPr>
          <a:xfrm>
            <a:off x="7360920" y="5349240"/>
            <a:ext cx="3977280" cy="914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The always_comb block leaves NS unassigned in some branches.</a:t>
            </a:r>
            <a:endParaRPr b="0" lang="en-US" sz="1400" spc="-1" strike="noStrike">
              <a:latin typeface="Arial"/>
            </a:endParaRPr>
          </a:p>
        </p:txBody>
      </p:sp>
      <p:sp>
        <p:nvSpPr>
          <p:cNvPr id="211" name="TextShape 26"/>
          <p:cNvSpPr txBox="1"/>
          <p:nvPr/>
        </p:nvSpPr>
        <p:spPr>
          <a:xfrm>
            <a:off x="11064240" y="6419160"/>
            <a:ext cx="548280" cy="273960"/>
          </a:xfrm>
          <a:prstGeom prst="rect">
            <a:avLst/>
          </a:prstGeom>
          <a:noFill/>
          <a:ln>
            <a:noFill/>
          </a:ln>
        </p:spPr>
        <p:txBody>
          <a:bodyPr lIns="90000" rIns="90000" tIns="45000" bIns="45000">
            <a:noAutofit/>
          </a:bodyPr>
          <a:p>
            <a:pPr algn="r">
              <a:lnSpc>
                <a:spcPct val="100000"/>
              </a:lnSpc>
            </a:pPr>
            <a:fld id="{EFEC8C47-A3A4-452E-A026-2658362CBAD0}" type="slidenum">
              <a:rPr b="0" lang="en-US" sz="1000" spc="-1" strike="noStrike">
                <a:solidFill>
                  <a:srgbClr val="5b6c8f"/>
                </a:solidFill>
                <a:latin typeface="Calibri"/>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TextShape 1"/>
          <p:cNvSpPr txBox="1"/>
          <p:nvPr/>
        </p:nvSpPr>
        <p:spPr>
          <a:xfrm>
            <a:off x="548640" y="365760"/>
            <a:ext cx="11063880" cy="731160"/>
          </a:xfrm>
          <a:prstGeom prst="rect">
            <a:avLst/>
          </a:prstGeom>
          <a:noFill/>
          <a:ln>
            <a:noFill/>
          </a:ln>
        </p:spPr>
        <p:txBody>
          <a:bodyPr lIns="0" rIns="0" tIns="0" bIns="0" anchor="ctr">
            <a:noAutofit/>
          </a:bodyPr>
          <a:p>
            <a:pPr algn="ctr">
              <a:lnSpc>
                <a:spcPct val="100000"/>
              </a:lnSpc>
              <a:tabLst>
                <a:tab algn="l" pos="0"/>
              </a:tabLst>
            </a:pPr>
            <a:r>
              <a:rPr b="1" lang="en-US" sz="3400" spc="-1" strike="noStrike">
                <a:solidFill>
                  <a:srgbClr val="0f1b2d"/>
                </a:solidFill>
                <a:latin typeface="Cambria"/>
              </a:rPr>
              <a:t>FSM: one transfer </a:t>
            </a:r>
            <a:r>
              <a:rPr b="1" lang="en-US" sz="3400" spc="-1" strike="noStrike">
                <a:solidFill>
                  <a:srgbClr val="0f1b2d"/>
                </a:solidFill>
                <a:latin typeface="Cambria"/>
              </a:rPr>
              <a:t>at a time</a:t>
            </a:r>
            <a:endParaRPr b="0" lang="en-US" sz="3400" spc="-1" strike="noStrike">
              <a:solidFill>
                <a:srgbClr val="0f1b2d"/>
              </a:solidFill>
              <a:latin typeface="Calibri"/>
            </a:endParaRPr>
          </a:p>
        </p:txBody>
      </p:sp>
      <p:sp>
        <p:nvSpPr>
          <p:cNvPr id="213" name="CustomShape 2"/>
          <p:cNvSpPr/>
          <p:nvPr/>
        </p:nvSpPr>
        <p:spPr>
          <a:xfrm>
            <a:off x="548640" y="1371600"/>
            <a:ext cx="11063880" cy="2239920"/>
          </a:xfrm>
          <a:prstGeom prst="roundRect">
            <a:avLst>
              <a:gd name="adj" fmla="val 4898"/>
            </a:avLst>
          </a:prstGeom>
          <a:solidFill>
            <a:schemeClr val="bg2"/>
          </a:solidFill>
          <a:ln>
            <a:noFill/>
          </a:ln>
        </p:spPr>
        <p:style>
          <a:lnRef idx="0"/>
          <a:fillRef idx="0"/>
          <a:effectRef idx="0"/>
          <a:fontRef idx="minor"/>
        </p:style>
      </p:sp>
      <p:sp>
        <p:nvSpPr>
          <p:cNvPr id="214" name="CustomShape 3"/>
          <p:cNvSpPr/>
          <p:nvPr/>
        </p:nvSpPr>
        <p:spPr>
          <a:xfrm>
            <a:off x="822960" y="1554480"/>
            <a:ext cx="2742840" cy="3654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800" spc="-1" strike="noStrike">
                <a:solidFill>
                  <a:srgbClr val="12806e"/>
                </a:solidFill>
                <a:latin typeface="Calibri"/>
              </a:rPr>
              <a:t>Read path</a:t>
            </a:r>
            <a:endParaRPr b="0" lang="en-US" sz="1800" spc="-1" strike="noStrike">
              <a:latin typeface="Arial"/>
            </a:endParaRPr>
          </a:p>
        </p:txBody>
      </p:sp>
      <p:sp>
        <p:nvSpPr>
          <p:cNvPr id="215" name="CustomShape 4"/>
          <p:cNvSpPr/>
          <p:nvPr/>
        </p:nvSpPr>
        <p:spPr>
          <a:xfrm>
            <a:off x="6583680" y="1600200"/>
            <a:ext cx="4754520" cy="273960"/>
          </a:xfrm>
          <a:prstGeom prst="rect">
            <a:avLst/>
          </a:prstGeom>
          <a:noFill/>
          <a:ln>
            <a:noFill/>
          </a:ln>
        </p:spPr>
        <p:style>
          <a:lnRef idx="0"/>
          <a:fillRef idx="0"/>
          <a:effectRef idx="0"/>
          <a:fontRef idx="minor"/>
        </p:style>
        <p:txBody>
          <a:bodyPr lIns="0" rIns="0" tIns="0" bIns="0">
            <a:noAutofit/>
          </a:bodyPr>
          <a:p>
            <a:pPr algn="r">
              <a:lnSpc>
                <a:spcPct val="100000"/>
              </a:lnSpc>
              <a:tabLst>
                <a:tab algn="l" pos="0"/>
              </a:tabLst>
            </a:pPr>
            <a:r>
              <a:rPr b="0" lang="en-US" sz="1200" spc="-1" strike="noStrike">
                <a:solidFill>
                  <a:srgbClr val="5b6c8f"/>
                </a:solidFill>
                <a:latin typeface="Calibri"/>
              </a:rPr>
              <a:t>Dashed state: visited only when PREADY is low</a:t>
            </a:r>
            <a:endParaRPr b="0" lang="en-US" sz="1200" spc="-1" strike="noStrike">
              <a:latin typeface="Arial"/>
            </a:endParaRPr>
          </a:p>
        </p:txBody>
      </p:sp>
      <p:sp>
        <p:nvSpPr>
          <p:cNvPr id="216" name="CustomShape 5"/>
          <p:cNvSpPr/>
          <p:nvPr/>
        </p:nvSpPr>
        <p:spPr>
          <a:xfrm>
            <a:off x="822960" y="2011680"/>
            <a:ext cx="1828440" cy="731160"/>
          </a:xfrm>
          <a:prstGeom prst="roundRect">
            <a:avLst>
              <a:gd name="adj" fmla="val 12500"/>
            </a:avLst>
          </a:prstGeom>
          <a:solidFill>
            <a:schemeClr val="accent1"/>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IDLE</a:t>
            </a:r>
            <a:endParaRPr b="0" lang="en-US" sz="1500" spc="-1" strike="noStrike">
              <a:latin typeface="Arial"/>
            </a:endParaRPr>
          </a:p>
        </p:txBody>
      </p:sp>
      <p:sp>
        <p:nvSpPr>
          <p:cNvPr id="217" name="CustomShape 6"/>
          <p:cNvSpPr/>
          <p:nvPr/>
        </p:nvSpPr>
        <p:spPr>
          <a:xfrm>
            <a:off x="822960" y="2880360"/>
            <a:ext cx="2468520" cy="548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ARVALID wins and PENABLE rises</a:t>
            </a:r>
            <a:endParaRPr b="0" lang="en-US" sz="1400" spc="-1" strike="noStrike">
              <a:latin typeface="Arial"/>
            </a:endParaRPr>
          </a:p>
        </p:txBody>
      </p:sp>
      <p:sp>
        <p:nvSpPr>
          <p:cNvPr id="218" name="Line 7"/>
          <p:cNvSpPr/>
          <p:nvPr/>
        </p:nvSpPr>
        <p:spPr>
          <a:xfrm>
            <a:off x="2651760" y="2377440"/>
            <a:ext cx="822960" cy="0"/>
          </a:xfrm>
          <a:prstGeom prst="line">
            <a:avLst/>
          </a:prstGeom>
          <a:ln w="19080">
            <a:solidFill>
              <a:schemeClr val="accent4"/>
            </a:solidFill>
            <a:round/>
            <a:tailEnd len="med" type="triangle" w="med"/>
          </a:ln>
        </p:spPr>
        <p:style>
          <a:lnRef idx="0"/>
          <a:fillRef idx="0"/>
          <a:effectRef idx="0"/>
          <a:fontRef idx="minor"/>
        </p:style>
      </p:sp>
      <p:sp>
        <p:nvSpPr>
          <p:cNvPr id="219" name="CustomShape 8"/>
          <p:cNvSpPr/>
          <p:nvPr/>
        </p:nvSpPr>
        <p:spPr>
          <a:xfrm>
            <a:off x="3474720" y="2011680"/>
            <a:ext cx="1828440" cy="731160"/>
          </a:xfrm>
          <a:prstGeom prst="roundRect">
            <a:avLst>
              <a:gd name="adj" fmla="val 12500"/>
            </a:avLst>
          </a:prstGeom>
          <a:solidFill>
            <a:schemeClr val="bg1"/>
          </a:solidFill>
          <a:ln w="19080">
            <a:solidFill>
              <a:schemeClr val="accent1"/>
            </a:solidFill>
            <a:prstDash val="dash"/>
            <a:round/>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12806e"/>
                </a:solidFill>
                <a:latin typeface="Calibri"/>
              </a:rPr>
              <a:t>WAIT_R_PREADY</a:t>
            </a:r>
            <a:endParaRPr b="0" lang="en-US" sz="1500" spc="-1" strike="noStrike">
              <a:latin typeface="Arial"/>
            </a:endParaRPr>
          </a:p>
        </p:txBody>
      </p:sp>
      <p:sp>
        <p:nvSpPr>
          <p:cNvPr id="220" name="CustomShape 9"/>
          <p:cNvSpPr/>
          <p:nvPr/>
        </p:nvSpPr>
        <p:spPr>
          <a:xfrm>
            <a:off x="3474720" y="2880360"/>
            <a:ext cx="2468520" cy="548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Only when PREADY is low</a:t>
            </a:r>
            <a:endParaRPr b="0" lang="en-US" sz="1400" spc="-1" strike="noStrike">
              <a:latin typeface="Arial"/>
            </a:endParaRPr>
          </a:p>
        </p:txBody>
      </p:sp>
      <p:sp>
        <p:nvSpPr>
          <p:cNvPr id="221" name="Line 10"/>
          <p:cNvSpPr/>
          <p:nvPr/>
        </p:nvSpPr>
        <p:spPr>
          <a:xfrm>
            <a:off x="5303520" y="2377440"/>
            <a:ext cx="822960" cy="0"/>
          </a:xfrm>
          <a:prstGeom prst="line">
            <a:avLst/>
          </a:prstGeom>
          <a:ln w="19080">
            <a:solidFill>
              <a:schemeClr val="accent4"/>
            </a:solidFill>
            <a:round/>
            <a:tailEnd len="med" type="triangle" w="med"/>
          </a:ln>
        </p:spPr>
        <p:style>
          <a:lnRef idx="0"/>
          <a:fillRef idx="0"/>
          <a:effectRef idx="0"/>
          <a:fontRef idx="minor"/>
        </p:style>
      </p:sp>
      <p:sp>
        <p:nvSpPr>
          <p:cNvPr id="222" name="CustomShape 11"/>
          <p:cNvSpPr/>
          <p:nvPr/>
        </p:nvSpPr>
        <p:spPr>
          <a:xfrm>
            <a:off x="6126480" y="2011680"/>
            <a:ext cx="1828440" cy="731160"/>
          </a:xfrm>
          <a:prstGeom prst="roundRect">
            <a:avLst>
              <a:gd name="adj" fmla="val 12500"/>
            </a:avLst>
          </a:prstGeom>
          <a:solidFill>
            <a:schemeClr val="accent1"/>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DONE_SINGLE_RD</a:t>
            </a:r>
            <a:endParaRPr b="0" lang="en-US" sz="1500" spc="-1" strike="noStrike">
              <a:latin typeface="Arial"/>
            </a:endParaRPr>
          </a:p>
        </p:txBody>
      </p:sp>
      <p:sp>
        <p:nvSpPr>
          <p:cNvPr id="223" name="CustomShape 12"/>
          <p:cNvSpPr/>
          <p:nvPr/>
        </p:nvSpPr>
        <p:spPr>
          <a:xfrm>
            <a:off x="6126480" y="2880360"/>
            <a:ext cx="2468520" cy="548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RVALID into the R buffer</a:t>
            </a:r>
            <a:endParaRPr b="0" lang="en-US" sz="1400" spc="-1" strike="noStrike">
              <a:latin typeface="Arial"/>
            </a:endParaRPr>
          </a:p>
        </p:txBody>
      </p:sp>
      <p:sp>
        <p:nvSpPr>
          <p:cNvPr id="224" name="Line 13"/>
          <p:cNvSpPr/>
          <p:nvPr/>
        </p:nvSpPr>
        <p:spPr>
          <a:xfrm>
            <a:off x="7955280" y="2377440"/>
            <a:ext cx="822960" cy="0"/>
          </a:xfrm>
          <a:prstGeom prst="line">
            <a:avLst/>
          </a:prstGeom>
          <a:ln w="19080">
            <a:solidFill>
              <a:schemeClr val="accent4"/>
            </a:solidFill>
            <a:round/>
            <a:tailEnd len="med" type="triangle" w="med"/>
          </a:ln>
        </p:spPr>
        <p:style>
          <a:lnRef idx="0"/>
          <a:fillRef idx="0"/>
          <a:effectRef idx="0"/>
          <a:fontRef idx="minor"/>
        </p:style>
      </p:sp>
      <p:sp>
        <p:nvSpPr>
          <p:cNvPr id="225" name="CustomShape 14"/>
          <p:cNvSpPr/>
          <p:nvPr/>
        </p:nvSpPr>
        <p:spPr>
          <a:xfrm>
            <a:off x="8778240" y="2011680"/>
            <a:ext cx="1828440" cy="731160"/>
          </a:xfrm>
          <a:prstGeom prst="roundRect">
            <a:avLst>
              <a:gd name="adj" fmla="val 12500"/>
            </a:avLst>
          </a:prstGeom>
          <a:solidFill>
            <a:schemeClr val="accent1"/>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IDLE</a:t>
            </a:r>
            <a:endParaRPr b="0" lang="en-US" sz="1500" spc="-1" strike="noStrike">
              <a:latin typeface="Arial"/>
            </a:endParaRPr>
          </a:p>
        </p:txBody>
      </p:sp>
      <p:sp>
        <p:nvSpPr>
          <p:cNvPr id="226" name="CustomShape 15"/>
          <p:cNvSpPr/>
          <p:nvPr/>
        </p:nvSpPr>
        <p:spPr>
          <a:xfrm>
            <a:off x="8778240" y="2880360"/>
            <a:ext cx="2468520" cy="548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Ready for the next request</a:t>
            </a:r>
            <a:endParaRPr b="0" lang="en-US" sz="1400" spc="-1" strike="noStrike">
              <a:latin typeface="Arial"/>
            </a:endParaRPr>
          </a:p>
        </p:txBody>
      </p:sp>
      <p:sp>
        <p:nvSpPr>
          <p:cNvPr id="227" name="CustomShape 16"/>
          <p:cNvSpPr/>
          <p:nvPr/>
        </p:nvSpPr>
        <p:spPr>
          <a:xfrm>
            <a:off x="548640" y="3840480"/>
            <a:ext cx="11063880" cy="2239920"/>
          </a:xfrm>
          <a:prstGeom prst="roundRect">
            <a:avLst>
              <a:gd name="adj" fmla="val 4898"/>
            </a:avLst>
          </a:prstGeom>
          <a:solidFill>
            <a:schemeClr val="bg2"/>
          </a:solidFill>
          <a:ln>
            <a:noFill/>
          </a:ln>
        </p:spPr>
        <p:style>
          <a:lnRef idx="0"/>
          <a:fillRef idx="0"/>
          <a:effectRef idx="0"/>
          <a:fontRef idx="minor"/>
        </p:style>
      </p:sp>
      <p:sp>
        <p:nvSpPr>
          <p:cNvPr id="228" name="CustomShape 17"/>
          <p:cNvSpPr/>
          <p:nvPr/>
        </p:nvSpPr>
        <p:spPr>
          <a:xfrm>
            <a:off x="822960" y="4023360"/>
            <a:ext cx="2742840" cy="3654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800" spc="-1" strike="noStrike">
                <a:solidFill>
                  <a:srgbClr val="d14a22"/>
                </a:solidFill>
                <a:latin typeface="Calibri"/>
              </a:rPr>
              <a:t>Write path</a:t>
            </a:r>
            <a:endParaRPr b="0" lang="en-US" sz="1800" spc="-1" strike="noStrike">
              <a:latin typeface="Arial"/>
            </a:endParaRPr>
          </a:p>
        </p:txBody>
      </p:sp>
      <p:sp>
        <p:nvSpPr>
          <p:cNvPr id="229" name="CustomShape 18"/>
          <p:cNvSpPr/>
          <p:nvPr/>
        </p:nvSpPr>
        <p:spPr>
          <a:xfrm>
            <a:off x="822960" y="4480560"/>
            <a:ext cx="1828440" cy="731160"/>
          </a:xfrm>
          <a:prstGeom prst="roundRect">
            <a:avLst>
              <a:gd name="adj" fmla="val 12500"/>
            </a:avLst>
          </a:prstGeom>
          <a:solidFill>
            <a:schemeClr val="accent2"/>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IDLE</a:t>
            </a:r>
            <a:endParaRPr b="0" lang="en-US" sz="1500" spc="-1" strike="noStrike">
              <a:latin typeface="Arial"/>
            </a:endParaRPr>
          </a:p>
        </p:txBody>
      </p:sp>
      <p:sp>
        <p:nvSpPr>
          <p:cNvPr id="230" name="CustomShape 19"/>
          <p:cNvSpPr/>
          <p:nvPr/>
        </p:nvSpPr>
        <p:spPr>
          <a:xfrm>
            <a:off x="822960" y="5349240"/>
            <a:ext cx="2468520" cy="548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Needs AWVALID and WVALID</a:t>
            </a:r>
            <a:endParaRPr b="0" lang="en-US" sz="1400" spc="-1" strike="noStrike">
              <a:latin typeface="Arial"/>
            </a:endParaRPr>
          </a:p>
        </p:txBody>
      </p:sp>
      <p:sp>
        <p:nvSpPr>
          <p:cNvPr id="231" name="Line 20"/>
          <p:cNvSpPr/>
          <p:nvPr/>
        </p:nvSpPr>
        <p:spPr>
          <a:xfrm>
            <a:off x="2651760" y="4846320"/>
            <a:ext cx="822960" cy="0"/>
          </a:xfrm>
          <a:prstGeom prst="line">
            <a:avLst/>
          </a:prstGeom>
          <a:ln w="19080">
            <a:solidFill>
              <a:schemeClr val="accent4"/>
            </a:solidFill>
            <a:round/>
            <a:tailEnd len="med" type="triangle" w="med"/>
          </a:ln>
        </p:spPr>
        <p:style>
          <a:lnRef idx="0"/>
          <a:fillRef idx="0"/>
          <a:effectRef idx="0"/>
          <a:fontRef idx="minor"/>
        </p:style>
      </p:sp>
      <p:sp>
        <p:nvSpPr>
          <p:cNvPr id="232" name="CustomShape 21"/>
          <p:cNvSpPr/>
          <p:nvPr/>
        </p:nvSpPr>
        <p:spPr>
          <a:xfrm>
            <a:off x="3474720" y="4480560"/>
            <a:ext cx="1828440" cy="731160"/>
          </a:xfrm>
          <a:prstGeom prst="roundRect">
            <a:avLst>
              <a:gd name="adj" fmla="val 12500"/>
            </a:avLst>
          </a:prstGeom>
          <a:solidFill>
            <a:schemeClr val="bg1"/>
          </a:solidFill>
          <a:ln w="19080">
            <a:solidFill>
              <a:schemeClr val="accent2"/>
            </a:solidFill>
            <a:prstDash val="dash"/>
            <a:round/>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d14a22"/>
                </a:solidFill>
                <a:latin typeface="Calibri"/>
              </a:rPr>
              <a:t>WAIT_W_PREADY</a:t>
            </a:r>
            <a:endParaRPr b="0" lang="en-US" sz="1500" spc="-1" strike="noStrike">
              <a:latin typeface="Arial"/>
            </a:endParaRPr>
          </a:p>
        </p:txBody>
      </p:sp>
      <p:sp>
        <p:nvSpPr>
          <p:cNvPr id="233" name="CustomShape 22"/>
          <p:cNvSpPr/>
          <p:nvPr/>
        </p:nvSpPr>
        <p:spPr>
          <a:xfrm>
            <a:off x="3474720" y="5349240"/>
            <a:ext cx="2468520" cy="548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Only when PREADY is low</a:t>
            </a:r>
            <a:endParaRPr b="0" lang="en-US" sz="1400" spc="-1" strike="noStrike">
              <a:latin typeface="Arial"/>
            </a:endParaRPr>
          </a:p>
        </p:txBody>
      </p:sp>
      <p:sp>
        <p:nvSpPr>
          <p:cNvPr id="234" name="Line 23"/>
          <p:cNvSpPr/>
          <p:nvPr/>
        </p:nvSpPr>
        <p:spPr>
          <a:xfrm>
            <a:off x="5303520" y="4846320"/>
            <a:ext cx="822960" cy="0"/>
          </a:xfrm>
          <a:prstGeom prst="line">
            <a:avLst/>
          </a:prstGeom>
          <a:ln w="19080">
            <a:solidFill>
              <a:schemeClr val="accent4"/>
            </a:solidFill>
            <a:round/>
            <a:tailEnd len="med" type="triangle" w="med"/>
          </a:ln>
        </p:spPr>
        <p:style>
          <a:lnRef idx="0"/>
          <a:fillRef idx="0"/>
          <a:effectRef idx="0"/>
          <a:fontRef idx="minor"/>
        </p:style>
      </p:sp>
      <p:sp>
        <p:nvSpPr>
          <p:cNvPr id="235" name="CustomShape 24"/>
          <p:cNvSpPr/>
          <p:nvPr/>
        </p:nvSpPr>
        <p:spPr>
          <a:xfrm>
            <a:off x="6126480" y="4480560"/>
            <a:ext cx="1828440" cy="731160"/>
          </a:xfrm>
          <a:prstGeom prst="roundRect">
            <a:avLst>
              <a:gd name="adj" fmla="val 12500"/>
            </a:avLst>
          </a:prstGeom>
          <a:solidFill>
            <a:schemeClr val="accent2"/>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SEND_B_RESP</a:t>
            </a:r>
            <a:endParaRPr b="0" lang="en-US" sz="1500" spc="-1" strike="noStrike">
              <a:latin typeface="Arial"/>
            </a:endParaRPr>
          </a:p>
        </p:txBody>
      </p:sp>
      <p:sp>
        <p:nvSpPr>
          <p:cNvPr id="236" name="CustomShape 25"/>
          <p:cNvSpPr/>
          <p:nvPr/>
        </p:nvSpPr>
        <p:spPr>
          <a:xfrm>
            <a:off x="6126480" y="5349240"/>
            <a:ext cx="2468520" cy="548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BVALID into the B buffer</a:t>
            </a:r>
            <a:endParaRPr b="0" lang="en-US" sz="1400" spc="-1" strike="noStrike">
              <a:latin typeface="Arial"/>
            </a:endParaRPr>
          </a:p>
        </p:txBody>
      </p:sp>
      <p:sp>
        <p:nvSpPr>
          <p:cNvPr id="237" name="Line 26"/>
          <p:cNvSpPr/>
          <p:nvPr/>
        </p:nvSpPr>
        <p:spPr>
          <a:xfrm>
            <a:off x="7955280" y="4846320"/>
            <a:ext cx="822960" cy="0"/>
          </a:xfrm>
          <a:prstGeom prst="line">
            <a:avLst/>
          </a:prstGeom>
          <a:ln w="19080">
            <a:solidFill>
              <a:schemeClr val="accent4"/>
            </a:solidFill>
            <a:round/>
            <a:tailEnd len="med" type="triangle" w="med"/>
          </a:ln>
        </p:spPr>
        <p:style>
          <a:lnRef idx="0"/>
          <a:fillRef idx="0"/>
          <a:effectRef idx="0"/>
          <a:fontRef idx="minor"/>
        </p:style>
      </p:sp>
      <p:sp>
        <p:nvSpPr>
          <p:cNvPr id="238" name="CustomShape 27"/>
          <p:cNvSpPr/>
          <p:nvPr/>
        </p:nvSpPr>
        <p:spPr>
          <a:xfrm>
            <a:off x="8778240" y="4480560"/>
            <a:ext cx="1828440" cy="731160"/>
          </a:xfrm>
          <a:prstGeom prst="roundRect">
            <a:avLst>
              <a:gd name="adj" fmla="val 12500"/>
            </a:avLst>
          </a:prstGeom>
          <a:solidFill>
            <a:schemeClr val="accent2"/>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IDLE</a:t>
            </a:r>
            <a:endParaRPr b="0" lang="en-US" sz="1500" spc="-1" strike="noStrike">
              <a:latin typeface="Arial"/>
            </a:endParaRPr>
          </a:p>
        </p:txBody>
      </p:sp>
      <p:sp>
        <p:nvSpPr>
          <p:cNvPr id="239" name="CustomShape 28"/>
          <p:cNvSpPr/>
          <p:nvPr/>
        </p:nvSpPr>
        <p:spPr>
          <a:xfrm>
            <a:off x="8778240" y="5349240"/>
            <a:ext cx="2468520" cy="548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Ready for the next request</a:t>
            </a:r>
            <a:endParaRPr b="0" lang="en-US" sz="1400" spc="-1" strike="noStrike">
              <a:latin typeface="Arial"/>
            </a:endParaRPr>
          </a:p>
        </p:txBody>
      </p:sp>
      <p:sp>
        <p:nvSpPr>
          <p:cNvPr id="240" name="TextShape 29"/>
          <p:cNvSpPr txBox="1"/>
          <p:nvPr/>
        </p:nvSpPr>
        <p:spPr>
          <a:xfrm>
            <a:off x="11064240" y="6419160"/>
            <a:ext cx="548280" cy="273960"/>
          </a:xfrm>
          <a:prstGeom prst="rect">
            <a:avLst/>
          </a:prstGeom>
          <a:noFill/>
          <a:ln>
            <a:noFill/>
          </a:ln>
        </p:spPr>
        <p:txBody>
          <a:bodyPr lIns="90000" rIns="90000" tIns="45000" bIns="45000">
            <a:noAutofit/>
          </a:bodyPr>
          <a:p>
            <a:pPr algn="r">
              <a:lnSpc>
                <a:spcPct val="100000"/>
              </a:lnSpc>
            </a:pPr>
            <a:fld id="{57E2B11F-A6A0-4404-A2AE-8780994ADC19}" type="slidenum">
              <a:rPr b="0" lang="en-US" sz="1000" spc="-1" strike="noStrike">
                <a:solidFill>
                  <a:srgbClr val="5b6c8f"/>
                </a:solidFill>
                <a:latin typeface="Calibri"/>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TextShape 1"/>
          <p:cNvSpPr txBox="1"/>
          <p:nvPr/>
        </p:nvSpPr>
        <p:spPr>
          <a:xfrm>
            <a:off x="548640" y="365760"/>
            <a:ext cx="11063880" cy="731160"/>
          </a:xfrm>
          <a:prstGeom prst="rect">
            <a:avLst/>
          </a:prstGeom>
          <a:noFill/>
          <a:ln>
            <a:noFill/>
          </a:ln>
        </p:spPr>
        <p:txBody>
          <a:bodyPr lIns="0" rIns="0" tIns="0" bIns="0" anchor="ctr">
            <a:noAutofit/>
          </a:bodyPr>
          <a:p>
            <a:pPr algn="ctr">
              <a:lnSpc>
                <a:spcPct val="100000"/>
              </a:lnSpc>
              <a:tabLst>
                <a:tab algn="l" pos="0"/>
              </a:tabLst>
            </a:pPr>
            <a:r>
              <a:rPr b="1" lang="en-US" sz="3400" spc="-1" strike="noStrike">
                <a:solidFill>
                  <a:srgbClr val="0f1b2d"/>
                </a:solidFill>
                <a:latin typeface="Cambria"/>
              </a:rPr>
              <a:t>UVM environment architecture</a:t>
            </a:r>
            <a:endParaRPr b="0" lang="en-US" sz="3400" spc="-1" strike="noStrike">
              <a:solidFill>
                <a:srgbClr val="0f1b2d"/>
              </a:solidFill>
              <a:latin typeface="Calibri"/>
            </a:endParaRPr>
          </a:p>
        </p:txBody>
      </p:sp>
      <p:sp>
        <p:nvSpPr>
          <p:cNvPr id="242" name="CustomShape 2"/>
          <p:cNvSpPr/>
          <p:nvPr/>
        </p:nvSpPr>
        <p:spPr>
          <a:xfrm>
            <a:off x="4480560" y="1325880"/>
            <a:ext cx="3200040" cy="548280"/>
          </a:xfrm>
          <a:prstGeom prst="roundRect">
            <a:avLst>
              <a:gd name="adj" fmla="val 16667"/>
            </a:avLst>
          </a:prstGeom>
          <a:solidFill>
            <a:schemeClr val="tx1"/>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Test + virtual sequence</a:t>
            </a:r>
            <a:endParaRPr b="0" lang="en-US" sz="1500" spc="-1" strike="noStrike">
              <a:latin typeface="Arial"/>
            </a:endParaRPr>
          </a:p>
        </p:txBody>
      </p:sp>
      <p:sp>
        <p:nvSpPr>
          <p:cNvPr id="243" name="Line 3"/>
          <p:cNvSpPr/>
          <p:nvPr/>
        </p:nvSpPr>
        <p:spPr>
          <a:xfrm>
            <a:off x="2331720" y="1600200"/>
            <a:ext cx="2148840" cy="0"/>
          </a:xfrm>
          <a:prstGeom prst="line">
            <a:avLst/>
          </a:prstGeom>
          <a:ln w="19080">
            <a:solidFill>
              <a:schemeClr val="accent4"/>
            </a:solidFill>
            <a:round/>
          </a:ln>
        </p:spPr>
        <p:style>
          <a:lnRef idx="0"/>
          <a:fillRef idx="0"/>
          <a:effectRef idx="0"/>
          <a:fontRef idx="minor"/>
        </p:style>
      </p:sp>
      <p:sp>
        <p:nvSpPr>
          <p:cNvPr id="244" name="Line 4"/>
          <p:cNvSpPr/>
          <p:nvPr/>
        </p:nvSpPr>
        <p:spPr>
          <a:xfrm>
            <a:off x="2331720" y="1600200"/>
            <a:ext cx="0" cy="777240"/>
          </a:xfrm>
          <a:prstGeom prst="line">
            <a:avLst/>
          </a:prstGeom>
          <a:ln w="19080">
            <a:solidFill>
              <a:schemeClr val="accent4"/>
            </a:solidFill>
            <a:round/>
            <a:tailEnd len="med" type="triangle" w="med"/>
          </a:ln>
        </p:spPr>
        <p:style>
          <a:lnRef idx="0"/>
          <a:fillRef idx="0"/>
          <a:effectRef idx="0"/>
          <a:fontRef idx="minor"/>
        </p:style>
      </p:sp>
      <p:sp>
        <p:nvSpPr>
          <p:cNvPr id="245" name="Line 5"/>
          <p:cNvSpPr/>
          <p:nvPr/>
        </p:nvSpPr>
        <p:spPr>
          <a:xfrm>
            <a:off x="7680960" y="1600200"/>
            <a:ext cx="2148840" cy="0"/>
          </a:xfrm>
          <a:prstGeom prst="line">
            <a:avLst/>
          </a:prstGeom>
          <a:ln w="19080">
            <a:solidFill>
              <a:schemeClr val="accent4"/>
            </a:solidFill>
            <a:round/>
          </a:ln>
        </p:spPr>
        <p:style>
          <a:lnRef idx="0"/>
          <a:fillRef idx="0"/>
          <a:effectRef idx="0"/>
          <a:fontRef idx="minor"/>
        </p:style>
      </p:sp>
      <p:sp>
        <p:nvSpPr>
          <p:cNvPr id="246" name="Line 6"/>
          <p:cNvSpPr/>
          <p:nvPr/>
        </p:nvSpPr>
        <p:spPr>
          <a:xfrm>
            <a:off x="9829800" y="1600200"/>
            <a:ext cx="0" cy="777240"/>
          </a:xfrm>
          <a:prstGeom prst="line">
            <a:avLst/>
          </a:prstGeom>
          <a:ln w="19080">
            <a:solidFill>
              <a:schemeClr val="accent4"/>
            </a:solidFill>
            <a:round/>
            <a:tailEnd len="med" type="triangle" w="med"/>
          </a:ln>
        </p:spPr>
        <p:style>
          <a:lnRef idx="0"/>
          <a:fillRef idx="0"/>
          <a:effectRef idx="0"/>
          <a:fontRef idx="minor"/>
        </p:style>
      </p:sp>
      <p:sp>
        <p:nvSpPr>
          <p:cNvPr id="247" name="CustomShape 7"/>
          <p:cNvSpPr/>
          <p:nvPr/>
        </p:nvSpPr>
        <p:spPr>
          <a:xfrm>
            <a:off x="548640" y="2103120"/>
            <a:ext cx="11063880" cy="4023000"/>
          </a:xfrm>
          <a:prstGeom prst="roundRect">
            <a:avLst>
              <a:gd name="adj" fmla="val 2727"/>
            </a:avLst>
          </a:prstGeom>
          <a:solidFill>
            <a:schemeClr val="bg2"/>
          </a:solidFill>
          <a:ln>
            <a:noFill/>
          </a:ln>
        </p:spPr>
        <p:style>
          <a:lnRef idx="0"/>
          <a:fillRef idx="0"/>
          <a:effectRef idx="0"/>
          <a:fontRef idx="minor"/>
        </p:style>
      </p:sp>
      <p:sp>
        <p:nvSpPr>
          <p:cNvPr id="248" name="CustomShape 8"/>
          <p:cNvSpPr/>
          <p:nvPr/>
        </p:nvSpPr>
        <p:spPr>
          <a:xfrm>
            <a:off x="822960" y="2176200"/>
            <a:ext cx="2742840" cy="2282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200" spc="-1" strike="noStrike">
                <a:solidFill>
                  <a:srgbClr val="5b6c8f"/>
                </a:solidFill>
                <a:latin typeface="Calibri"/>
              </a:rPr>
              <a:t>UVM environment</a:t>
            </a:r>
            <a:endParaRPr b="0" lang="en-US" sz="1200" spc="-1" strike="noStrike">
              <a:latin typeface="Arial"/>
            </a:endParaRPr>
          </a:p>
        </p:txBody>
      </p:sp>
      <p:sp>
        <p:nvSpPr>
          <p:cNvPr id="249" name="CustomShape 9"/>
          <p:cNvSpPr/>
          <p:nvPr/>
        </p:nvSpPr>
        <p:spPr>
          <a:xfrm>
            <a:off x="822960" y="2468880"/>
            <a:ext cx="3017160" cy="1919880"/>
          </a:xfrm>
          <a:prstGeom prst="roundRect">
            <a:avLst>
              <a:gd name="adj" fmla="val 5714"/>
            </a:avLst>
          </a:prstGeom>
          <a:solidFill>
            <a:schemeClr val="bg1"/>
          </a:solidFill>
          <a:ln>
            <a:noFill/>
          </a:ln>
        </p:spPr>
        <p:style>
          <a:lnRef idx="0"/>
          <a:fillRef idx="0"/>
          <a:effectRef idx="0"/>
          <a:fontRef idx="minor"/>
        </p:style>
      </p:sp>
      <p:sp>
        <p:nvSpPr>
          <p:cNvPr id="250" name="CustomShape 10"/>
          <p:cNvSpPr/>
          <p:nvPr/>
        </p:nvSpPr>
        <p:spPr>
          <a:xfrm>
            <a:off x="1051560" y="2606040"/>
            <a:ext cx="2651400" cy="3654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12806e"/>
                </a:solidFill>
                <a:latin typeface="Calibri"/>
              </a:rPr>
              <a:t>AXI master agent</a:t>
            </a:r>
            <a:endParaRPr b="0" lang="en-US" sz="1600" spc="-1" strike="noStrike">
              <a:latin typeface="Arial"/>
            </a:endParaRPr>
          </a:p>
        </p:txBody>
      </p:sp>
      <p:sp>
        <p:nvSpPr>
          <p:cNvPr id="251" name="CustomShape 11"/>
          <p:cNvSpPr/>
          <p:nvPr/>
        </p:nvSpPr>
        <p:spPr>
          <a:xfrm>
            <a:off x="1051560" y="3063240"/>
            <a:ext cx="2651400" cy="1188360"/>
          </a:xfrm>
          <a:prstGeom prst="rect">
            <a:avLst/>
          </a:prstGeom>
          <a:noFill/>
          <a:ln>
            <a:noFill/>
          </a:ln>
        </p:spPr>
        <p:style>
          <a:lnRef idx="0"/>
          <a:fillRef idx="0"/>
          <a:effectRef idx="0"/>
          <a:fontRef idx="minor"/>
        </p:style>
        <p:txBody>
          <a:bodyPr lIns="0" rIns="0" tIns="0" bIns="0">
            <a:noAutofit/>
          </a:bodyPr>
          <a:p>
            <a:pPr marL="343080" indent="-342720">
              <a:lnSpc>
                <a:spcPct val="100000"/>
              </a:lnSpc>
              <a:spcAft>
                <a:spcPts val="400"/>
              </a:spcAft>
              <a:buClr>
                <a:srgbClr val="0f1b2d"/>
              </a:buClr>
              <a:buFont typeface="Symbol" charset="2"/>
              <a:buChar char=""/>
            </a:pPr>
            <a:r>
              <a:rPr b="0" lang="en-US" sz="1400" spc="-1" strike="noStrike">
                <a:solidFill>
                  <a:srgbClr val="0f1b2d"/>
                </a:solidFill>
                <a:latin typeface="Calibri"/>
              </a:rPr>
              <a:t>Sequencer</a:t>
            </a:r>
            <a:endParaRPr b="0" lang="en-US" sz="1400" spc="-1" strike="noStrike">
              <a:latin typeface="Arial"/>
            </a:endParaRPr>
          </a:p>
          <a:p>
            <a:pPr marL="343080" indent="-342720">
              <a:lnSpc>
                <a:spcPct val="100000"/>
              </a:lnSpc>
              <a:spcAft>
                <a:spcPts val="400"/>
              </a:spcAft>
              <a:buClr>
                <a:srgbClr val="0f1b2d"/>
              </a:buClr>
              <a:buFont typeface="Symbol" charset="2"/>
              <a:buChar char=""/>
            </a:pPr>
            <a:r>
              <a:rPr b="0" lang="en-US" sz="1400" spc="-1" strike="noStrike">
                <a:solidFill>
                  <a:srgbClr val="0f1b2d"/>
                </a:solidFill>
                <a:latin typeface="Calibri"/>
              </a:rPr>
              <a:t>Driver with 5 channel engines</a:t>
            </a:r>
            <a:endParaRPr b="0" lang="en-US" sz="1400" spc="-1" strike="noStrike">
              <a:latin typeface="Arial"/>
            </a:endParaRPr>
          </a:p>
          <a:p>
            <a:pPr marL="343080" indent="-342720">
              <a:lnSpc>
                <a:spcPct val="100000"/>
              </a:lnSpc>
              <a:spcAft>
                <a:spcPts val="400"/>
              </a:spcAft>
              <a:buClr>
                <a:srgbClr val="0f1b2d"/>
              </a:buClr>
              <a:buFont typeface="Symbol" charset="2"/>
              <a:buChar char=""/>
            </a:pPr>
            <a:r>
              <a:rPr b="0" lang="en-US" sz="1400" spc="-1" strike="noStrike">
                <a:solidFill>
                  <a:srgbClr val="0f1b2d"/>
                </a:solidFill>
                <a:latin typeface="Calibri"/>
              </a:rPr>
              <a:t>Monitor</a:t>
            </a:r>
            <a:endParaRPr b="0" lang="en-US" sz="1400" spc="-1" strike="noStrike">
              <a:latin typeface="Arial"/>
            </a:endParaRPr>
          </a:p>
        </p:txBody>
      </p:sp>
      <p:sp>
        <p:nvSpPr>
          <p:cNvPr id="252" name="CustomShape 12"/>
          <p:cNvSpPr/>
          <p:nvPr/>
        </p:nvSpPr>
        <p:spPr>
          <a:xfrm>
            <a:off x="8321040" y="2468880"/>
            <a:ext cx="3017160" cy="1919880"/>
          </a:xfrm>
          <a:prstGeom prst="roundRect">
            <a:avLst>
              <a:gd name="adj" fmla="val 5714"/>
            </a:avLst>
          </a:prstGeom>
          <a:solidFill>
            <a:schemeClr val="bg1"/>
          </a:solidFill>
          <a:ln>
            <a:noFill/>
          </a:ln>
        </p:spPr>
        <p:style>
          <a:lnRef idx="0"/>
          <a:fillRef idx="0"/>
          <a:effectRef idx="0"/>
          <a:fontRef idx="minor"/>
        </p:style>
      </p:sp>
      <p:sp>
        <p:nvSpPr>
          <p:cNvPr id="253" name="CustomShape 13"/>
          <p:cNvSpPr/>
          <p:nvPr/>
        </p:nvSpPr>
        <p:spPr>
          <a:xfrm>
            <a:off x="8549640" y="2606040"/>
            <a:ext cx="2651400" cy="3654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d14a22"/>
                </a:solidFill>
                <a:latin typeface="Calibri"/>
              </a:rPr>
              <a:t>APB slave agent</a:t>
            </a:r>
            <a:endParaRPr b="0" lang="en-US" sz="1600" spc="-1" strike="noStrike">
              <a:latin typeface="Arial"/>
            </a:endParaRPr>
          </a:p>
        </p:txBody>
      </p:sp>
      <p:sp>
        <p:nvSpPr>
          <p:cNvPr id="254" name="CustomShape 14"/>
          <p:cNvSpPr/>
          <p:nvPr/>
        </p:nvSpPr>
        <p:spPr>
          <a:xfrm>
            <a:off x="8549640" y="3063240"/>
            <a:ext cx="2651400" cy="1188360"/>
          </a:xfrm>
          <a:prstGeom prst="rect">
            <a:avLst/>
          </a:prstGeom>
          <a:noFill/>
          <a:ln>
            <a:noFill/>
          </a:ln>
        </p:spPr>
        <p:style>
          <a:lnRef idx="0"/>
          <a:fillRef idx="0"/>
          <a:effectRef idx="0"/>
          <a:fontRef idx="minor"/>
        </p:style>
        <p:txBody>
          <a:bodyPr lIns="0" rIns="0" tIns="0" bIns="0">
            <a:noAutofit/>
          </a:bodyPr>
          <a:p>
            <a:pPr marL="343080" indent="-342720">
              <a:lnSpc>
                <a:spcPct val="100000"/>
              </a:lnSpc>
              <a:spcAft>
                <a:spcPts val="400"/>
              </a:spcAft>
              <a:buClr>
                <a:srgbClr val="0f1b2d"/>
              </a:buClr>
              <a:buFont typeface="Symbol" charset="2"/>
              <a:buChar char=""/>
            </a:pPr>
            <a:r>
              <a:rPr b="0" lang="en-US" sz="1400" spc="-1" strike="noStrike">
                <a:solidFill>
                  <a:srgbClr val="0f1b2d"/>
                </a:solidFill>
                <a:latin typeface="Calibri"/>
              </a:rPr>
              <a:t>Sequencer for responses</a:t>
            </a:r>
            <a:endParaRPr b="0" lang="en-US" sz="1400" spc="-1" strike="noStrike">
              <a:latin typeface="Arial"/>
            </a:endParaRPr>
          </a:p>
          <a:p>
            <a:pPr marL="343080" indent="-342720">
              <a:lnSpc>
                <a:spcPct val="100000"/>
              </a:lnSpc>
              <a:spcAft>
                <a:spcPts val="400"/>
              </a:spcAft>
              <a:buClr>
                <a:srgbClr val="0f1b2d"/>
              </a:buClr>
              <a:buFont typeface="Symbol" charset="2"/>
              <a:buChar char=""/>
            </a:pPr>
            <a:r>
              <a:rPr b="0" lang="en-US" sz="1400" spc="-1" strike="noStrike">
                <a:solidFill>
                  <a:srgbClr val="0f1b2d"/>
                </a:solidFill>
                <a:latin typeface="Calibri"/>
              </a:rPr>
              <a:t>Reactive driver</a:t>
            </a:r>
            <a:endParaRPr b="0" lang="en-US" sz="1400" spc="-1" strike="noStrike">
              <a:latin typeface="Arial"/>
            </a:endParaRPr>
          </a:p>
          <a:p>
            <a:pPr marL="343080" indent="-342720">
              <a:lnSpc>
                <a:spcPct val="100000"/>
              </a:lnSpc>
              <a:spcAft>
                <a:spcPts val="400"/>
              </a:spcAft>
              <a:buClr>
                <a:srgbClr val="0f1b2d"/>
              </a:buClr>
              <a:buFont typeface="Symbol" charset="2"/>
              <a:buChar char=""/>
            </a:pPr>
            <a:r>
              <a:rPr b="0" lang="en-US" sz="1400" spc="-1" strike="noStrike">
                <a:solidFill>
                  <a:srgbClr val="0f1b2d"/>
                </a:solidFill>
                <a:latin typeface="Calibri"/>
              </a:rPr>
              <a:t>Monitor</a:t>
            </a:r>
            <a:endParaRPr b="0" lang="en-US" sz="1400" spc="-1" strike="noStrike">
              <a:latin typeface="Arial"/>
            </a:endParaRPr>
          </a:p>
        </p:txBody>
      </p:sp>
      <p:sp>
        <p:nvSpPr>
          <p:cNvPr id="255" name="CustomShape 15"/>
          <p:cNvSpPr/>
          <p:nvPr/>
        </p:nvSpPr>
        <p:spPr>
          <a:xfrm>
            <a:off x="4572000" y="2743200"/>
            <a:ext cx="3017160" cy="1188360"/>
          </a:xfrm>
          <a:prstGeom prst="roundRect">
            <a:avLst>
              <a:gd name="adj" fmla="val 7692"/>
            </a:avLst>
          </a:prstGeom>
          <a:solidFill>
            <a:schemeClr val="tx2"/>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DUT</a:t>
            </a:r>
            <a:endParaRPr b="0" lang="en-US" sz="1500" spc="-1" strike="noStrike">
              <a:latin typeface="Arial"/>
            </a:endParaRPr>
          </a:p>
          <a:p>
            <a:pPr algn="ctr">
              <a:lnSpc>
                <a:spcPct val="100000"/>
              </a:lnSpc>
              <a:tabLst>
                <a:tab algn="l" pos="0"/>
              </a:tabLst>
            </a:pPr>
            <a:r>
              <a:rPr b="1" lang="en-US" sz="1500" spc="-1" strike="noStrike">
                <a:solidFill>
                  <a:srgbClr val="ffffff"/>
                </a:solidFill>
                <a:latin typeface="Calibri"/>
              </a:rPr>
              <a:t>axi2apb</a:t>
            </a:r>
            <a:endParaRPr b="0" lang="en-US" sz="1500" spc="-1" strike="noStrike">
              <a:latin typeface="Arial"/>
            </a:endParaRPr>
          </a:p>
        </p:txBody>
      </p:sp>
      <p:sp>
        <p:nvSpPr>
          <p:cNvPr id="256" name="Line 16"/>
          <p:cNvSpPr/>
          <p:nvPr/>
        </p:nvSpPr>
        <p:spPr>
          <a:xfrm>
            <a:off x="3840480" y="3337560"/>
            <a:ext cx="731520" cy="0"/>
          </a:xfrm>
          <a:prstGeom prst="line">
            <a:avLst/>
          </a:prstGeom>
          <a:ln w="19080">
            <a:solidFill>
              <a:schemeClr val="accent4"/>
            </a:solidFill>
            <a:round/>
            <a:headEnd len="med" type="triangle" w="med"/>
            <a:tailEnd len="med" type="triangle" w="med"/>
          </a:ln>
        </p:spPr>
        <p:style>
          <a:lnRef idx="0"/>
          <a:fillRef idx="0"/>
          <a:effectRef idx="0"/>
          <a:fontRef idx="minor"/>
        </p:style>
      </p:sp>
      <p:sp>
        <p:nvSpPr>
          <p:cNvPr id="257" name="Line 17"/>
          <p:cNvSpPr/>
          <p:nvPr/>
        </p:nvSpPr>
        <p:spPr>
          <a:xfrm>
            <a:off x="7589520" y="3337560"/>
            <a:ext cx="731520" cy="0"/>
          </a:xfrm>
          <a:prstGeom prst="line">
            <a:avLst/>
          </a:prstGeom>
          <a:ln w="19080">
            <a:solidFill>
              <a:schemeClr val="accent4"/>
            </a:solidFill>
            <a:round/>
            <a:headEnd len="med" type="triangle" w="med"/>
            <a:tailEnd len="med" type="triangle" w="med"/>
          </a:ln>
        </p:spPr>
        <p:style>
          <a:lnRef idx="0"/>
          <a:fillRef idx="0"/>
          <a:effectRef idx="0"/>
          <a:fontRef idx="minor"/>
        </p:style>
      </p:sp>
      <p:sp>
        <p:nvSpPr>
          <p:cNvPr id="258" name="CustomShape 18"/>
          <p:cNvSpPr/>
          <p:nvPr/>
        </p:nvSpPr>
        <p:spPr>
          <a:xfrm>
            <a:off x="4206240" y="4526280"/>
            <a:ext cx="3748680" cy="639720"/>
          </a:xfrm>
          <a:prstGeom prst="roundRect">
            <a:avLst>
              <a:gd name="adj" fmla="val 14286"/>
            </a:avLst>
          </a:prstGeom>
          <a:solidFill>
            <a:schemeClr val="accent5"/>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400" spc="-1" strike="noStrike">
                <a:solidFill>
                  <a:srgbClr val="ffffff"/>
                </a:solidFill>
                <a:latin typeface="Calibri"/>
              </a:rPr>
              <a:t>Scoreboard: expected vs actual</a:t>
            </a:r>
            <a:endParaRPr b="0" lang="en-US" sz="1400" spc="-1" strike="noStrike">
              <a:latin typeface="Arial"/>
            </a:endParaRPr>
          </a:p>
        </p:txBody>
      </p:sp>
      <p:sp>
        <p:nvSpPr>
          <p:cNvPr id="259" name="CustomShape 19"/>
          <p:cNvSpPr/>
          <p:nvPr/>
        </p:nvSpPr>
        <p:spPr>
          <a:xfrm>
            <a:off x="4206240" y="5349240"/>
            <a:ext cx="3748680" cy="594000"/>
          </a:xfrm>
          <a:prstGeom prst="roundRect">
            <a:avLst>
              <a:gd name="adj" fmla="val 15385"/>
            </a:avLst>
          </a:prstGeom>
          <a:solidFill>
            <a:schemeClr val="accent3"/>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400" spc="-1" strike="noStrike">
                <a:solidFill>
                  <a:srgbClr val="0f1b2d"/>
                </a:solidFill>
                <a:latin typeface="Calibri"/>
              </a:rPr>
              <a:t>Functional coverage</a:t>
            </a:r>
            <a:endParaRPr b="0" lang="en-US" sz="1400" spc="-1" strike="noStrike">
              <a:latin typeface="Arial"/>
            </a:endParaRPr>
          </a:p>
        </p:txBody>
      </p:sp>
      <p:sp>
        <p:nvSpPr>
          <p:cNvPr id="260" name="Line 20"/>
          <p:cNvSpPr/>
          <p:nvPr/>
        </p:nvSpPr>
        <p:spPr>
          <a:xfrm>
            <a:off x="3840480" y="4114800"/>
            <a:ext cx="365760" cy="731520"/>
          </a:xfrm>
          <a:prstGeom prst="line">
            <a:avLst/>
          </a:prstGeom>
          <a:ln w="19080">
            <a:solidFill>
              <a:schemeClr val="accent4"/>
            </a:solidFill>
            <a:round/>
            <a:tailEnd len="med" type="triangle" w="med"/>
          </a:ln>
        </p:spPr>
        <p:style>
          <a:lnRef idx="0"/>
          <a:fillRef idx="0"/>
          <a:effectRef idx="0"/>
          <a:fontRef idx="minor"/>
        </p:style>
      </p:sp>
      <p:sp>
        <p:nvSpPr>
          <p:cNvPr id="261" name="Line 21"/>
          <p:cNvSpPr/>
          <p:nvPr/>
        </p:nvSpPr>
        <p:spPr>
          <a:xfrm flipH="1">
            <a:off x="7955280" y="4114800"/>
            <a:ext cx="365760" cy="731520"/>
          </a:xfrm>
          <a:prstGeom prst="line">
            <a:avLst/>
          </a:prstGeom>
          <a:ln w="19080">
            <a:solidFill>
              <a:schemeClr val="accent4"/>
            </a:solidFill>
            <a:round/>
            <a:tailEnd len="med" type="triangle" w="med"/>
          </a:ln>
        </p:spPr>
        <p:style>
          <a:lnRef idx="0"/>
          <a:fillRef idx="0"/>
          <a:effectRef idx="0"/>
          <a:fontRef idx="minor"/>
        </p:style>
      </p:sp>
      <p:sp>
        <p:nvSpPr>
          <p:cNvPr id="262" name="CustomShape 22"/>
          <p:cNvSpPr/>
          <p:nvPr/>
        </p:nvSpPr>
        <p:spPr>
          <a:xfrm>
            <a:off x="822960" y="4754880"/>
            <a:ext cx="3017160" cy="4568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200" spc="-1" strike="noStrike">
                <a:solidFill>
                  <a:srgbClr val="5b6c8f"/>
                </a:solidFill>
                <a:latin typeface="Calibri"/>
              </a:rPr>
              <a:t>Monitors feed both</a:t>
            </a:r>
            <a:endParaRPr b="0" lang="en-US" sz="1200" spc="-1" strike="noStrike">
              <a:latin typeface="Arial"/>
            </a:endParaRPr>
          </a:p>
        </p:txBody>
      </p:sp>
      <p:sp>
        <p:nvSpPr>
          <p:cNvPr id="263" name="TextShape 23"/>
          <p:cNvSpPr txBox="1"/>
          <p:nvPr/>
        </p:nvSpPr>
        <p:spPr>
          <a:xfrm>
            <a:off x="11064240" y="6419160"/>
            <a:ext cx="548280" cy="273960"/>
          </a:xfrm>
          <a:prstGeom prst="rect">
            <a:avLst/>
          </a:prstGeom>
          <a:noFill/>
          <a:ln>
            <a:noFill/>
          </a:ln>
        </p:spPr>
        <p:txBody>
          <a:bodyPr lIns="90000" rIns="90000" tIns="45000" bIns="45000">
            <a:noAutofit/>
          </a:bodyPr>
          <a:p>
            <a:pPr algn="r">
              <a:lnSpc>
                <a:spcPct val="100000"/>
              </a:lnSpc>
            </a:pPr>
            <a:fld id="{D2DAA145-AC61-45C0-8B2D-48EA9CFB0D04}" type="slidenum">
              <a:rPr b="0" lang="en-US" sz="1000" spc="-1" strike="noStrike">
                <a:solidFill>
                  <a:srgbClr val="5b6c8f"/>
                </a:solidFill>
                <a:latin typeface="Calibri"/>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TextShape 1"/>
          <p:cNvSpPr txBox="1"/>
          <p:nvPr/>
        </p:nvSpPr>
        <p:spPr>
          <a:xfrm>
            <a:off x="548640" y="365760"/>
            <a:ext cx="11063880" cy="731160"/>
          </a:xfrm>
          <a:prstGeom prst="rect">
            <a:avLst/>
          </a:prstGeom>
          <a:noFill/>
          <a:ln>
            <a:noFill/>
          </a:ln>
        </p:spPr>
        <p:txBody>
          <a:bodyPr lIns="0" rIns="0" tIns="0" bIns="0" anchor="ctr">
            <a:noAutofit/>
          </a:bodyPr>
          <a:p>
            <a:pPr algn="ctr">
              <a:lnSpc>
                <a:spcPct val="100000"/>
              </a:lnSpc>
              <a:tabLst>
                <a:tab algn="l" pos="0"/>
              </a:tabLst>
            </a:pPr>
            <a:r>
              <a:rPr b="1" lang="en-US" sz="3400" spc="-1" strike="noStrike">
                <a:solidFill>
                  <a:srgbClr val="0f1b2d"/>
                </a:solidFill>
                <a:latin typeface="Cambria"/>
              </a:rPr>
              <a:t>Project structure</a:t>
            </a:r>
            <a:endParaRPr b="0" lang="en-US" sz="3400" spc="-1" strike="noStrike">
              <a:solidFill>
                <a:srgbClr val="0f1b2d"/>
              </a:solidFill>
              <a:latin typeface="Calibri"/>
            </a:endParaRPr>
          </a:p>
        </p:txBody>
      </p:sp>
      <p:sp>
        <p:nvSpPr>
          <p:cNvPr id="265" name="CustomShape 2"/>
          <p:cNvSpPr/>
          <p:nvPr/>
        </p:nvSpPr>
        <p:spPr>
          <a:xfrm>
            <a:off x="548640" y="1371600"/>
            <a:ext cx="6034680" cy="4663080"/>
          </a:xfrm>
          <a:prstGeom prst="roundRect">
            <a:avLst>
              <a:gd name="adj" fmla="val 2353"/>
            </a:avLst>
          </a:prstGeom>
          <a:solidFill>
            <a:schemeClr val="tx1"/>
          </a:solidFill>
          <a:ln>
            <a:noFill/>
          </a:ln>
        </p:spPr>
        <p:style>
          <a:lnRef idx="0"/>
          <a:fillRef idx="0"/>
          <a:effectRef idx="0"/>
          <a:fontRef idx="minor"/>
        </p:style>
      </p:sp>
      <p:sp>
        <p:nvSpPr>
          <p:cNvPr id="266" name="CustomShape 3"/>
          <p:cNvSpPr/>
          <p:nvPr/>
        </p:nvSpPr>
        <p:spPr>
          <a:xfrm>
            <a:off x="868680" y="1691640"/>
            <a:ext cx="5486040" cy="4023000"/>
          </a:xfrm>
          <a:prstGeom prst="rect">
            <a:avLst/>
          </a:prstGeom>
          <a:noFill/>
          <a:ln>
            <a:noFill/>
          </a:ln>
        </p:spPr>
        <p:style>
          <a:lnRef idx="0"/>
          <a:fillRef idx="0"/>
          <a:effectRef idx="0"/>
          <a:fontRef idx="minor"/>
        </p:style>
        <p:txBody>
          <a:bodyPr lIns="0" rIns="0" tIns="0" bIns="0">
            <a:noAutofit/>
          </a:bodyPr>
          <a:p>
            <a:pPr>
              <a:lnSpc>
                <a:spcPct val="100000"/>
              </a:lnSpc>
              <a:spcAft>
                <a:spcPts val="601"/>
              </a:spcAft>
              <a:tabLst>
                <a:tab algn="l" pos="0"/>
              </a:tabLst>
            </a:pPr>
            <a:r>
              <a:rPr b="0" lang="en-US" sz="1400" spc="-1" strike="noStrike">
                <a:solidFill>
                  <a:srgbClr val="f3f6fa"/>
                </a:solidFill>
                <a:latin typeface="Courier New"/>
                <a:ea typeface="Courier New"/>
              </a:rPr>
              <a:t>axi2apb_uvm/</a:t>
            </a:r>
            <a:endParaRPr b="0" lang="en-US" sz="1400" spc="-1" strike="noStrike">
              <a:latin typeface="Arial"/>
            </a:endParaRPr>
          </a:p>
          <a:p>
            <a:pPr>
              <a:lnSpc>
                <a:spcPct val="100000"/>
              </a:lnSpc>
              <a:spcAft>
                <a:spcPts val="601"/>
              </a:spcAft>
              <a:tabLst>
                <a:tab algn="l" pos="0"/>
              </a:tabLst>
            </a:pPr>
            <a:r>
              <a:rPr b="0" lang="en-US" sz="1400" spc="-1" strike="noStrike">
                <a:solidFill>
                  <a:srgbClr val="f3f6fa"/>
                </a:solidFill>
                <a:latin typeface="Courier New"/>
                <a:ea typeface="Courier New"/>
              </a:rPr>
              <a:t>|-- build.flist</a:t>
            </a:r>
            <a:endParaRPr b="0" lang="en-US" sz="1400" spc="-1" strike="noStrike">
              <a:latin typeface="Arial"/>
            </a:endParaRPr>
          </a:p>
          <a:p>
            <a:pPr>
              <a:lnSpc>
                <a:spcPct val="100000"/>
              </a:lnSpc>
              <a:spcAft>
                <a:spcPts val="601"/>
              </a:spcAft>
              <a:tabLst>
                <a:tab algn="l" pos="0"/>
              </a:tabLst>
            </a:pPr>
            <a:r>
              <a:rPr b="0" lang="en-US" sz="1400" spc="-1" strike="noStrike">
                <a:solidFill>
                  <a:srgbClr val="f3f6fa"/>
                </a:solidFill>
                <a:latin typeface="Courier New"/>
                <a:ea typeface="Courier New"/>
              </a:rPr>
              <a:t>|-- Makefile</a:t>
            </a:r>
            <a:endParaRPr b="0" lang="en-US" sz="1400" spc="-1" strike="noStrike">
              <a:latin typeface="Arial"/>
            </a:endParaRPr>
          </a:p>
          <a:p>
            <a:pPr>
              <a:lnSpc>
                <a:spcPct val="100000"/>
              </a:lnSpc>
              <a:spcAft>
                <a:spcPts val="601"/>
              </a:spcAft>
              <a:tabLst>
                <a:tab algn="l" pos="0"/>
              </a:tabLst>
            </a:pPr>
            <a:r>
              <a:rPr b="0" lang="en-US" sz="1400" spc="-1" strike="noStrike">
                <a:solidFill>
                  <a:srgbClr val="f3f6fa"/>
                </a:solidFill>
                <a:latin typeface="Courier New"/>
                <a:ea typeface="Courier New"/>
              </a:rPr>
              <a:t>|-- rtl/         DUT + fifo model</a:t>
            </a:r>
            <a:endParaRPr b="0" lang="en-US" sz="1400" spc="-1" strike="noStrike">
              <a:latin typeface="Arial"/>
            </a:endParaRPr>
          </a:p>
          <a:p>
            <a:pPr>
              <a:lnSpc>
                <a:spcPct val="100000"/>
              </a:lnSpc>
              <a:spcAft>
                <a:spcPts val="601"/>
              </a:spcAft>
              <a:tabLst>
                <a:tab algn="l" pos="0"/>
              </a:tabLst>
            </a:pPr>
            <a:r>
              <a:rPr b="0" lang="en-US" sz="1400" spc="-1" strike="noStrike">
                <a:solidFill>
                  <a:srgbClr val="f3f6fa"/>
                </a:solidFill>
                <a:latin typeface="Courier New"/>
                <a:ea typeface="Courier New"/>
              </a:rPr>
              <a:t>|-- tb/          interfaces, tb_top</a:t>
            </a:r>
            <a:endParaRPr b="0" lang="en-US" sz="1400" spc="-1" strike="noStrike">
              <a:latin typeface="Arial"/>
            </a:endParaRPr>
          </a:p>
          <a:p>
            <a:pPr>
              <a:lnSpc>
                <a:spcPct val="100000"/>
              </a:lnSpc>
              <a:spcAft>
                <a:spcPts val="601"/>
              </a:spcAft>
              <a:tabLst>
                <a:tab algn="l" pos="0"/>
              </a:tabLst>
            </a:pPr>
            <a:r>
              <a:rPr b="0" lang="en-US" sz="1400" spc="-1" strike="noStrike">
                <a:solidFill>
                  <a:srgbClr val="f3f6fa"/>
                </a:solidFill>
                <a:latin typeface="Courier New"/>
                <a:ea typeface="Courier New"/>
              </a:rPr>
              <a:t>|-- uvm/         agents, env, scoreboard,</a:t>
            </a:r>
            <a:endParaRPr b="0" lang="en-US" sz="1400" spc="-1" strike="noStrike">
              <a:latin typeface="Arial"/>
            </a:endParaRPr>
          </a:p>
          <a:p>
            <a:pPr>
              <a:lnSpc>
                <a:spcPct val="100000"/>
              </a:lnSpc>
              <a:spcAft>
                <a:spcPts val="601"/>
              </a:spcAft>
              <a:tabLst>
                <a:tab algn="l" pos="0"/>
              </a:tabLst>
            </a:pPr>
            <a:r>
              <a:rPr b="0" lang="en-US" sz="1400" spc="-1" strike="noStrike">
                <a:solidFill>
                  <a:srgbClr val="f3f6fa"/>
                </a:solidFill>
                <a:latin typeface="Courier New"/>
                <a:ea typeface="Courier New"/>
              </a:rPr>
              <a:t>|                coverage</a:t>
            </a:r>
            <a:endParaRPr b="0" lang="en-US" sz="1400" spc="-1" strike="noStrike">
              <a:latin typeface="Arial"/>
            </a:endParaRPr>
          </a:p>
          <a:p>
            <a:pPr>
              <a:lnSpc>
                <a:spcPct val="100000"/>
              </a:lnSpc>
              <a:spcAft>
                <a:spcPts val="601"/>
              </a:spcAft>
              <a:tabLst>
                <a:tab algn="l" pos="0"/>
              </a:tabLst>
            </a:pPr>
            <a:r>
              <a:rPr b="0" lang="en-US" sz="1400" spc="-1" strike="noStrike">
                <a:solidFill>
                  <a:srgbClr val="f3f6fa"/>
                </a:solidFill>
                <a:latin typeface="Courier New"/>
                <a:ea typeface="Courier New"/>
              </a:rPr>
              <a:t>|-- sequences/   AXI, APB, virtual</a:t>
            </a:r>
            <a:endParaRPr b="0" lang="en-US" sz="1400" spc="-1" strike="noStrike">
              <a:latin typeface="Arial"/>
            </a:endParaRPr>
          </a:p>
          <a:p>
            <a:pPr>
              <a:lnSpc>
                <a:spcPct val="100000"/>
              </a:lnSpc>
              <a:spcAft>
                <a:spcPts val="601"/>
              </a:spcAft>
              <a:tabLst>
                <a:tab algn="l" pos="0"/>
              </a:tabLst>
            </a:pPr>
            <a:r>
              <a:rPr b="0" lang="en-US" sz="1400" spc="-1" strike="noStrike">
                <a:solidFill>
                  <a:srgbClr val="f3f6fa"/>
                </a:solidFill>
                <a:latin typeface="Courier New"/>
                <a:ea typeface="Courier New"/>
              </a:rPr>
              <a:t>`-- tests/       14 directed tests</a:t>
            </a:r>
            <a:endParaRPr b="0" lang="en-US" sz="1400" spc="-1" strike="noStrike">
              <a:latin typeface="Arial"/>
            </a:endParaRPr>
          </a:p>
        </p:txBody>
      </p:sp>
      <p:sp>
        <p:nvSpPr>
          <p:cNvPr id="267" name="CustomShape 4"/>
          <p:cNvSpPr/>
          <p:nvPr/>
        </p:nvSpPr>
        <p:spPr>
          <a:xfrm>
            <a:off x="6949440" y="1417320"/>
            <a:ext cx="639720" cy="639720"/>
          </a:xfrm>
          <a:prstGeom prst="ellipse">
            <a:avLst/>
          </a:prstGeom>
          <a:solidFill>
            <a:schemeClr val="accent1"/>
          </a:solidFill>
          <a:ln>
            <a:noFill/>
          </a:ln>
        </p:spPr>
        <p:style>
          <a:lnRef idx="0"/>
          <a:fillRef idx="0"/>
          <a:effectRef idx="0"/>
          <a:fontRef idx="minor"/>
        </p:style>
      </p:sp>
      <p:pic>
        <p:nvPicPr>
          <p:cNvPr id="268" name="icon FaFolderOpen" descr="preencoded.png"/>
          <p:cNvPicPr/>
          <p:nvPr/>
        </p:nvPicPr>
        <p:blipFill>
          <a:blip r:embed="rId1"/>
          <a:stretch/>
        </p:blipFill>
        <p:spPr>
          <a:xfrm>
            <a:off x="7109640" y="1577520"/>
            <a:ext cx="319680" cy="319680"/>
          </a:xfrm>
          <a:prstGeom prst="rect">
            <a:avLst/>
          </a:prstGeom>
          <a:ln>
            <a:noFill/>
          </a:ln>
        </p:spPr>
      </p:pic>
      <p:sp>
        <p:nvSpPr>
          <p:cNvPr id="269" name="CustomShape 5"/>
          <p:cNvSpPr/>
          <p:nvPr/>
        </p:nvSpPr>
        <p:spPr>
          <a:xfrm>
            <a:off x="7818120" y="1417320"/>
            <a:ext cx="3794400" cy="319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One package</a:t>
            </a:r>
            <a:endParaRPr b="0" lang="en-US" sz="1600" spc="-1" strike="noStrike">
              <a:latin typeface="Arial"/>
            </a:endParaRPr>
          </a:p>
        </p:txBody>
      </p:sp>
      <p:sp>
        <p:nvSpPr>
          <p:cNvPr id="270" name="CustomShape 6"/>
          <p:cNvSpPr/>
          <p:nvPr/>
        </p:nvSpPr>
        <p:spPr>
          <a:xfrm>
            <a:off x="7818120" y="1783080"/>
            <a:ext cx="3794400" cy="914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All UVM classes live in axi2apb_pkg and are included in a fixed order.</a:t>
            </a:r>
            <a:endParaRPr b="0" lang="en-US" sz="1400" spc="-1" strike="noStrike">
              <a:latin typeface="Arial"/>
            </a:endParaRPr>
          </a:p>
        </p:txBody>
      </p:sp>
      <p:sp>
        <p:nvSpPr>
          <p:cNvPr id="271" name="CustomShape 7"/>
          <p:cNvSpPr/>
          <p:nvPr/>
        </p:nvSpPr>
        <p:spPr>
          <a:xfrm>
            <a:off x="6949440" y="2971800"/>
            <a:ext cx="639720" cy="639720"/>
          </a:xfrm>
          <a:prstGeom prst="ellipse">
            <a:avLst/>
          </a:prstGeom>
          <a:solidFill>
            <a:schemeClr val="accent2"/>
          </a:solidFill>
          <a:ln>
            <a:noFill/>
          </a:ln>
        </p:spPr>
        <p:style>
          <a:lnRef idx="0"/>
          <a:fillRef idx="0"/>
          <a:effectRef idx="0"/>
          <a:fontRef idx="minor"/>
        </p:style>
      </p:sp>
      <p:pic>
        <p:nvPicPr>
          <p:cNvPr id="272" name="icon FaLayerGroup" descr="preencoded.png"/>
          <p:cNvPicPr/>
          <p:nvPr/>
        </p:nvPicPr>
        <p:blipFill>
          <a:blip r:embed="rId2"/>
          <a:stretch/>
        </p:blipFill>
        <p:spPr>
          <a:xfrm>
            <a:off x="7109640" y="3132000"/>
            <a:ext cx="319680" cy="319680"/>
          </a:xfrm>
          <a:prstGeom prst="rect">
            <a:avLst/>
          </a:prstGeom>
          <a:ln>
            <a:noFill/>
          </a:ln>
        </p:spPr>
      </p:pic>
      <p:sp>
        <p:nvSpPr>
          <p:cNvPr id="273" name="CustomShape 8"/>
          <p:cNvSpPr/>
          <p:nvPr/>
        </p:nvSpPr>
        <p:spPr>
          <a:xfrm>
            <a:off x="7818120" y="2971800"/>
            <a:ext cx="3794400" cy="319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Plain interfaces</a:t>
            </a:r>
            <a:endParaRPr b="0" lang="en-US" sz="1600" spc="-1" strike="noStrike">
              <a:latin typeface="Arial"/>
            </a:endParaRPr>
          </a:p>
        </p:txBody>
      </p:sp>
      <p:sp>
        <p:nvSpPr>
          <p:cNvPr id="274" name="CustomShape 9"/>
          <p:cNvSpPr/>
          <p:nvPr/>
        </p:nvSpPr>
        <p:spPr>
          <a:xfrm>
            <a:off x="7818120" y="3337560"/>
            <a:ext cx="3794400" cy="914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axi_if and apb_if use no clocking blocks or modports. Drivers use the negedge and monitors the posedge.</a:t>
            </a:r>
            <a:endParaRPr b="0" lang="en-US" sz="1400" spc="-1" strike="noStrike">
              <a:latin typeface="Arial"/>
            </a:endParaRPr>
          </a:p>
        </p:txBody>
      </p:sp>
      <p:sp>
        <p:nvSpPr>
          <p:cNvPr id="275" name="CustomShape 10"/>
          <p:cNvSpPr/>
          <p:nvPr/>
        </p:nvSpPr>
        <p:spPr>
          <a:xfrm>
            <a:off x="6949440" y="4526280"/>
            <a:ext cx="639720" cy="639720"/>
          </a:xfrm>
          <a:prstGeom prst="ellipse">
            <a:avLst/>
          </a:prstGeom>
          <a:solidFill>
            <a:schemeClr val="accent5"/>
          </a:solidFill>
          <a:ln>
            <a:noFill/>
          </a:ln>
        </p:spPr>
        <p:style>
          <a:lnRef idx="0"/>
          <a:fillRef idx="0"/>
          <a:effectRef idx="0"/>
          <a:fontRef idx="minor"/>
        </p:style>
      </p:sp>
      <p:pic>
        <p:nvPicPr>
          <p:cNvPr id="276" name="icon FaListUl" descr="preencoded.png"/>
          <p:cNvPicPr/>
          <p:nvPr/>
        </p:nvPicPr>
        <p:blipFill>
          <a:blip r:embed="rId3"/>
          <a:stretch/>
        </p:blipFill>
        <p:spPr>
          <a:xfrm>
            <a:off x="7109640" y="4686480"/>
            <a:ext cx="319680" cy="319680"/>
          </a:xfrm>
          <a:prstGeom prst="rect">
            <a:avLst/>
          </a:prstGeom>
          <a:ln>
            <a:noFill/>
          </a:ln>
        </p:spPr>
      </p:pic>
      <p:sp>
        <p:nvSpPr>
          <p:cNvPr id="277" name="CustomShape 11"/>
          <p:cNvSpPr/>
          <p:nvPr/>
        </p:nvSpPr>
        <p:spPr>
          <a:xfrm>
            <a:off x="7818120" y="4526280"/>
            <a:ext cx="3794400" cy="319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One build list</a:t>
            </a:r>
            <a:endParaRPr b="0" lang="en-US" sz="1600" spc="-1" strike="noStrike">
              <a:latin typeface="Arial"/>
            </a:endParaRPr>
          </a:p>
        </p:txBody>
      </p:sp>
      <p:sp>
        <p:nvSpPr>
          <p:cNvPr id="278" name="CustomShape 12"/>
          <p:cNvSpPr/>
          <p:nvPr/>
        </p:nvSpPr>
        <p:spPr>
          <a:xfrm>
            <a:off x="7818120" y="4892040"/>
            <a:ext cx="3794400" cy="914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build.flist fixes the compile order: RTL, interfaces, package, then tb_top.</a:t>
            </a:r>
            <a:endParaRPr b="0" lang="en-US" sz="1400" spc="-1" strike="noStrike">
              <a:latin typeface="Arial"/>
            </a:endParaRPr>
          </a:p>
        </p:txBody>
      </p:sp>
      <p:sp>
        <p:nvSpPr>
          <p:cNvPr id="279" name="TextShape 13"/>
          <p:cNvSpPr txBox="1"/>
          <p:nvPr/>
        </p:nvSpPr>
        <p:spPr>
          <a:xfrm>
            <a:off x="11064240" y="6419160"/>
            <a:ext cx="548280" cy="273960"/>
          </a:xfrm>
          <a:prstGeom prst="rect">
            <a:avLst/>
          </a:prstGeom>
          <a:noFill/>
          <a:ln>
            <a:noFill/>
          </a:ln>
        </p:spPr>
        <p:txBody>
          <a:bodyPr lIns="90000" rIns="90000" tIns="45000" bIns="45000">
            <a:noAutofit/>
          </a:bodyPr>
          <a:p>
            <a:pPr algn="r">
              <a:lnSpc>
                <a:spcPct val="100000"/>
              </a:lnSpc>
            </a:pPr>
            <a:fld id="{2C43E430-ED0C-48DB-BDDF-7B3E2104F260}" type="slidenum">
              <a:rPr b="0" lang="en-US" sz="1000" spc="-1" strike="noStrike">
                <a:solidFill>
                  <a:srgbClr val="5b6c8f"/>
                </a:solidFill>
                <a:latin typeface="Calibri"/>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TextShape 1"/>
          <p:cNvSpPr txBox="1"/>
          <p:nvPr/>
        </p:nvSpPr>
        <p:spPr>
          <a:xfrm>
            <a:off x="548640" y="365760"/>
            <a:ext cx="11063880" cy="731160"/>
          </a:xfrm>
          <a:prstGeom prst="rect">
            <a:avLst/>
          </a:prstGeom>
          <a:noFill/>
          <a:ln>
            <a:noFill/>
          </a:ln>
        </p:spPr>
        <p:txBody>
          <a:bodyPr lIns="0" rIns="0" tIns="0" bIns="0" anchor="ctr">
            <a:noAutofit/>
          </a:bodyPr>
          <a:p>
            <a:pPr algn="ctr">
              <a:lnSpc>
                <a:spcPct val="100000"/>
              </a:lnSpc>
              <a:tabLst>
                <a:tab algn="l" pos="0"/>
              </a:tabLst>
            </a:pPr>
            <a:r>
              <a:rPr b="1" lang="en-US" sz="3400" spc="-1" strike="noStrike">
                <a:solidFill>
                  <a:srgbClr val="0f1b2d"/>
                </a:solidFill>
                <a:latin typeface="Cambria"/>
              </a:rPr>
              <a:t>AXI agent: the master driver</a:t>
            </a:r>
            <a:endParaRPr b="0" lang="en-US" sz="3400" spc="-1" strike="noStrike">
              <a:solidFill>
                <a:srgbClr val="0f1b2d"/>
              </a:solidFill>
              <a:latin typeface="Calibri"/>
            </a:endParaRPr>
          </a:p>
        </p:txBody>
      </p:sp>
      <p:sp>
        <p:nvSpPr>
          <p:cNvPr id="281" name="CustomShape 2"/>
          <p:cNvSpPr/>
          <p:nvPr/>
        </p:nvSpPr>
        <p:spPr>
          <a:xfrm>
            <a:off x="548640" y="1463040"/>
            <a:ext cx="2102760" cy="822600"/>
          </a:xfrm>
          <a:prstGeom prst="roundRect">
            <a:avLst>
              <a:gd name="adj" fmla="val 11111"/>
            </a:avLst>
          </a:prstGeom>
          <a:solidFill>
            <a:schemeClr val="accent1"/>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axi_sequencer</a:t>
            </a:r>
            <a:endParaRPr b="0" lang="en-US" sz="1500" spc="-1" strike="noStrike">
              <a:latin typeface="Arial"/>
            </a:endParaRPr>
          </a:p>
        </p:txBody>
      </p:sp>
      <p:sp>
        <p:nvSpPr>
          <p:cNvPr id="282" name="Line 3"/>
          <p:cNvSpPr/>
          <p:nvPr/>
        </p:nvSpPr>
        <p:spPr>
          <a:xfrm>
            <a:off x="2651760" y="1874520"/>
            <a:ext cx="365760" cy="0"/>
          </a:xfrm>
          <a:prstGeom prst="line">
            <a:avLst/>
          </a:prstGeom>
          <a:ln w="19080">
            <a:solidFill>
              <a:schemeClr val="accent4"/>
            </a:solidFill>
            <a:round/>
            <a:tailEnd len="med" type="triangle" w="med"/>
          </a:ln>
        </p:spPr>
        <p:style>
          <a:lnRef idx="0"/>
          <a:fillRef idx="0"/>
          <a:effectRef idx="0"/>
          <a:fontRef idx="minor"/>
        </p:style>
      </p:sp>
      <p:sp>
        <p:nvSpPr>
          <p:cNvPr id="283" name="CustomShape 4"/>
          <p:cNvSpPr/>
          <p:nvPr/>
        </p:nvSpPr>
        <p:spPr>
          <a:xfrm>
            <a:off x="3017520" y="1463040"/>
            <a:ext cx="2285640" cy="822600"/>
          </a:xfrm>
          <a:prstGeom prst="roundRect">
            <a:avLst>
              <a:gd name="adj" fmla="val 11111"/>
            </a:avLst>
          </a:prstGeom>
          <a:solidFill>
            <a:schemeClr val="tx2"/>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axi_driver</a:t>
            </a:r>
            <a:endParaRPr b="0" lang="en-US" sz="1500" spc="-1" strike="noStrike">
              <a:latin typeface="Arial"/>
            </a:endParaRPr>
          </a:p>
          <a:p>
            <a:pPr algn="ctr">
              <a:lnSpc>
                <a:spcPct val="100000"/>
              </a:lnSpc>
              <a:tabLst>
                <a:tab algn="l" pos="0"/>
              </a:tabLst>
            </a:pPr>
            <a:r>
              <a:rPr b="1" lang="en-US" sz="1500" spc="-1" strike="noStrike">
                <a:solidFill>
                  <a:srgbClr val="ffffff"/>
                </a:solidFill>
                <a:latin typeface="Calibri"/>
              </a:rPr>
              <a:t>dispatch</a:t>
            </a:r>
            <a:endParaRPr b="0" lang="en-US" sz="1500" spc="-1" strike="noStrike">
              <a:latin typeface="Arial"/>
            </a:endParaRPr>
          </a:p>
        </p:txBody>
      </p:sp>
      <p:sp>
        <p:nvSpPr>
          <p:cNvPr id="284" name="Line 5"/>
          <p:cNvSpPr/>
          <p:nvPr/>
        </p:nvSpPr>
        <p:spPr>
          <a:xfrm>
            <a:off x="5303520" y="1874520"/>
            <a:ext cx="548640" cy="0"/>
          </a:xfrm>
          <a:prstGeom prst="line">
            <a:avLst/>
          </a:prstGeom>
          <a:ln w="19080">
            <a:solidFill>
              <a:schemeClr val="accent4"/>
            </a:solidFill>
            <a:round/>
            <a:tailEnd len="med" type="triangle" w="med"/>
          </a:ln>
        </p:spPr>
        <p:style>
          <a:lnRef idx="0"/>
          <a:fillRef idx="0"/>
          <a:effectRef idx="0"/>
          <a:fontRef idx="minor"/>
        </p:style>
      </p:sp>
      <p:sp>
        <p:nvSpPr>
          <p:cNvPr id="285" name="CustomShape 6"/>
          <p:cNvSpPr/>
          <p:nvPr/>
        </p:nvSpPr>
        <p:spPr>
          <a:xfrm>
            <a:off x="5852160" y="1371600"/>
            <a:ext cx="5760360" cy="1371240"/>
          </a:xfrm>
          <a:prstGeom prst="roundRect">
            <a:avLst>
              <a:gd name="adj" fmla="val 8000"/>
            </a:avLst>
          </a:prstGeom>
          <a:solidFill>
            <a:schemeClr val="bg2"/>
          </a:solidFill>
          <a:ln>
            <a:noFill/>
          </a:ln>
        </p:spPr>
        <p:style>
          <a:lnRef idx="0"/>
          <a:fillRef idx="0"/>
          <a:effectRef idx="0"/>
          <a:fontRef idx="minor"/>
        </p:style>
      </p:sp>
      <p:sp>
        <p:nvSpPr>
          <p:cNvPr id="286" name="CustomShape 7"/>
          <p:cNvSpPr/>
          <p:nvPr/>
        </p:nvSpPr>
        <p:spPr>
          <a:xfrm>
            <a:off x="6080760" y="1554480"/>
            <a:ext cx="914040" cy="548280"/>
          </a:xfrm>
          <a:prstGeom prst="roundRect">
            <a:avLst>
              <a:gd name="adj" fmla="val 16667"/>
            </a:avLst>
          </a:prstGeom>
          <a:solidFill>
            <a:schemeClr val="accent1"/>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AW</a:t>
            </a:r>
            <a:endParaRPr b="0" lang="en-US" sz="1500" spc="-1" strike="noStrike">
              <a:latin typeface="Arial"/>
            </a:endParaRPr>
          </a:p>
        </p:txBody>
      </p:sp>
      <p:sp>
        <p:nvSpPr>
          <p:cNvPr id="287" name="CustomShape 8"/>
          <p:cNvSpPr/>
          <p:nvPr/>
        </p:nvSpPr>
        <p:spPr>
          <a:xfrm>
            <a:off x="7132320" y="1554480"/>
            <a:ext cx="914040" cy="548280"/>
          </a:xfrm>
          <a:prstGeom prst="roundRect">
            <a:avLst>
              <a:gd name="adj" fmla="val 16667"/>
            </a:avLst>
          </a:prstGeom>
          <a:solidFill>
            <a:schemeClr val="accent1"/>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W</a:t>
            </a:r>
            <a:endParaRPr b="0" lang="en-US" sz="1500" spc="-1" strike="noStrike">
              <a:latin typeface="Arial"/>
            </a:endParaRPr>
          </a:p>
        </p:txBody>
      </p:sp>
      <p:sp>
        <p:nvSpPr>
          <p:cNvPr id="288" name="CustomShape 9"/>
          <p:cNvSpPr/>
          <p:nvPr/>
        </p:nvSpPr>
        <p:spPr>
          <a:xfrm>
            <a:off x="8183880" y="1554480"/>
            <a:ext cx="914040" cy="548280"/>
          </a:xfrm>
          <a:prstGeom prst="roundRect">
            <a:avLst>
              <a:gd name="adj" fmla="val 16667"/>
            </a:avLst>
          </a:prstGeom>
          <a:solidFill>
            <a:schemeClr val="accent1"/>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AR</a:t>
            </a:r>
            <a:endParaRPr b="0" lang="en-US" sz="1500" spc="-1" strike="noStrike">
              <a:latin typeface="Arial"/>
            </a:endParaRPr>
          </a:p>
        </p:txBody>
      </p:sp>
      <p:sp>
        <p:nvSpPr>
          <p:cNvPr id="289" name="CustomShape 10"/>
          <p:cNvSpPr/>
          <p:nvPr/>
        </p:nvSpPr>
        <p:spPr>
          <a:xfrm>
            <a:off x="9235440" y="1554480"/>
            <a:ext cx="914040" cy="548280"/>
          </a:xfrm>
          <a:prstGeom prst="roundRect">
            <a:avLst>
              <a:gd name="adj" fmla="val 16667"/>
            </a:avLst>
          </a:prstGeom>
          <a:solidFill>
            <a:schemeClr val="tx2"/>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B</a:t>
            </a:r>
            <a:endParaRPr b="0" lang="en-US" sz="1500" spc="-1" strike="noStrike">
              <a:latin typeface="Arial"/>
            </a:endParaRPr>
          </a:p>
        </p:txBody>
      </p:sp>
      <p:sp>
        <p:nvSpPr>
          <p:cNvPr id="290" name="CustomShape 11"/>
          <p:cNvSpPr/>
          <p:nvPr/>
        </p:nvSpPr>
        <p:spPr>
          <a:xfrm>
            <a:off x="10287000" y="1554480"/>
            <a:ext cx="914040" cy="548280"/>
          </a:xfrm>
          <a:prstGeom prst="roundRect">
            <a:avLst>
              <a:gd name="adj" fmla="val 16667"/>
            </a:avLst>
          </a:prstGeom>
          <a:solidFill>
            <a:schemeClr val="tx2"/>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R</a:t>
            </a:r>
            <a:endParaRPr b="0" lang="en-US" sz="1500" spc="-1" strike="noStrike">
              <a:latin typeface="Arial"/>
            </a:endParaRPr>
          </a:p>
        </p:txBody>
      </p:sp>
      <p:sp>
        <p:nvSpPr>
          <p:cNvPr id="291" name="CustomShape 12"/>
          <p:cNvSpPr/>
          <p:nvPr/>
        </p:nvSpPr>
        <p:spPr>
          <a:xfrm>
            <a:off x="6080760" y="2240280"/>
            <a:ext cx="3108600" cy="319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200" spc="-1" strike="noStrike">
                <a:solidFill>
                  <a:srgbClr val="5b6c8f"/>
                </a:solidFill>
                <a:latin typeface="Calibri"/>
              </a:rPr>
              <a:t>drive requests</a:t>
            </a:r>
            <a:endParaRPr b="0" lang="en-US" sz="1200" spc="-1" strike="noStrike">
              <a:latin typeface="Arial"/>
            </a:endParaRPr>
          </a:p>
        </p:txBody>
      </p:sp>
      <p:sp>
        <p:nvSpPr>
          <p:cNvPr id="292" name="CustomShape 13"/>
          <p:cNvSpPr/>
          <p:nvPr/>
        </p:nvSpPr>
        <p:spPr>
          <a:xfrm>
            <a:off x="9235440" y="2240280"/>
            <a:ext cx="2194200" cy="319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200" spc="-1" strike="noStrike">
                <a:solidFill>
                  <a:srgbClr val="5b6c8f"/>
                </a:solidFill>
                <a:latin typeface="Calibri"/>
              </a:rPr>
              <a:t>collect responses</a:t>
            </a:r>
            <a:endParaRPr b="0" lang="en-US" sz="1200" spc="-1" strike="noStrike">
              <a:latin typeface="Arial"/>
            </a:endParaRPr>
          </a:p>
        </p:txBody>
      </p:sp>
      <p:sp>
        <p:nvSpPr>
          <p:cNvPr id="293" name="CustomShape 14"/>
          <p:cNvSpPr/>
          <p:nvPr/>
        </p:nvSpPr>
        <p:spPr>
          <a:xfrm>
            <a:off x="548640" y="3154680"/>
            <a:ext cx="3565800" cy="2925720"/>
          </a:xfrm>
          <a:prstGeom prst="roundRect">
            <a:avLst>
              <a:gd name="adj" fmla="val 3750"/>
            </a:avLst>
          </a:prstGeom>
          <a:solidFill>
            <a:schemeClr val="bg2"/>
          </a:solidFill>
          <a:ln>
            <a:noFill/>
          </a:ln>
        </p:spPr>
        <p:style>
          <a:lnRef idx="0"/>
          <a:fillRef idx="0"/>
          <a:effectRef idx="0"/>
          <a:fontRef idx="minor"/>
        </p:style>
      </p:sp>
      <p:sp>
        <p:nvSpPr>
          <p:cNvPr id="294" name="CustomShape 15"/>
          <p:cNvSpPr/>
          <p:nvPr/>
        </p:nvSpPr>
        <p:spPr>
          <a:xfrm>
            <a:off x="822960" y="3429000"/>
            <a:ext cx="639720" cy="639720"/>
          </a:xfrm>
          <a:prstGeom prst="ellipse">
            <a:avLst/>
          </a:prstGeom>
          <a:solidFill>
            <a:schemeClr val="accent1"/>
          </a:solidFill>
          <a:ln>
            <a:noFill/>
          </a:ln>
        </p:spPr>
        <p:style>
          <a:lnRef idx="0"/>
          <a:fillRef idx="0"/>
          <a:effectRef idx="0"/>
          <a:fontRef idx="minor"/>
        </p:style>
      </p:sp>
      <p:pic>
        <p:nvPicPr>
          <p:cNvPr id="295" name="icon FaClock" descr="preencoded.png"/>
          <p:cNvPicPr/>
          <p:nvPr/>
        </p:nvPicPr>
        <p:blipFill>
          <a:blip r:embed="rId1"/>
          <a:stretch/>
        </p:blipFill>
        <p:spPr>
          <a:xfrm>
            <a:off x="983160" y="3589200"/>
            <a:ext cx="319680" cy="319680"/>
          </a:xfrm>
          <a:prstGeom prst="rect">
            <a:avLst/>
          </a:prstGeom>
          <a:ln>
            <a:noFill/>
          </a:ln>
        </p:spPr>
      </p:pic>
      <p:sp>
        <p:nvSpPr>
          <p:cNvPr id="296" name="CustomShape 16"/>
          <p:cNvSpPr/>
          <p:nvPr/>
        </p:nvSpPr>
        <p:spPr>
          <a:xfrm>
            <a:off x="822960" y="4251960"/>
            <a:ext cx="3017160" cy="6397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Negedge drive, posedge sample</a:t>
            </a:r>
            <a:endParaRPr b="0" lang="en-US" sz="1600" spc="-1" strike="noStrike">
              <a:latin typeface="Arial"/>
            </a:endParaRPr>
          </a:p>
        </p:txBody>
      </p:sp>
      <p:sp>
        <p:nvSpPr>
          <p:cNvPr id="297" name="CustomShape 17"/>
          <p:cNvSpPr/>
          <p:nvPr/>
        </p:nvSpPr>
        <p:spPr>
          <a:xfrm>
            <a:off x="822960" y="4937760"/>
            <a:ext cx="3017160" cy="10054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Handshakes are detected on the rising edge, so no transfer is ever counted twice.</a:t>
            </a:r>
            <a:endParaRPr b="0" lang="en-US" sz="1400" spc="-1" strike="noStrike">
              <a:latin typeface="Arial"/>
            </a:endParaRPr>
          </a:p>
        </p:txBody>
      </p:sp>
      <p:sp>
        <p:nvSpPr>
          <p:cNvPr id="298" name="CustomShape 18"/>
          <p:cNvSpPr/>
          <p:nvPr/>
        </p:nvSpPr>
        <p:spPr>
          <a:xfrm>
            <a:off x="4297680" y="3154680"/>
            <a:ext cx="3565800" cy="2925720"/>
          </a:xfrm>
          <a:prstGeom prst="roundRect">
            <a:avLst>
              <a:gd name="adj" fmla="val 3750"/>
            </a:avLst>
          </a:prstGeom>
          <a:solidFill>
            <a:schemeClr val="bg2"/>
          </a:solidFill>
          <a:ln>
            <a:noFill/>
          </a:ln>
        </p:spPr>
        <p:style>
          <a:lnRef idx="0"/>
          <a:fillRef idx="0"/>
          <a:effectRef idx="0"/>
          <a:fontRef idx="minor"/>
        </p:style>
      </p:sp>
      <p:sp>
        <p:nvSpPr>
          <p:cNvPr id="299" name="CustomShape 19"/>
          <p:cNvSpPr/>
          <p:nvPr/>
        </p:nvSpPr>
        <p:spPr>
          <a:xfrm>
            <a:off x="4572000" y="3429000"/>
            <a:ext cx="639720" cy="639720"/>
          </a:xfrm>
          <a:prstGeom prst="ellipse">
            <a:avLst/>
          </a:prstGeom>
          <a:solidFill>
            <a:schemeClr val="accent5"/>
          </a:solidFill>
          <a:ln>
            <a:noFill/>
          </a:ln>
        </p:spPr>
        <p:style>
          <a:lnRef idx="0"/>
          <a:fillRef idx="0"/>
          <a:effectRef idx="0"/>
          <a:fontRef idx="minor"/>
        </p:style>
      </p:sp>
      <p:pic>
        <p:nvPicPr>
          <p:cNvPr id="300" name="icon FaCodeBranch" descr="preencoded.png"/>
          <p:cNvPicPr/>
          <p:nvPr/>
        </p:nvPicPr>
        <p:blipFill>
          <a:blip r:embed="rId2"/>
          <a:stretch/>
        </p:blipFill>
        <p:spPr>
          <a:xfrm>
            <a:off x="4732200" y="3589200"/>
            <a:ext cx="319680" cy="319680"/>
          </a:xfrm>
          <a:prstGeom prst="rect">
            <a:avLst/>
          </a:prstGeom>
          <a:ln>
            <a:noFill/>
          </a:ln>
        </p:spPr>
      </p:pic>
      <p:sp>
        <p:nvSpPr>
          <p:cNvPr id="301" name="CustomShape 20"/>
          <p:cNvSpPr/>
          <p:nvPr/>
        </p:nvSpPr>
        <p:spPr>
          <a:xfrm>
            <a:off x="4572000" y="4251960"/>
            <a:ext cx="3017160" cy="6397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Channels run in parallel</a:t>
            </a:r>
            <a:endParaRPr b="0" lang="en-US" sz="1600" spc="-1" strike="noStrike">
              <a:latin typeface="Arial"/>
            </a:endParaRPr>
          </a:p>
        </p:txBody>
      </p:sp>
      <p:sp>
        <p:nvSpPr>
          <p:cNvPr id="302" name="CustomShape 21"/>
          <p:cNvSpPr/>
          <p:nvPr/>
        </p:nvSpPr>
        <p:spPr>
          <a:xfrm>
            <a:off x="4572000" y="4937760"/>
            <a:ext cx="3017160" cy="10054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AW, W and AR can be valid in the same cycle. The priority test depends on this.</a:t>
            </a:r>
            <a:endParaRPr b="0" lang="en-US" sz="1400" spc="-1" strike="noStrike">
              <a:latin typeface="Arial"/>
            </a:endParaRPr>
          </a:p>
        </p:txBody>
      </p:sp>
      <p:sp>
        <p:nvSpPr>
          <p:cNvPr id="303" name="CustomShape 22"/>
          <p:cNvSpPr/>
          <p:nvPr/>
        </p:nvSpPr>
        <p:spPr>
          <a:xfrm>
            <a:off x="8046720" y="3154680"/>
            <a:ext cx="3565800" cy="2925720"/>
          </a:xfrm>
          <a:prstGeom prst="roundRect">
            <a:avLst>
              <a:gd name="adj" fmla="val 3750"/>
            </a:avLst>
          </a:prstGeom>
          <a:solidFill>
            <a:schemeClr val="bg2"/>
          </a:solidFill>
          <a:ln>
            <a:noFill/>
          </a:ln>
        </p:spPr>
        <p:style>
          <a:lnRef idx="0"/>
          <a:fillRef idx="0"/>
          <a:effectRef idx="0"/>
          <a:fontRef idx="minor"/>
        </p:style>
      </p:sp>
      <p:sp>
        <p:nvSpPr>
          <p:cNvPr id="304" name="CustomShape 23"/>
          <p:cNvSpPr/>
          <p:nvPr/>
        </p:nvSpPr>
        <p:spPr>
          <a:xfrm>
            <a:off x="8321040" y="3429000"/>
            <a:ext cx="639720" cy="639720"/>
          </a:xfrm>
          <a:prstGeom prst="ellipse">
            <a:avLst/>
          </a:prstGeom>
          <a:solidFill>
            <a:schemeClr val="accent2"/>
          </a:solidFill>
          <a:ln>
            <a:noFill/>
          </a:ln>
        </p:spPr>
        <p:style>
          <a:lnRef idx="0"/>
          <a:fillRef idx="0"/>
          <a:effectRef idx="0"/>
          <a:fontRef idx="minor"/>
        </p:style>
      </p:sp>
      <p:pic>
        <p:nvPicPr>
          <p:cNvPr id="305" name="icon FaHourglassHalf" descr="preencoded.png"/>
          <p:cNvPicPr/>
          <p:nvPr/>
        </p:nvPicPr>
        <p:blipFill>
          <a:blip r:embed="rId3"/>
          <a:stretch/>
        </p:blipFill>
        <p:spPr>
          <a:xfrm>
            <a:off x="8481240" y="3589200"/>
            <a:ext cx="319680" cy="319680"/>
          </a:xfrm>
          <a:prstGeom prst="rect">
            <a:avLst/>
          </a:prstGeom>
          <a:ln>
            <a:noFill/>
          </a:ln>
        </p:spPr>
      </p:pic>
      <p:sp>
        <p:nvSpPr>
          <p:cNvPr id="306" name="CustomShape 24"/>
          <p:cNvSpPr/>
          <p:nvPr/>
        </p:nvSpPr>
        <p:spPr>
          <a:xfrm>
            <a:off x="8321040" y="4251960"/>
            <a:ext cx="3017160" cy="6397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One objection per item</a:t>
            </a:r>
            <a:endParaRPr b="0" lang="en-US" sz="1600" spc="-1" strike="noStrike">
              <a:latin typeface="Arial"/>
            </a:endParaRPr>
          </a:p>
        </p:txBody>
      </p:sp>
      <p:sp>
        <p:nvSpPr>
          <p:cNvPr id="307" name="CustomShape 25"/>
          <p:cNvSpPr/>
          <p:nvPr/>
        </p:nvSpPr>
        <p:spPr>
          <a:xfrm>
            <a:off x="8321040" y="4937760"/>
            <a:ext cx="3017160" cy="10054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Each item holds the phase open until its B or R response arrives, so a test never ends early.</a:t>
            </a:r>
            <a:endParaRPr b="0" lang="en-US" sz="1400" spc="-1" strike="noStrike">
              <a:latin typeface="Arial"/>
            </a:endParaRPr>
          </a:p>
        </p:txBody>
      </p:sp>
      <p:sp>
        <p:nvSpPr>
          <p:cNvPr id="308" name="TextShape 26"/>
          <p:cNvSpPr txBox="1"/>
          <p:nvPr/>
        </p:nvSpPr>
        <p:spPr>
          <a:xfrm>
            <a:off x="11064240" y="6419160"/>
            <a:ext cx="548280" cy="273960"/>
          </a:xfrm>
          <a:prstGeom prst="rect">
            <a:avLst/>
          </a:prstGeom>
          <a:noFill/>
          <a:ln>
            <a:noFill/>
          </a:ln>
        </p:spPr>
        <p:txBody>
          <a:bodyPr lIns="90000" rIns="90000" tIns="45000" bIns="45000">
            <a:noAutofit/>
          </a:bodyPr>
          <a:p>
            <a:pPr algn="r">
              <a:lnSpc>
                <a:spcPct val="100000"/>
              </a:lnSpc>
            </a:pPr>
            <a:fld id="{A97785D9-B7BA-4A70-9633-0991DA20EBEA}" type="slidenum">
              <a:rPr b="0" lang="en-US" sz="1000" spc="-1" strike="noStrike">
                <a:solidFill>
                  <a:srgbClr val="5b6c8f"/>
                </a:solidFill>
                <a:latin typeface="Calibri"/>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TextShape 1"/>
          <p:cNvSpPr txBox="1"/>
          <p:nvPr/>
        </p:nvSpPr>
        <p:spPr>
          <a:xfrm>
            <a:off x="548640" y="365760"/>
            <a:ext cx="11063880" cy="731160"/>
          </a:xfrm>
          <a:prstGeom prst="rect">
            <a:avLst/>
          </a:prstGeom>
          <a:noFill/>
          <a:ln>
            <a:noFill/>
          </a:ln>
        </p:spPr>
        <p:txBody>
          <a:bodyPr lIns="0" rIns="0" tIns="0" bIns="0" anchor="ctr">
            <a:noAutofit/>
          </a:bodyPr>
          <a:p>
            <a:pPr algn="ctr">
              <a:lnSpc>
                <a:spcPct val="100000"/>
              </a:lnSpc>
              <a:tabLst>
                <a:tab algn="l" pos="0"/>
              </a:tabLst>
            </a:pPr>
            <a:r>
              <a:rPr b="1" lang="en-US" sz="3400" spc="-1" strike="noStrike">
                <a:solidFill>
                  <a:srgbClr val="0f1b2d"/>
                </a:solidFill>
                <a:latin typeface="Cambria"/>
              </a:rPr>
              <a:t>APB agent: a </a:t>
            </a:r>
            <a:r>
              <a:rPr b="1" lang="en-US" sz="3400" spc="-1" strike="noStrike">
                <a:solidFill>
                  <a:srgbClr val="0f1b2d"/>
                </a:solidFill>
                <a:latin typeface="Cambria"/>
              </a:rPr>
              <a:t>reactive slave</a:t>
            </a:r>
            <a:endParaRPr b="0" lang="en-US" sz="3400" spc="-1" strike="noStrike">
              <a:solidFill>
                <a:srgbClr val="0f1b2d"/>
              </a:solidFill>
              <a:latin typeface="Calibri"/>
            </a:endParaRPr>
          </a:p>
        </p:txBody>
      </p:sp>
      <p:sp>
        <p:nvSpPr>
          <p:cNvPr id="310" name="CustomShape 2"/>
          <p:cNvSpPr/>
          <p:nvPr/>
        </p:nvSpPr>
        <p:spPr>
          <a:xfrm>
            <a:off x="548640" y="1371600"/>
            <a:ext cx="5486040" cy="2739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400" spc="-1" strike="noStrike">
                <a:solidFill>
                  <a:srgbClr val="0f1b2d"/>
                </a:solidFill>
                <a:latin typeface="Calibri"/>
              </a:rPr>
              <a:t>Example with two wait states</a:t>
            </a:r>
            <a:endParaRPr b="0" lang="en-US" sz="1400" spc="-1" strike="noStrike">
              <a:latin typeface="Arial"/>
            </a:endParaRPr>
          </a:p>
        </p:txBody>
      </p:sp>
      <p:sp>
        <p:nvSpPr>
          <p:cNvPr id="311" name="CustomShape 3"/>
          <p:cNvSpPr/>
          <p:nvPr/>
        </p:nvSpPr>
        <p:spPr>
          <a:xfrm>
            <a:off x="2011680" y="1783080"/>
            <a:ext cx="914040" cy="27396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200" spc="-1" strike="noStrike">
                <a:solidFill>
                  <a:srgbClr val="5b6c8f"/>
                </a:solidFill>
                <a:latin typeface="Calibri"/>
              </a:rPr>
              <a:t>cycle 1</a:t>
            </a:r>
            <a:endParaRPr b="0" lang="en-US" sz="1200" spc="-1" strike="noStrike">
              <a:latin typeface="Arial"/>
            </a:endParaRPr>
          </a:p>
        </p:txBody>
      </p:sp>
      <p:sp>
        <p:nvSpPr>
          <p:cNvPr id="312" name="CustomShape 4"/>
          <p:cNvSpPr/>
          <p:nvPr/>
        </p:nvSpPr>
        <p:spPr>
          <a:xfrm>
            <a:off x="3017520" y="1783080"/>
            <a:ext cx="914040" cy="27396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200" spc="-1" strike="noStrike">
                <a:solidFill>
                  <a:srgbClr val="5b6c8f"/>
                </a:solidFill>
                <a:latin typeface="Calibri"/>
              </a:rPr>
              <a:t>cycle 2</a:t>
            </a:r>
            <a:endParaRPr b="0" lang="en-US" sz="1200" spc="-1" strike="noStrike">
              <a:latin typeface="Arial"/>
            </a:endParaRPr>
          </a:p>
        </p:txBody>
      </p:sp>
      <p:sp>
        <p:nvSpPr>
          <p:cNvPr id="313" name="CustomShape 5"/>
          <p:cNvSpPr/>
          <p:nvPr/>
        </p:nvSpPr>
        <p:spPr>
          <a:xfrm>
            <a:off x="4023360" y="1783080"/>
            <a:ext cx="914040" cy="27396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200" spc="-1" strike="noStrike">
                <a:solidFill>
                  <a:srgbClr val="5b6c8f"/>
                </a:solidFill>
                <a:latin typeface="Calibri"/>
              </a:rPr>
              <a:t>cycle 3</a:t>
            </a:r>
            <a:endParaRPr b="0" lang="en-US" sz="1200" spc="-1" strike="noStrike">
              <a:latin typeface="Arial"/>
            </a:endParaRPr>
          </a:p>
        </p:txBody>
      </p:sp>
      <p:sp>
        <p:nvSpPr>
          <p:cNvPr id="314" name="CustomShape 6"/>
          <p:cNvSpPr/>
          <p:nvPr/>
        </p:nvSpPr>
        <p:spPr>
          <a:xfrm>
            <a:off x="5029200" y="1783080"/>
            <a:ext cx="914040" cy="27396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200" spc="-1" strike="noStrike">
                <a:solidFill>
                  <a:srgbClr val="5b6c8f"/>
                </a:solidFill>
                <a:latin typeface="Calibri"/>
              </a:rPr>
              <a:t>cycle 4</a:t>
            </a:r>
            <a:endParaRPr b="0" lang="en-US" sz="1200" spc="-1" strike="noStrike">
              <a:latin typeface="Arial"/>
            </a:endParaRPr>
          </a:p>
        </p:txBody>
      </p:sp>
      <p:sp>
        <p:nvSpPr>
          <p:cNvPr id="315" name="CustomShape 7"/>
          <p:cNvSpPr/>
          <p:nvPr/>
        </p:nvSpPr>
        <p:spPr>
          <a:xfrm>
            <a:off x="548640" y="2240280"/>
            <a:ext cx="1371240" cy="45684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f1b2d"/>
                </a:solidFill>
                <a:latin typeface="Calibri"/>
              </a:rPr>
              <a:t>PENABLE</a:t>
            </a:r>
            <a:endParaRPr b="0" lang="en-US" sz="1400" spc="-1" strike="noStrike">
              <a:latin typeface="Arial"/>
            </a:endParaRPr>
          </a:p>
        </p:txBody>
      </p:sp>
      <p:sp>
        <p:nvSpPr>
          <p:cNvPr id="316" name="CustomShape 8"/>
          <p:cNvSpPr/>
          <p:nvPr/>
        </p:nvSpPr>
        <p:spPr>
          <a:xfrm>
            <a:off x="548640" y="2971800"/>
            <a:ext cx="1371240" cy="45684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f1b2d"/>
                </a:solidFill>
                <a:latin typeface="Calibri"/>
              </a:rPr>
              <a:t>PREADY</a:t>
            </a:r>
            <a:endParaRPr b="0" lang="en-US" sz="1400" spc="-1" strike="noStrike">
              <a:latin typeface="Arial"/>
            </a:endParaRPr>
          </a:p>
        </p:txBody>
      </p:sp>
      <p:sp>
        <p:nvSpPr>
          <p:cNvPr id="317" name="CustomShape 9"/>
          <p:cNvSpPr/>
          <p:nvPr/>
        </p:nvSpPr>
        <p:spPr>
          <a:xfrm>
            <a:off x="2011680" y="2194560"/>
            <a:ext cx="914040" cy="548280"/>
          </a:xfrm>
          <a:prstGeom prst="roundRect">
            <a:avLst>
              <a:gd name="adj" fmla="val 20000"/>
            </a:avLst>
          </a:prstGeom>
          <a:solidFill>
            <a:schemeClr val="accent2"/>
          </a:solidFill>
          <a:ln>
            <a:noFill/>
          </a:ln>
        </p:spPr>
        <p:style>
          <a:lnRef idx="0"/>
          <a:fillRef idx="0"/>
          <a:effectRef idx="0"/>
          <a:fontRef idx="minor"/>
        </p:style>
      </p:sp>
      <p:sp>
        <p:nvSpPr>
          <p:cNvPr id="318" name="CustomShape 10"/>
          <p:cNvSpPr/>
          <p:nvPr/>
        </p:nvSpPr>
        <p:spPr>
          <a:xfrm>
            <a:off x="3017520" y="2194560"/>
            <a:ext cx="914040" cy="548280"/>
          </a:xfrm>
          <a:prstGeom prst="roundRect">
            <a:avLst>
              <a:gd name="adj" fmla="val 20000"/>
            </a:avLst>
          </a:prstGeom>
          <a:solidFill>
            <a:schemeClr val="accent2"/>
          </a:solidFill>
          <a:ln>
            <a:noFill/>
          </a:ln>
        </p:spPr>
        <p:style>
          <a:lnRef idx="0"/>
          <a:fillRef idx="0"/>
          <a:effectRef idx="0"/>
          <a:fontRef idx="minor"/>
        </p:style>
      </p:sp>
      <p:sp>
        <p:nvSpPr>
          <p:cNvPr id="319" name="CustomShape 11"/>
          <p:cNvSpPr/>
          <p:nvPr/>
        </p:nvSpPr>
        <p:spPr>
          <a:xfrm>
            <a:off x="4023360" y="2194560"/>
            <a:ext cx="914040" cy="548280"/>
          </a:xfrm>
          <a:prstGeom prst="roundRect">
            <a:avLst>
              <a:gd name="adj" fmla="val 20000"/>
            </a:avLst>
          </a:prstGeom>
          <a:solidFill>
            <a:schemeClr val="accent2"/>
          </a:solidFill>
          <a:ln>
            <a:noFill/>
          </a:ln>
        </p:spPr>
        <p:style>
          <a:lnRef idx="0"/>
          <a:fillRef idx="0"/>
          <a:effectRef idx="0"/>
          <a:fontRef idx="minor"/>
        </p:style>
      </p:sp>
      <p:sp>
        <p:nvSpPr>
          <p:cNvPr id="320" name="CustomShape 12"/>
          <p:cNvSpPr/>
          <p:nvPr/>
        </p:nvSpPr>
        <p:spPr>
          <a:xfrm>
            <a:off x="5029200" y="2194560"/>
            <a:ext cx="914040" cy="548280"/>
          </a:xfrm>
          <a:prstGeom prst="roundRect">
            <a:avLst>
              <a:gd name="adj" fmla="val 20000"/>
            </a:avLst>
          </a:prstGeom>
          <a:solidFill>
            <a:schemeClr val="bg2"/>
          </a:solidFill>
          <a:ln>
            <a:noFill/>
          </a:ln>
        </p:spPr>
        <p:style>
          <a:lnRef idx="0"/>
          <a:fillRef idx="0"/>
          <a:effectRef idx="0"/>
          <a:fontRef idx="minor"/>
        </p:style>
      </p:sp>
      <p:sp>
        <p:nvSpPr>
          <p:cNvPr id="321" name="CustomShape 13"/>
          <p:cNvSpPr/>
          <p:nvPr/>
        </p:nvSpPr>
        <p:spPr>
          <a:xfrm>
            <a:off x="2011680" y="2926080"/>
            <a:ext cx="914040" cy="548280"/>
          </a:xfrm>
          <a:prstGeom prst="roundRect">
            <a:avLst>
              <a:gd name="adj" fmla="val 20000"/>
            </a:avLst>
          </a:prstGeom>
          <a:solidFill>
            <a:schemeClr val="bg2"/>
          </a:solidFill>
          <a:ln>
            <a:noFill/>
          </a:ln>
        </p:spPr>
        <p:style>
          <a:lnRef idx="0"/>
          <a:fillRef idx="0"/>
          <a:effectRef idx="0"/>
          <a:fontRef idx="minor"/>
        </p:style>
      </p:sp>
      <p:sp>
        <p:nvSpPr>
          <p:cNvPr id="322" name="CustomShape 14"/>
          <p:cNvSpPr/>
          <p:nvPr/>
        </p:nvSpPr>
        <p:spPr>
          <a:xfrm>
            <a:off x="3017520" y="2926080"/>
            <a:ext cx="914040" cy="548280"/>
          </a:xfrm>
          <a:prstGeom prst="roundRect">
            <a:avLst>
              <a:gd name="adj" fmla="val 20000"/>
            </a:avLst>
          </a:prstGeom>
          <a:solidFill>
            <a:schemeClr val="bg2"/>
          </a:solidFill>
          <a:ln>
            <a:noFill/>
          </a:ln>
        </p:spPr>
        <p:style>
          <a:lnRef idx="0"/>
          <a:fillRef idx="0"/>
          <a:effectRef idx="0"/>
          <a:fontRef idx="minor"/>
        </p:style>
      </p:sp>
      <p:sp>
        <p:nvSpPr>
          <p:cNvPr id="323" name="CustomShape 15"/>
          <p:cNvSpPr/>
          <p:nvPr/>
        </p:nvSpPr>
        <p:spPr>
          <a:xfrm>
            <a:off x="4023360" y="2926080"/>
            <a:ext cx="914040" cy="548280"/>
          </a:xfrm>
          <a:prstGeom prst="roundRect">
            <a:avLst>
              <a:gd name="adj" fmla="val 20000"/>
            </a:avLst>
          </a:prstGeom>
          <a:solidFill>
            <a:schemeClr val="accent1"/>
          </a:solidFill>
          <a:ln>
            <a:noFill/>
          </a:ln>
        </p:spPr>
        <p:style>
          <a:lnRef idx="0"/>
          <a:fillRef idx="0"/>
          <a:effectRef idx="0"/>
          <a:fontRef idx="minor"/>
        </p:style>
      </p:sp>
      <p:sp>
        <p:nvSpPr>
          <p:cNvPr id="324" name="CustomShape 16"/>
          <p:cNvSpPr/>
          <p:nvPr/>
        </p:nvSpPr>
        <p:spPr>
          <a:xfrm>
            <a:off x="5029200" y="2926080"/>
            <a:ext cx="914040" cy="548280"/>
          </a:xfrm>
          <a:prstGeom prst="roundRect">
            <a:avLst>
              <a:gd name="adj" fmla="val 20000"/>
            </a:avLst>
          </a:prstGeom>
          <a:solidFill>
            <a:schemeClr val="bg2"/>
          </a:solidFill>
          <a:ln>
            <a:noFill/>
          </a:ln>
        </p:spPr>
        <p:style>
          <a:lnRef idx="0"/>
          <a:fillRef idx="0"/>
          <a:effectRef idx="0"/>
          <a:fontRef idx="minor"/>
        </p:style>
      </p:sp>
      <p:sp>
        <p:nvSpPr>
          <p:cNvPr id="325" name="CustomShape 17"/>
          <p:cNvSpPr/>
          <p:nvPr/>
        </p:nvSpPr>
        <p:spPr>
          <a:xfrm>
            <a:off x="3566160" y="3566160"/>
            <a:ext cx="1462680" cy="27396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200" spc="-1" strike="noStrike">
                <a:solidFill>
                  <a:srgbClr val="5b6c8f"/>
                </a:solidFill>
                <a:latin typeface="Calibri"/>
              </a:rPr>
              <a:t>transfer completes</a:t>
            </a:r>
            <a:endParaRPr b="0" lang="en-US" sz="1200" spc="-1" strike="noStrike">
              <a:latin typeface="Arial"/>
            </a:endParaRPr>
          </a:p>
        </p:txBody>
      </p:sp>
      <p:sp>
        <p:nvSpPr>
          <p:cNvPr id="326" name="CustomShape 18"/>
          <p:cNvSpPr/>
          <p:nvPr/>
        </p:nvSpPr>
        <p:spPr>
          <a:xfrm>
            <a:off x="548640" y="4114800"/>
            <a:ext cx="6034680" cy="1919880"/>
          </a:xfrm>
          <a:prstGeom prst="roundRect">
            <a:avLst>
              <a:gd name="adj" fmla="val 5714"/>
            </a:avLst>
          </a:prstGeom>
          <a:solidFill>
            <a:schemeClr val="bg2"/>
          </a:solidFill>
          <a:ln>
            <a:noFill/>
          </a:ln>
        </p:spPr>
        <p:style>
          <a:lnRef idx="0"/>
          <a:fillRef idx="0"/>
          <a:effectRef idx="0"/>
          <a:fontRef idx="minor"/>
        </p:style>
      </p:sp>
      <p:sp>
        <p:nvSpPr>
          <p:cNvPr id="327" name="CustomShape 19"/>
          <p:cNvSpPr/>
          <p:nvPr/>
        </p:nvSpPr>
        <p:spPr>
          <a:xfrm>
            <a:off x="822960" y="4297680"/>
            <a:ext cx="5486040" cy="319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PREADY low, then high</a:t>
            </a:r>
            <a:endParaRPr b="0" lang="en-US" sz="1600" spc="-1" strike="noStrike">
              <a:latin typeface="Arial"/>
            </a:endParaRPr>
          </a:p>
        </p:txBody>
      </p:sp>
      <p:sp>
        <p:nvSpPr>
          <p:cNvPr id="328" name="CustomShape 20"/>
          <p:cNvSpPr/>
          <p:nvPr/>
        </p:nvSpPr>
        <p:spPr>
          <a:xfrm>
            <a:off x="822960" y="4709160"/>
            <a:ext cx="5486040" cy="11883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PREADY stays low for two cycles while PENABLE is high, then goes high. The driver reacts on the negedge of the first PENABLE cycle, so zero wait states completes in one cycle.</a:t>
            </a:r>
            <a:endParaRPr b="0" lang="en-US" sz="1400" spc="-1" strike="noStrike">
              <a:latin typeface="Arial"/>
            </a:endParaRPr>
          </a:p>
        </p:txBody>
      </p:sp>
      <p:sp>
        <p:nvSpPr>
          <p:cNvPr id="329" name="CustomShape 21"/>
          <p:cNvSpPr/>
          <p:nvPr/>
        </p:nvSpPr>
        <p:spPr>
          <a:xfrm>
            <a:off x="6949440" y="1417320"/>
            <a:ext cx="639720" cy="639720"/>
          </a:xfrm>
          <a:prstGeom prst="ellipse">
            <a:avLst/>
          </a:prstGeom>
          <a:solidFill>
            <a:schemeClr val="accent2"/>
          </a:solidFill>
          <a:ln>
            <a:noFill/>
          </a:ln>
        </p:spPr>
        <p:style>
          <a:lnRef idx="0"/>
          <a:fillRef idx="0"/>
          <a:effectRef idx="0"/>
          <a:fontRef idx="minor"/>
        </p:style>
      </p:sp>
      <p:pic>
        <p:nvPicPr>
          <p:cNvPr id="330" name="icon FaExchangeAlt" descr="preencoded.png"/>
          <p:cNvPicPr/>
          <p:nvPr/>
        </p:nvPicPr>
        <p:blipFill>
          <a:blip r:embed="rId1"/>
          <a:stretch/>
        </p:blipFill>
        <p:spPr>
          <a:xfrm>
            <a:off x="7109640" y="1577520"/>
            <a:ext cx="319680" cy="319680"/>
          </a:xfrm>
          <a:prstGeom prst="rect">
            <a:avLst/>
          </a:prstGeom>
          <a:ln>
            <a:noFill/>
          </a:ln>
        </p:spPr>
      </p:pic>
      <p:sp>
        <p:nvSpPr>
          <p:cNvPr id="331" name="CustomShape 22"/>
          <p:cNvSpPr/>
          <p:nvPr/>
        </p:nvSpPr>
        <p:spPr>
          <a:xfrm>
            <a:off x="7818120" y="1417320"/>
            <a:ext cx="3794400" cy="319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Response items</a:t>
            </a:r>
            <a:endParaRPr b="0" lang="en-US" sz="1600" spc="-1" strike="noStrike">
              <a:latin typeface="Arial"/>
            </a:endParaRPr>
          </a:p>
        </p:txBody>
      </p:sp>
      <p:sp>
        <p:nvSpPr>
          <p:cNvPr id="332" name="CustomShape 23"/>
          <p:cNvSpPr/>
          <p:nvPr/>
        </p:nvSpPr>
        <p:spPr>
          <a:xfrm>
            <a:off x="7818120" y="1783080"/>
            <a:ext cx="3794400" cy="914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The sequencer supplies wait cycles, PSLVERR and PRDATA for each transfer through try_next_item().</a:t>
            </a:r>
            <a:endParaRPr b="0" lang="en-US" sz="1400" spc="-1" strike="noStrike">
              <a:latin typeface="Arial"/>
            </a:endParaRPr>
          </a:p>
        </p:txBody>
      </p:sp>
      <p:sp>
        <p:nvSpPr>
          <p:cNvPr id="333" name="CustomShape 24"/>
          <p:cNvSpPr/>
          <p:nvPr/>
        </p:nvSpPr>
        <p:spPr>
          <a:xfrm>
            <a:off x="6949440" y="2971800"/>
            <a:ext cx="639720" cy="639720"/>
          </a:xfrm>
          <a:prstGeom prst="ellipse">
            <a:avLst/>
          </a:prstGeom>
          <a:solidFill>
            <a:schemeClr val="accent1"/>
          </a:solidFill>
          <a:ln>
            <a:noFill/>
          </a:ln>
        </p:spPr>
        <p:style>
          <a:lnRef idx="0"/>
          <a:fillRef idx="0"/>
          <a:effectRef idx="0"/>
          <a:fontRef idx="minor"/>
        </p:style>
      </p:sp>
      <p:pic>
        <p:nvPicPr>
          <p:cNvPr id="334" name="icon FaDatabase" descr="preencoded.png"/>
          <p:cNvPicPr/>
          <p:nvPr/>
        </p:nvPicPr>
        <p:blipFill>
          <a:blip r:embed="rId2"/>
          <a:stretch/>
        </p:blipFill>
        <p:spPr>
          <a:xfrm>
            <a:off x="7109640" y="3132000"/>
            <a:ext cx="319680" cy="319680"/>
          </a:xfrm>
          <a:prstGeom prst="rect">
            <a:avLst/>
          </a:prstGeom>
          <a:ln>
            <a:noFill/>
          </a:ln>
        </p:spPr>
      </p:pic>
      <p:sp>
        <p:nvSpPr>
          <p:cNvPr id="335" name="CustomShape 25"/>
          <p:cNvSpPr/>
          <p:nvPr/>
        </p:nvSpPr>
        <p:spPr>
          <a:xfrm>
            <a:off x="7818120" y="2971800"/>
            <a:ext cx="3794400" cy="319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Memory model fallback</a:t>
            </a:r>
            <a:endParaRPr b="0" lang="en-US" sz="1600" spc="-1" strike="noStrike">
              <a:latin typeface="Arial"/>
            </a:endParaRPr>
          </a:p>
        </p:txBody>
      </p:sp>
      <p:sp>
        <p:nvSpPr>
          <p:cNvPr id="336" name="CustomShape 26"/>
          <p:cNvSpPr/>
          <p:nvPr/>
        </p:nvSpPr>
        <p:spPr>
          <a:xfrm>
            <a:off x="7818120" y="3337560"/>
            <a:ext cx="3794400" cy="914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With no item queued, defaults and a memory model answer. Writes are stored and reads return the stored word.</a:t>
            </a:r>
            <a:endParaRPr b="0" lang="en-US" sz="1400" spc="-1" strike="noStrike">
              <a:latin typeface="Arial"/>
            </a:endParaRPr>
          </a:p>
        </p:txBody>
      </p:sp>
      <p:sp>
        <p:nvSpPr>
          <p:cNvPr id="337" name="CustomShape 27"/>
          <p:cNvSpPr/>
          <p:nvPr/>
        </p:nvSpPr>
        <p:spPr>
          <a:xfrm>
            <a:off x="6949440" y="4526280"/>
            <a:ext cx="639720" cy="639720"/>
          </a:xfrm>
          <a:prstGeom prst="ellipse">
            <a:avLst/>
          </a:prstGeom>
          <a:solidFill>
            <a:schemeClr val="accent5"/>
          </a:solidFill>
          <a:ln>
            <a:noFill/>
          </a:ln>
        </p:spPr>
        <p:style>
          <a:lnRef idx="0"/>
          <a:fillRef idx="0"/>
          <a:effectRef idx="0"/>
          <a:fontRef idx="minor"/>
        </p:style>
      </p:sp>
      <p:pic>
        <p:nvPicPr>
          <p:cNvPr id="338" name="icon FaSearch" descr="preencoded.png"/>
          <p:cNvPicPr/>
          <p:nvPr/>
        </p:nvPicPr>
        <p:blipFill>
          <a:blip r:embed="rId3"/>
          <a:stretch/>
        </p:blipFill>
        <p:spPr>
          <a:xfrm>
            <a:off x="7109640" y="4686480"/>
            <a:ext cx="319680" cy="319680"/>
          </a:xfrm>
          <a:prstGeom prst="rect">
            <a:avLst/>
          </a:prstGeom>
          <a:ln>
            <a:noFill/>
          </a:ln>
        </p:spPr>
      </p:pic>
      <p:sp>
        <p:nvSpPr>
          <p:cNvPr id="339" name="CustomShape 28"/>
          <p:cNvSpPr/>
          <p:nvPr/>
        </p:nvSpPr>
        <p:spPr>
          <a:xfrm>
            <a:off x="7818120" y="4526280"/>
            <a:ext cx="3794400" cy="319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End-to-end read-back</a:t>
            </a:r>
            <a:endParaRPr b="0" lang="en-US" sz="1600" spc="-1" strike="noStrike">
              <a:latin typeface="Arial"/>
            </a:endParaRPr>
          </a:p>
        </p:txBody>
      </p:sp>
      <p:sp>
        <p:nvSpPr>
          <p:cNvPr id="340" name="CustomShape 29"/>
          <p:cNvSpPr/>
          <p:nvPr/>
        </p:nvSpPr>
        <p:spPr>
          <a:xfrm>
            <a:off x="7818120" y="4892040"/>
            <a:ext cx="3794400" cy="914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Because PRDATA comes from memory, a write followed by a read checks the whole path.</a:t>
            </a:r>
            <a:endParaRPr b="0" lang="en-US" sz="1400" spc="-1" strike="noStrike">
              <a:latin typeface="Arial"/>
            </a:endParaRPr>
          </a:p>
        </p:txBody>
      </p:sp>
      <p:sp>
        <p:nvSpPr>
          <p:cNvPr id="341" name="TextShape 30"/>
          <p:cNvSpPr txBox="1"/>
          <p:nvPr/>
        </p:nvSpPr>
        <p:spPr>
          <a:xfrm>
            <a:off x="11064240" y="6419160"/>
            <a:ext cx="548280" cy="273960"/>
          </a:xfrm>
          <a:prstGeom prst="rect">
            <a:avLst/>
          </a:prstGeom>
          <a:noFill/>
          <a:ln>
            <a:noFill/>
          </a:ln>
        </p:spPr>
        <p:txBody>
          <a:bodyPr lIns="90000" rIns="90000" tIns="45000" bIns="45000">
            <a:noAutofit/>
          </a:bodyPr>
          <a:p>
            <a:pPr algn="r">
              <a:lnSpc>
                <a:spcPct val="100000"/>
              </a:lnSpc>
            </a:pPr>
            <a:fld id="{244F927E-7C35-4256-AEAB-AD1C1C9C19BC}" type="slidenum">
              <a:rPr b="0" lang="en-US" sz="1000" spc="-1" strike="noStrike">
                <a:solidFill>
                  <a:srgbClr val="5b6c8f"/>
                </a:solidFill>
                <a:latin typeface="Calibri"/>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TextShape 1"/>
          <p:cNvSpPr txBox="1"/>
          <p:nvPr/>
        </p:nvSpPr>
        <p:spPr>
          <a:xfrm>
            <a:off x="548640" y="365760"/>
            <a:ext cx="11063880" cy="731160"/>
          </a:xfrm>
          <a:prstGeom prst="rect">
            <a:avLst/>
          </a:prstGeom>
          <a:noFill/>
          <a:ln>
            <a:noFill/>
          </a:ln>
        </p:spPr>
        <p:txBody>
          <a:bodyPr lIns="0" rIns="0" tIns="0" bIns="0" anchor="ctr">
            <a:noAutofit/>
          </a:bodyPr>
          <a:p>
            <a:pPr algn="ctr">
              <a:lnSpc>
                <a:spcPct val="100000"/>
              </a:lnSpc>
              <a:tabLst>
                <a:tab algn="l" pos="0"/>
              </a:tabLst>
            </a:pPr>
            <a:r>
              <a:rPr b="1" lang="en-US" sz="3400" spc="-1" strike="noStrike">
                <a:solidFill>
                  <a:srgbClr val="0f1b2d"/>
                </a:solidFill>
                <a:latin typeface="Cambria"/>
              </a:rPr>
              <a:t>Scoreboard: expected vs actual</a:t>
            </a:r>
            <a:endParaRPr b="0" lang="en-US" sz="3400" spc="-1" strike="noStrike">
              <a:solidFill>
                <a:srgbClr val="0f1b2d"/>
              </a:solidFill>
              <a:latin typeface="Calibri"/>
            </a:endParaRPr>
          </a:p>
        </p:txBody>
      </p:sp>
      <p:sp>
        <p:nvSpPr>
          <p:cNvPr id="343" name="CustomShape 2"/>
          <p:cNvSpPr/>
          <p:nvPr/>
        </p:nvSpPr>
        <p:spPr>
          <a:xfrm>
            <a:off x="548640" y="1325880"/>
            <a:ext cx="5394600" cy="3654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800" spc="-1" strike="noStrike">
                <a:solidFill>
                  <a:srgbClr val="12806e"/>
                </a:solidFill>
                <a:latin typeface="Calibri"/>
              </a:rPr>
              <a:t>Write: AXI to APB</a:t>
            </a:r>
            <a:endParaRPr b="0" lang="en-US" sz="1800" spc="-1" strike="noStrike">
              <a:latin typeface="Arial"/>
            </a:endParaRPr>
          </a:p>
        </p:txBody>
      </p:sp>
      <p:sp>
        <p:nvSpPr>
          <p:cNvPr id="344" name="CustomShape 3"/>
          <p:cNvSpPr/>
          <p:nvPr/>
        </p:nvSpPr>
        <p:spPr>
          <a:xfrm>
            <a:off x="6217920" y="1325880"/>
            <a:ext cx="5394600" cy="3654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800" spc="-1" strike="noStrike">
                <a:solidFill>
                  <a:srgbClr val="d14a22"/>
                </a:solidFill>
                <a:latin typeface="Calibri"/>
              </a:rPr>
              <a:t>Read: APB to AXI</a:t>
            </a:r>
            <a:endParaRPr b="0" lang="en-US" sz="1800" spc="-1" strike="noStrike">
              <a:latin typeface="Arial"/>
            </a:endParaRPr>
          </a:p>
        </p:txBody>
      </p:sp>
      <p:graphicFrame>
        <p:nvGraphicFramePr>
          <p:cNvPr id="345" name="Table 4"/>
          <p:cNvGraphicFramePr/>
          <p:nvPr/>
        </p:nvGraphicFramePr>
        <p:xfrm>
          <a:off x="548640" y="1828800"/>
          <a:ext cx="5394600" cy="2514240"/>
        </p:xfrm>
        <a:graphic>
          <a:graphicData uri="http://schemas.openxmlformats.org/drawingml/2006/table">
            <a:tbl>
              <a:tblPr/>
              <a:tblGrid>
                <a:gridCol w="1188720"/>
                <a:gridCol w="2103120"/>
                <a:gridCol w="2103120"/>
              </a:tblGrid>
              <a:tr h="502920">
                <a:tc>
                  <a:txBody>
                    <a:bodyPr anchor="ctr">
                      <a:noAutofit/>
                    </a:bodyPr>
                    <a:p>
                      <a:pPr>
                        <a:lnSpc>
                          <a:spcPct val="100000"/>
                        </a:lnSpc>
                        <a:tabLst>
                          <a:tab algn="l" pos="0"/>
                        </a:tabLst>
                      </a:pPr>
                      <a:r>
                        <a:rPr b="1" lang="en-US" sz="1400" spc="-1" strike="noStrike">
                          <a:solidFill>
                            <a:srgbClr val="ffffff"/>
                          </a:solidFill>
                          <a:latin typeface="Calibri"/>
                        </a:rPr>
                        <a:t>Check</a:t>
                      </a:r>
                      <a:endParaRPr b="0" lang="en-US" sz="1400" spc="-1" strike="noStrike">
                        <a:latin typeface="Arial"/>
                      </a:endParaRPr>
                    </a:p>
                  </a:txBody>
                  <a:tcPr marL="91440" marR="91440">
                    <a:solidFill>
                      <a:srgbClr val="1b2b45"/>
                    </a:solidFill>
                  </a:tcPr>
                </a:tc>
                <a:tc>
                  <a:txBody>
                    <a:bodyPr anchor="ctr">
                      <a:noAutofit/>
                    </a:bodyPr>
                    <a:p>
                      <a:pPr>
                        <a:lnSpc>
                          <a:spcPct val="100000"/>
                        </a:lnSpc>
                        <a:tabLst>
                          <a:tab algn="l" pos="0"/>
                        </a:tabLst>
                      </a:pPr>
                      <a:r>
                        <a:rPr b="1" lang="en-US" sz="1400" spc="-1" strike="noStrike">
                          <a:solidFill>
                            <a:srgbClr val="ffffff"/>
                          </a:solidFill>
                          <a:latin typeface="Calibri"/>
                        </a:rPr>
                        <a:t>Expected</a:t>
                      </a:r>
                      <a:endParaRPr b="0" lang="en-US" sz="1400" spc="-1" strike="noStrike">
                        <a:latin typeface="Arial"/>
                      </a:endParaRPr>
                    </a:p>
                  </a:txBody>
                  <a:tcPr marL="91440" marR="91440">
                    <a:solidFill>
                      <a:srgbClr val="1b2b45"/>
                    </a:solidFill>
                  </a:tcPr>
                </a:tc>
                <a:tc>
                  <a:txBody>
                    <a:bodyPr anchor="ctr">
                      <a:noAutofit/>
                    </a:bodyPr>
                    <a:p>
                      <a:pPr>
                        <a:lnSpc>
                          <a:spcPct val="100000"/>
                        </a:lnSpc>
                        <a:tabLst>
                          <a:tab algn="l" pos="0"/>
                        </a:tabLst>
                      </a:pPr>
                      <a:r>
                        <a:rPr b="1" lang="en-US" sz="1400" spc="-1" strike="noStrike">
                          <a:solidFill>
                            <a:srgbClr val="ffffff"/>
                          </a:solidFill>
                          <a:latin typeface="Calibri"/>
                        </a:rPr>
                        <a:t>Actual</a:t>
                      </a:r>
                      <a:endParaRPr b="0" lang="en-US" sz="1400" spc="-1" strike="noStrike">
                        <a:latin typeface="Arial"/>
                      </a:endParaRPr>
                    </a:p>
                  </a:txBody>
                  <a:tcPr marL="91440" marR="91440">
                    <a:solidFill>
                      <a:srgbClr val="1b2b45"/>
                    </a:solidFill>
                  </a:tcPr>
                </a:tc>
              </a:tr>
              <a:tr h="502920">
                <a:tc>
                  <a:txBody>
                    <a:bodyPr anchor="ctr">
                      <a:noAutofit/>
                    </a:bodyPr>
                    <a:p>
                      <a:pPr>
                        <a:lnSpc>
                          <a:spcPct val="100000"/>
                        </a:lnSpc>
                        <a:tabLst>
                          <a:tab algn="l" pos="0"/>
                        </a:tabLst>
                      </a:pPr>
                      <a:r>
                        <a:rPr b="1" lang="en-US" sz="1400" spc="-1" strike="noStrike">
                          <a:solidFill>
                            <a:srgbClr val="0f1b2d"/>
                          </a:solidFill>
                          <a:latin typeface="Calibri"/>
                        </a:rPr>
                        <a:t>Address</a:t>
                      </a:r>
                      <a:endParaRPr b="0" lang="en-US" sz="1400" spc="-1" strike="noStrike">
                        <a:latin typeface="Arial"/>
                      </a:endParaRPr>
                    </a:p>
                  </a:txBody>
                  <a:tcPr marL="91440" marR="91440">
                    <a:solidFill>
                      <a:srgbClr val="f3f6fa"/>
                    </a:solidFill>
                  </a:tcPr>
                </a:tc>
                <a:tc>
                  <a:txBody>
                    <a:bodyPr anchor="ctr">
                      <a:noAutofit/>
                    </a:bodyPr>
                    <a:p>
                      <a:pPr>
                        <a:lnSpc>
                          <a:spcPct val="100000"/>
                        </a:lnSpc>
                        <a:tabLst>
                          <a:tab algn="l" pos="0"/>
                        </a:tabLst>
                      </a:pPr>
                      <a:r>
                        <a:rPr b="0" lang="en-US" sz="1400" spc="-1" strike="noStrike">
                          <a:solidFill>
                            <a:srgbClr val="0f1b2d"/>
                          </a:solidFill>
                          <a:latin typeface="Calibri"/>
                        </a:rPr>
                        <a:t>AWADDR (AXI monitor)</a:t>
                      </a:r>
                      <a:endParaRPr b="0" lang="en-US" sz="1400" spc="-1" strike="noStrike">
                        <a:latin typeface="Arial"/>
                      </a:endParaRPr>
                    </a:p>
                  </a:txBody>
                  <a:tcPr marL="91440" marR="91440">
                    <a:solidFill>
                      <a:srgbClr val="f3f6fa"/>
                    </a:solidFill>
                  </a:tcPr>
                </a:tc>
                <a:tc>
                  <a:txBody>
                    <a:bodyPr anchor="ctr">
                      <a:noAutofit/>
                    </a:bodyPr>
                    <a:p>
                      <a:pPr>
                        <a:lnSpc>
                          <a:spcPct val="100000"/>
                        </a:lnSpc>
                        <a:tabLst>
                          <a:tab algn="l" pos="0"/>
                        </a:tabLst>
                      </a:pPr>
                      <a:r>
                        <a:rPr b="0" lang="en-US" sz="1400" spc="-1" strike="noStrike">
                          <a:solidFill>
                            <a:srgbClr val="0f1b2d"/>
                          </a:solidFill>
                          <a:latin typeface="Calibri"/>
                        </a:rPr>
                        <a:t>PADDR (APB monitor)</a:t>
                      </a:r>
                      <a:endParaRPr b="0" lang="en-US" sz="1400" spc="-1" strike="noStrike">
                        <a:latin typeface="Arial"/>
                      </a:endParaRPr>
                    </a:p>
                  </a:txBody>
                  <a:tcPr marL="91440" marR="91440">
                    <a:solidFill>
                      <a:srgbClr val="f3f6fa"/>
                    </a:solidFill>
                  </a:tcPr>
                </a:tc>
              </a:tr>
              <a:tr h="502920">
                <a:tc>
                  <a:txBody>
                    <a:bodyPr anchor="ctr">
                      <a:noAutofit/>
                    </a:bodyPr>
                    <a:p>
                      <a:pPr>
                        <a:lnSpc>
                          <a:spcPct val="100000"/>
                        </a:lnSpc>
                        <a:tabLst>
                          <a:tab algn="l" pos="0"/>
                        </a:tabLst>
                      </a:pPr>
                      <a:r>
                        <a:rPr b="1" lang="en-US" sz="1400" spc="-1" strike="noStrike">
                          <a:solidFill>
                            <a:srgbClr val="0f1b2d"/>
                          </a:solidFill>
                          <a:latin typeface="Calibri"/>
                        </a:rPr>
                        <a:t>Data</a:t>
                      </a:r>
                      <a:endParaRPr b="0" lang="en-US" sz="1400" spc="-1" strike="noStrike">
                        <a:latin typeface="Arial"/>
                      </a:endParaRPr>
                    </a:p>
                  </a:txBody>
                  <a:tcPr marL="91440" marR="91440">
                    <a:solidFill>
                      <a:srgbClr val="ffffff"/>
                    </a:solidFill>
                  </a:tcPr>
                </a:tc>
                <a:tc>
                  <a:txBody>
                    <a:bodyPr anchor="ctr">
                      <a:noAutofit/>
                    </a:bodyPr>
                    <a:p>
                      <a:pPr>
                        <a:lnSpc>
                          <a:spcPct val="100000"/>
                        </a:lnSpc>
                        <a:tabLst>
                          <a:tab algn="l" pos="0"/>
                        </a:tabLst>
                      </a:pPr>
                      <a:r>
                        <a:rPr b="0" lang="en-US" sz="1400" spc="-1" strike="noStrike">
                          <a:solidFill>
                            <a:srgbClr val="0f1b2d"/>
                          </a:solidFill>
                          <a:latin typeface="Calibri"/>
                        </a:rPr>
                        <a:t>WDATA (AXI monitor)</a:t>
                      </a:r>
                      <a:endParaRPr b="0" lang="en-US" sz="1400" spc="-1" strike="noStrike">
                        <a:latin typeface="Arial"/>
                      </a:endParaRPr>
                    </a:p>
                  </a:txBody>
                  <a:tcPr marL="91440" marR="91440">
                    <a:solidFill>
                      <a:srgbClr val="ffffff"/>
                    </a:solidFill>
                  </a:tcPr>
                </a:tc>
                <a:tc>
                  <a:txBody>
                    <a:bodyPr anchor="ctr">
                      <a:noAutofit/>
                    </a:bodyPr>
                    <a:p>
                      <a:pPr>
                        <a:lnSpc>
                          <a:spcPct val="100000"/>
                        </a:lnSpc>
                        <a:tabLst>
                          <a:tab algn="l" pos="0"/>
                        </a:tabLst>
                      </a:pPr>
                      <a:r>
                        <a:rPr b="0" lang="en-US" sz="1400" spc="-1" strike="noStrike">
                          <a:solidFill>
                            <a:srgbClr val="0f1b2d"/>
                          </a:solidFill>
                          <a:latin typeface="Calibri"/>
                        </a:rPr>
                        <a:t>PWDATA (APB monitor)</a:t>
                      </a:r>
                      <a:endParaRPr b="0" lang="en-US" sz="1400" spc="-1" strike="noStrike">
                        <a:latin typeface="Arial"/>
                      </a:endParaRPr>
                    </a:p>
                  </a:txBody>
                  <a:tcPr marL="91440" marR="91440">
                    <a:solidFill>
                      <a:srgbClr val="ffffff"/>
                    </a:solidFill>
                  </a:tcPr>
                </a:tc>
              </a:tr>
              <a:tr h="502920">
                <a:tc>
                  <a:txBody>
                    <a:bodyPr anchor="ctr">
                      <a:noAutofit/>
                    </a:bodyPr>
                    <a:p>
                      <a:pPr>
                        <a:lnSpc>
                          <a:spcPct val="100000"/>
                        </a:lnSpc>
                        <a:tabLst>
                          <a:tab algn="l" pos="0"/>
                        </a:tabLst>
                      </a:pPr>
                      <a:r>
                        <a:rPr b="1" lang="en-US" sz="1400" spc="-1" strike="noStrike">
                          <a:solidFill>
                            <a:srgbClr val="0f1b2d"/>
                          </a:solidFill>
                          <a:latin typeface="Calibri"/>
                        </a:rPr>
                        <a:t>Response</a:t>
                      </a:r>
                      <a:endParaRPr b="0" lang="en-US" sz="1400" spc="-1" strike="noStrike">
                        <a:latin typeface="Arial"/>
                      </a:endParaRPr>
                    </a:p>
                  </a:txBody>
                  <a:tcPr marL="91440" marR="91440">
                    <a:solidFill>
                      <a:srgbClr val="f3f6fa"/>
                    </a:solidFill>
                  </a:tcPr>
                </a:tc>
                <a:tc>
                  <a:txBody>
                    <a:bodyPr anchor="ctr">
                      <a:noAutofit/>
                    </a:bodyPr>
                    <a:p>
                      <a:pPr>
                        <a:lnSpc>
                          <a:spcPct val="100000"/>
                        </a:lnSpc>
                        <a:tabLst>
                          <a:tab algn="l" pos="0"/>
                        </a:tabLst>
                      </a:pPr>
                      <a:r>
                        <a:rPr b="0" lang="en-US" sz="1400" spc="-1" strike="noStrike">
                          <a:solidFill>
                            <a:srgbClr val="0f1b2d"/>
                          </a:solidFill>
                          <a:latin typeface="Calibri"/>
                        </a:rPr>
                        <a:t>OKAY (RTL behaviour)</a:t>
                      </a:r>
                      <a:endParaRPr b="0" lang="en-US" sz="1400" spc="-1" strike="noStrike">
                        <a:latin typeface="Arial"/>
                      </a:endParaRPr>
                    </a:p>
                  </a:txBody>
                  <a:tcPr marL="91440" marR="91440">
                    <a:solidFill>
                      <a:srgbClr val="f3f6fa"/>
                    </a:solidFill>
                  </a:tcPr>
                </a:tc>
                <a:tc>
                  <a:txBody>
                    <a:bodyPr anchor="ctr">
                      <a:noAutofit/>
                    </a:bodyPr>
                    <a:p>
                      <a:pPr>
                        <a:lnSpc>
                          <a:spcPct val="100000"/>
                        </a:lnSpc>
                        <a:tabLst>
                          <a:tab algn="l" pos="0"/>
                        </a:tabLst>
                      </a:pPr>
                      <a:r>
                        <a:rPr b="0" lang="en-US" sz="1400" spc="-1" strike="noStrike">
                          <a:solidFill>
                            <a:srgbClr val="0f1b2d"/>
                          </a:solidFill>
                          <a:latin typeface="Calibri"/>
                        </a:rPr>
                        <a:t>BRESP</a:t>
                      </a:r>
                      <a:endParaRPr b="0" lang="en-US" sz="1400" spc="-1" strike="noStrike">
                        <a:latin typeface="Arial"/>
                      </a:endParaRPr>
                    </a:p>
                  </a:txBody>
                  <a:tcPr marL="91440" marR="91440">
                    <a:solidFill>
                      <a:srgbClr val="f3f6fa"/>
                    </a:solidFill>
                  </a:tcPr>
                </a:tc>
              </a:tr>
              <a:tr h="502920">
                <a:tc>
                  <a:txBody>
                    <a:bodyPr anchor="ctr">
                      <a:noAutofit/>
                    </a:bodyPr>
                    <a:p>
                      <a:pPr>
                        <a:lnSpc>
                          <a:spcPct val="100000"/>
                        </a:lnSpc>
                        <a:tabLst>
                          <a:tab algn="l" pos="0"/>
                        </a:tabLst>
                      </a:pPr>
                      <a:r>
                        <a:rPr b="1" lang="en-US" sz="1400" spc="-1" strike="noStrike">
                          <a:solidFill>
                            <a:srgbClr val="0f1b2d"/>
                          </a:solidFill>
                          <a:latin typeface="Calibri"/>
                        </a:rPr>
                        <a:t>ID / USER</a:t>
                      </a:r>
                      <a:endParaRPr b="0" lang="en-US" sz="1400" spc="-1" strike="noStrike">
                        <a:latin typeface="Arial"/>
                      </a:endParaRPr>
                    </a:p>
                  </a:txBody>
                  <a:tcPr marL="91440" marR="91440">
                    <a:solidFill>
                      <a:srgbClr val="ffffff"/>
                    </a:solidFill>
                  </a:tcPr>
                </a:tc>
                <a:tc>
                  <a:txBody>
                    <a:bodyPr anchor="ctr">
                      <a:noAutofit/>
                    </a:bodyPr>
                    <a:p>
                      <a:pPr>
                        <a:lnSpc>
                          <a:spcPct val="100000"/>
                        </a:lnSpc>
                        <a:tabLst>
                          <a:tab algn="l" pos="0"/>
                        </a:tabLst>
                      </a:pPr>
                      <a:r>
                        <a:rPr b="0" lang="en-US" sz="1400" spc="-1" strike="noStrike">
                          <a:solidFill>
                            <a:srgbClr val="0f1b2d"/>
                          </a:solidFill>
                          <a:latin typeface="Calibri"/>
                        </a:rPr>
                        <a:t>AWID, AWUSER</a:t>
                      </a:r>
                      <a:endParaRPr b="0" lang="en-US" sz="1400" spc="-1" strike="noStrike">
                        <a:latin typeface="Arial"/>
                      </a:endParaRPr>
                    </a:p>
                  </a:txBody>
                  <a:tcPr marL="91440" marR="91440">
                    <a:solidFill>
                      <a:srgbClr val="ffffff"/>
                    </a:solidFill>
                  </a:tcPr>
                </a:tc>
                <a:tc>
                  <a:txBody>
                    <a:bodyPr anchor="ctr">
                      <a:noAutofit/>
                    </a:bodyPr>
                    <a:p>
                      <a:pPr>
                        <a:lnSpc>
                          <a:spcPct val="100000"/>
                        </a:lnSpc>
                        <a:tabLst>
                          <a:tab algn="l" pos="0"/>
                        </a:tabLst>
                      </a:pPr>
                      <a:r>
                        <a:rPr b="0" lang="en-US" sz="1400" spc="-1" strike="noStrike">
                          <a:solidFill>
                            <a:srgbClr val="0f1b2d"/>
                          </a:solidFill>
                          <a:latin typeface="Calibri"/>
                        </a:rPr>
                        <a:t>BID, BUSER</a:t>
                      </a:r>
                      <a:endParaRPr b="0" lang="en-US" sz="1400" spc="-1" strike="noStrike">
                        <a:latin typeface="Arial"/>
                      </a:endParaRPr>
                    </a:p>
                  </a:txBody>
                  <a:tcPr marL="91440" marR="91440">
                    <a:solidFill>
                      <a:srgbClr val="ffffff"/>
                    </a:solidFill>
                  </a:tcPr>
                </a:tc>
              </a:tr>
            </a:tbl>
          </a:graphicData>
        </a:graphic>
      </p:graphicFrame>
      <p:graphicFrame>
        <p:nvGraphicFramePr>
          <p:cNvPr id="346" name="Table 5"/>
          <p:cNvGraphicFramePr/>
          <p:nvPr/>
        </p:nvGraphicFramePr>
        <p:xfrm>
          <a:off x="6217920" y="1828800"/>
          <a:ext cx="5394600" cy="2514240"/>
        </p:xfrm>
        <a:graphic>
          <a:graphicData uri="http://schemas.openxmlformats.org/drawingml/2006/table">
            <a:tbl>
              <a:tblPr/>
              <a:tblGrid>
                <a:gridCol w="1188720"/>
                <a:gridCol w="2103120"/>
                <a:gridCol w="2103120"/>
              </a:tblGrid>
              <a:tr h="502920">
                <a:tc>
                  <a:txBody>
                    <a:bodyPr anchor="ctr">
                      <a:noAutofit/>
                    </a:bodyPr>
                    <a:p>
                      <a:pPr>
                        <a:lnSpc>
                          <a:spcPct val="100000"/>
                        </a:lnSpc>
                        <a:tabLst>
                          <a:tab algn="l" pos="0"/>
                        </a:tabLst>
                      </a:pPr>
                      <a:r>
                        <a:rPr b="1" lang="en-US" sz="1400" spc="-1" strike="noStrike">
                          <a:solidFill>
                            <a:srgbClr val="ffffff"/>
                          </a:solidFill>
                          <a:latin typeface="Calibri"/>
                        </a:rPr>
                        <a:t>Check</a:t>
                      </a:r>
                      <a:endParaRPr b="0" lang="en-US" sz="1400" spc="-1" strike="noStrike">
                        <a:latin typeface="Arial"/>
                      </a:endParaRPr>
                    </a:p>
                  </a:txBody>
                  <a:tcPr marL="91440" marR="91440">
                    <a:solidFill>
                      <a:srgbClr val="1b2b45"/>
                    </a:solidFill>
                  </a:tcPr>
                </a:tc>
                <a:tc>
                  <a:txBody>
                    <a:bodyPr anchor="ctr">
                      <a:noAutofit/>
                    </a:bodyPr>
                    <a:p>
                      <a:pPr>
                        <a:lnSpc>
                          <a:spcPct val="100000"/>
                        </a:lnSpc>
                        <a:tabLst>
                          <a:tab algn="l" pos="0"/>
                        </a:tabLst>
                      </a:pPr>
                      <a:r>
                        <a:rPr b="1" lang="en-US" sz="1400" spc="-1" strike="noStrike">
                          <a:solidFill>
                            <a:srgbClr val="ffffff"/>
                          </a:solidFill>
                          <a:latin typeface="Calibri"/>
                        </a:rPr>
                        <a:t>Expected</a:t>
                      </a:r>
                      <a:endParaRPr b="0" lang="en-US" sz="1400" spc="-1" strike="noStrike">
                        <a:latin typeface="Arial"/>
                      </a:endParaRPr>
                    </a:p>
                  </a:txBody>
                  <a:tcPr marL="91440" marR="91440">
                    <a:solidFill>
                      <a:srgbClr val="1b2b45"/>
                    </a:solidFill>
                  </a:tcPr>
                </a:tc>
                <a:tc>
                  <a:txBody>
                    <a:bodyPr anchor="ctr">
                      <a:noAutofit/>
                    </a:bodyPr>
                    <a:p>
                      <a:pPr>
                        <a:lnSpc>
                          <a:spcPct val="100000"/>
                        </a:lnSpc>
                        <a:tabLst>
                          <a:tab algn="l" pos="0"/>
                        </a:tabLst>
                      </a:pPr>
                      <a:r>
                        <a:rPr b="1" lang="en-US" sz="1400" spc="-1" strike="noStrike">
                          <a:solidFill>
                            <a:srgbClr val="ffffff"/>
                          </a:solidFill>
                          <a:latin typeface="Calibri"/>
                        </a:rPr>
                        <a:t>Actual</a:t>
                      </a:r>
                      <a:endParaRPr b="0" lang="en-US" sz="1400" spc="-1" strike="noStrike">
                        <a:latin typeface="Arial"/>
                      </a:endParaRPr>
                    </a:p>
                  </a:txBody>
                  <a:tcPr marL="91440" marR="91440">
                    <a:solidFill>
                      <a:srgbClr val="1b2b45"/>
                    </a:solidFill>
                  </a:tcPr>
                </a:tc>
              </a:tr>
              <a:tr h="502920">
                <a:tc>
                  <a:txBody>
                    <a:bodyPr anchor="ctr">
                      <a:noAutofit/>
                    </a:bodyPr>
                    <a:p>
                      <a:pPr>
                        <a:lnSpc>
                          <a:spcPct val="100000"/>
                        </a:lnSpc>
                        <a:tabLst>
                          <a:tab algn="l" pos="0"/>
                        </a:tabLst>
                      </a:pPr>
                      <a:r>
                        <a:rPr b="1" lang="en-US" sz="1400" spc="-1" strike="noStrike">
                          <a:solidFill>
                            <a:srgbClr val="0f1b2d"/>
                          </a:solidFill>
                          <a:latin typeface="Calibri"/>
                        </a:rPr>
                        <a:t>Address</a:t>
                      </a:r>
                      <a:endParaRPr b="0" lang="en-US" sz="1400" spc="-1" strike="noStrike">
                        <a:latin typeface="Arial"/>
                      </a:endParaRPr>
                    </a:p>
                  </a:txBody>
                  <a:tcPr marL="91440" marR="91440">
                    <a:solidFill>
                      <a:srgbClr val="f3f6fa"/>
                    </a:solidFill>
                  </a:tcPr>
                </a:tc>
                <a:tc>
                  <a:txBody>
                    <a:bodyPr anchor="ctr">
                      <a:noAutofit/>
                    </a:bodyPr>
                    <a:p>
                      <a:pPr>
                        <a:lnSpc>
                          <a:spcPct val="100000"/>
                        </a:lnSpc>
                        <a:tabLst>
                          <a:tab algn="l" pos="0"/>
                        </a:tabLst>
                      </a:pPr>
                      <a:r>
                        <a:rPr b="0" lang="en-US" sz="1400" spc="-1" strike="noStrike">
                          <a:solidFill>
                            <a:srgbClr val="0f1b2d"/>
                          </a:solidFill>
                          <a:latin typeface="Calibri"/>
                        </a:rPr>
                        <a:t>ARADDR (AXI monitor)</a:t>
                      </a:r>
                      <a:endParaRPr b="0" lang="en-US" sz="1400" spc="-1" strike="noStrike">
                        <a:latin typeface="Arial"/>
                      </a:endParaRPr>
                    </a:p>
                  </a:txBody>
                  <a:tcPr marL="91440" marR="91440">
                    <a:solidFill>
                      <a:srgbClr val="f3f6fa"/>
                    </a:solidFill>
                  </a:tcPr>
                </a:tc>
                <a:tc>
                  <a:txBody>
                    <a:bodyPr anchor="ctr">
                      <a:noAutofit/>
                    </a:bodyPr>
                    <a:p>
                      <a:pPr>
                        <a:lnSpc>
                          <a:spcPct val="100000"/>
                        </a:lnSpc>
                        <a:tabLst>
                          <a:tab algn="l" pos="0"/>
                        </a:tabLst>
                      </a:pPr>
                      <a:r>
                        <a:rPr b="0" lang="en-US" sz="1400" spc="-1" strike="noStrike">
                          <a:solidFill>
                            <a:srgbClr val="0f1b2d"/>
                          </a:solidFill>
                          <a:latin typeface="Calibri"/>
                        </a:rPr>
                        <a:t>PADDR (APB monitor)</a:t>
                      </a:r>
                      <a:endParaRPr b="0" lang="en-US" sz="1400" spc="-1" strike="noStrike">
                        <a:latin typeface="Arial"/>
                      </a:endParaRPr>
                    </a:p>
                  </a:txBody>
                  <a:tcPr marL="91440" marR="91440">
                    <a:solidFill>
                      <a:srgbClr val="f3f6fa"/>
                    </a:solidFill>
                  </a:tcPr>
                </a:tc>
              </a:tr>
              <a:tr h="502920">
                <a:tc>
                  <a:txBody>
                    <a:bodyPr anchor="ctr">
                      <a:noAutofit/>
                    </a:bodyPr>
                    <a:p>
                      <a:pPr>
                        <a:lnSpc>
                          <a:spcPct val="100000"/>
                        </a:lnSpc>
                        <a:tabLst>
                          <a:tab algn="l" pos="0"/>
                        </a:tabLst>
                      </a:pPr>
                      <a:r>
                        <a:rPr b="1" lang="en-US" sz="1400" spc="-1" strike="noStrike">
                          <a:solidFill>
                            <a:srgbClr val="0f1b2d"/>
                          </a:solidFill>
                          <a:latin typeface="Calibri"/>
                        </a:rPr>
                        <a:t>Data</a:t>
                      </a:r>
                      <a:endParaRPr b="0" lang="en-US" sz="1400" spc="-1" strike="noStrike">
                        <a:latin typeface="Arial"/>
                      </a:endParaRPr>
                    </a:p>
                  </a:txBody>
                  <a:tcPr marL="91440" marR="91440">
                    <a:solidFill>
                      <a:srgbClr val="ffffff"/>
                    </a:solidFill>
                  </a:tcPr>
                </a:tc>
                <a:tc>
                  <a:txBody>
                    <a:bodyPr anchor="ctr">
                      <a:noAutofit/>
                    </a:bodyPr>
                    <a:p>
                      <a:pPr>
                        <a:lnSpc>
                          <a:spcPct val="100000"/>
                        </a:lnSpc>
                        <a:tabLst>
                          <a:tab algn="l" pos="0"/>
                        </a:tabLst>
                      </a:pPr>
                      <a:r>
                        <a:rPr b="0" lang="en-US" sz="1400" spc="-1" strike="noStrike">
                          <a:solidFill>
                            <a:srgbClr val="0f1b2d"/>
                          </a:solidFill>
                          <a:latin typeface="Calibri"/>
                        </a:rPr>
                        <a:t>PRDATA (APB monitor)</a:t>
                      </a:r>
                      <a:endParaRPr b="0" lang="en-US" sz="1400" spc="-1" strike="noStrike">
                        <a:latin typeface="Arial"/>
                      </a:endParaRPr>
                    </a:p>
                  </a:txBody>
                  <a:tcPr marL="91440" marR="91440">
                    <a:solidFill>
                      <a:srgbClr val="ffffff"/>
                    </a:solidFill>
                  </a:tcPr>
                </a:tc>
                <a:tc>
                  <a:txBody>
                    <a:bodyPr anchor="ctr">
                      <a:noAutofit/>
                    </a:bodyPr>
                    <a:p>
                      <a:pPr>
                        <a:lnSpc>
                          <a:spcPct val="100000"/>
                        </a:lnSpc>
                        <a:tabLst>
                          <a:tab algn="l" pos="0"/>
                        </a:tabLst>
                      </a:pPr>
                      <a:r>
                        <a:rPr b="0" lang="en-US" sz="1400" spc="-1" strike="noStrike">
                          <a:solidFill>
                            <a:srgbClr val="0f1b2d"/>
                          </a:solidFill>
                          <a:latin typeface="Calibri"/>
                        </a:rPr>
                        <a:t>RDATA (AXI monitor)</a:t>
                      </a:r>
                      <a:endParaRPr b="0" lang="en-US" sz="1400" spc="-1" strike="noStrike">
                        <a:latin typeface="Arial"/>
                      </a:endParaRPr>
                    </a:p>
                  </a:txBody>
                  <a:tcPr marL="91440" marR="91440">
                    <a:solidFill>
                      <a:srgbClr val="ffffff"/>
                    </a:solidFill>
                  </a:tcPr>
                </a:tc>
              </a:tr>
              <a:tr h="502920">
                <a:tc>
                  <a:txBody>
                    <a:bodyPr anchor="ctr">
                      <a:noAutofit/>
                    </a:bodyPr>
                    <a:p>
                      <a:pPr>
                        <a:lnSpc>
                          <a:spcPct val="100000"/>
                        </a:lnSpc>
                        <a:tabLst>
                          <a:tab algn="l" pos="0"/>
                        </a:tabLst>
                      </a:pPr>
                      <a:r>
                        <a:rPr b="1" lang="en-US" sz="1400" spc="-1" strike="noStrike">
                          <a:solidFill>
                            <a:srgbClr val="0f1b2d"/>
                          </a:solidFill>
                          <a:latin typeface="Calibri"/>
                        </a:rPr>
                        <a:t>Response</a:t>
                      </a:r>
                      <a:endParaRPr b="0" lang="en-US" sz="1400" spc="-1" strike="noStrike">
                        <a:latin typeface="Arial"/>
                      </a:endParaRPr>
                    </a:p>
                  </a:txBody>
                  <a:tcPr marL="91440" marR="91440">
                    <a:solidFill>
                      <a:srgbClr val="f3f6fa"/>
                    </a:solidFill>
                  </a:tcPr>
                </a:tc>
                <a:tc>
                  <a:txBody>
                    <a:bodyPr anchor="ctr">
                      <a:noAutofit/>
                    </a:bodyPr>
                    <a:p>
                      <a:pPr>
                        <a:lnSpc>
                          <a:spcPct val="100000"/>
                        </a:lnSpc>
                        <a:tabLst>
                          <a:tab algn="l" pos="0"/>
                        </a:tabLst>
                      </a:pPr>
                      <a:r>
                        <a:rPr b="0" lang="en-US" sz="1400" spc="-1" strike="noStrike">
                          <a:solidFill>
                            <a:srgbClr val="0f1b2d"/>
                          </a:solidFill>
                          <a:latin typeface="Calibri"/>
                        </a:rPr>
                        <a:t>OKAY, RLAST = 1</a:t>
                      </a:r>
                      <a:endParaRPr b="0" lang="en-US" sz="1400" spc="-1" strike="noStrike">
                        <a:latin typeface="Arial"/>
                      </a:endParaRPr>
                    </a:p>
                  </a:txBody>
                  <a:tcPr marL="91440" marR="91440">
                    <a:solidFill>
                      <a:srgbClr val="f3f6fa"/>
                    </a:solidFill>
                  </a:tcPr>
                </a:tc>
                <a:tc>
                  <a:txBody>
                    <a:bodyPr anchor="ctr">
                      <a:noAutofit/>
                    </a:bodyPr>
                    <a:p>
                      <a:pPr>
                        <a:lnSpc>
                          <a:spcPct val="100000"/>
                        </a:lnSpc>
                        <a:tabLst>
                          <a:tab algn="l" pos="0"/>
                        </a:tabLst>
                      </a:pPr>
                      <a:r>
                        <a:rPr b="0" lang="en-US" sz="1400" spc="-1" strike="noStrike">
                          <a:solidFill>
                            <a:srgbClr val="0f1b2d"/>
                          </a:solidFill>
                          <a:latin typeface="Calibri"/>
                        </a:rPr>
                        <a:t>RRESP, RLAST</a:t>
                      </a:r>
                      <a:endParaRPr b="0" lang="en-US" sz="1400" spc="-1" strike="noStrike">
                        <a:latin typeface="Arial"/>
                      </a:endParaRPr>
                    </a:p>
                  </a:txBody>
                  <a:tcPr marL="91440" marR="91440">
                    <a:solidFill>
                      <a:srgbClr val="f3f6fa"/>
                    </a:solidFill>
                  </a:tcPr>
                </a:tc>
              </a:tr>
              <a:tr h="502920">
                <a:tc>
                  <a:txBody>
                    <a:bodyPr anchor="ctr">
                      <a:noAutofit/>
                    </a:bodyPr>
                    <a:p>
                      <a:pPr>
                        <a:lnSpc>
                          <a:spcPct val="100000"/>
                        </a:lnSpc>
                        <a:tabLst>
                          <a:tab algn="l" pos="0"/>
                        </a:tabLst>
                      </a:pPr>
                      <a:r>
                        <a:rPr b="1" lang="en-US" sz="1400" spc="-1" strike="noStrike">
                          <a:solidFill>
                            <a:srgbClr val="0f1b2d"/>
                          </a:solidFill>
                          <a:latin typeface="Calibri"/>
                        </a:rPr>
                        <a:t>ID / USER</a:t>
                      </a:r>
                      <a:endParaRPr b="0" lang="en-US" sz="1400" spc="-1" strike="noStrike">
                        <a:latin typeface="Arial"/>
                      </a:endParaRPr>
                    </a:p>
                  </a:txBody>
                  <a:tcPr marL="91440" marR="91440">
                    <a:solidFill>
                      <a:srgbClr val="ffffff"/>
                    </a:solidFill>
                  </a:tcPr>
                </a:tc>
                <a:tc>
                  <a:txBody>
                    <a:bodyPr anchor="ctr">
                      <a:noAutofit/>
                    </a:bodyPr>
                    <a:p>
                      <a:pPr>
                        <a:lnSpc>
                          <a:spcPct val="100000"/>
                        </a:lnSpc>
                        <a:tabLst>
                          <a:tab algn="l" pos="0"/>
                        </a:tabLst>
                      </a:pPr>
                      <a:r>
                        <a:rPr b="0" lang="en-US" sz="1400" spc="-1" strike="noStrike">
                          <a:solidFill>
                            <a:srgbClr val="0f1b2d"/>
                          </a:solidFill>
                          <a:latin typeface="Calibri"/>
                        </a:rPr>
                        <a:t>ARID, ARUSER</a:t>
                      </a:r>
                      <a:endParaRPr b="0" lang="en-US" sz="1400" spc="-1" strike="noStrike">
                        <a:latin typeface="Arial"/>
                      </a:endParaRPr>
                    </a:p>
                  </a:txBody>
                  <a:tcPr marL="91440" marR="91440">
                    <a:solidFill>
                      <a:srgbClr val="ffffff"/>
                    </a:solidFill>
                  </a:tcPr>
                </a:tc>
                <a:tc>
                  <a:txBody>
                    <a:bodyPr anchor="ctr">
                      <a:noAutofit/>
                    </a:bodyPr>
                    <a:p>
                      <a:pPr>
                        <a:lnSpc>
                          <a:spcPct val="100000"/>
                        </a:lnSpc>
                        <a:tabLst>
                          <a:tab algn="l" pos="0"/>
                        </a:tabLst>
                      </a:pPr>
                      <a:r>
                        <a:rPr b="0" lang="en-US" sz="1400" spc="-1" strike="noStrike">
                          <a:solidFill>
                            <a:srgbClr val="0f1b2d"/>
                          </a:solidFill>
                          <a:latin typeface="Calibri"/>
                        </a:rPr>
                        <a:t>RID, RUSER</a:t>
                      </a:r>
                      <a:endParaRPr b="0" lang="en-US" sz="1400" spc="-1" strike="noStrike">
                        <a:latin typeface="Arial"/>
                      </a:endParaRPr>
                    </a:p>
                  </a:txBody>
                  <a:tcPr marL="91440" marR="91440">
                    <a:solidFill>
                      <a:srgbClr val="ffffff"/>
                    </a:solidFill>
                  </a:tcPr>
                </a:tc>
              </a:tr>
            </a:tbl>
          </a:graphicData>
        </a:graphic>
      </p:graphicFrame>
      <p:sp>
        <p:nvSpPr>
          <p:cNvPr id="347" name="CustomShape 6"/>
          <p:cNvSpPr/>
          <p:nvPr/>
        </p:nvSpPr>
        <p:spPr>
          <a:xfrm>
            <a:off x="548640" y="4617720"/>
            <a:ext cx="11063880" cy="1462680"/>
          </a:xfrm>
          <a:prstGeom prst="roundRect">
            <a:avLst>
              <a:gd name="adj" fmla="val 7500"/>
            </a:avLst>
          </a:prstGeom>
          <a:solidFill>
            <a:schemeClr val="bg2"/>
          </a:solidFill>
          <a:ln>
            <a:noFill/>
          </a:ln>
        </p:spPr>
        <p:style>
          <a:lnRef idx="0"/>
          <a:fillRef idx="0"/>
          <a:effectRef idx="0"/>
          <a:fontRef idx="minor"/>
        </p:style>
      </p:sp>
      <p:sp>
        <p:nvSpPr>
          <p:cNvPr id="348" name="CustomShape 7"/>
          <p:cNvSpPr/>
          <p:nvPr/>
        </p:nvSpPr>
        <p:spPr>
          <a:xfrm>
            <a:off x="822960" y="5029200"/>
            <a:ext cx="639720" cy="639720"/>
          </a:xfrm>
          <a:prstGeom prst="ellipse">
            <a:avLst/>
          </a:prstGeom>
          <a:solidFill>
            <a:schemeClr val="accent5"/>
          </a:solidFill>
          <a:ln>
            <a:noFill/>
          </a:ln>
        </p:spPr>
        <p:style>
          <a:lnRef idx="0"/>
          <a:fillRef idx="0"/>
          <a:effectRef idx="0"/>
          <a:fontRef idx="minor"/>
        </p:style>
      </p:sp>
      <p:pic>
        <p:nvPicPr>
          <p:cNvPr id="349" name="icon FaShieldAlt" descr="preencoded.png"/>
          <p:cNvPicPr/>
          <p:nvPr/>
        </p:nvPicPr>
        <p:blipFill>
          <a:blip r:embed="rId1"/>
          <a:stretch/>
        </p:blipFill>
        <p:spPr>
          <a:xfrm>
            <a:off x="983160" y="5189400"/>
            <a:ext cx="319680" cy="319680"/>
          </a:xfrm>
          <a:prstGeom prst="rect">
            <a:avLst/>
          </a:prstGeom>
          <a:ln>
            <a:noFill/>
          </a:ln>
        </p:spPr>
      </p:pic>
      <p:sp>
        <p:nvSpPr>
          <p:cNvPr id="350" name="CustomShape 8"/>
          <p:cNvSpPr/>
          <p:nvPr/>
        </p:nvSpPr>
        <p:spPr>
          <a:xfrm>
            <a:off x="1783080" y="4846320"/>
            <a:ext cx="9509400" cy="10969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400" spc="-1" strike="noStrike">
                <a:solidFill>
                  <a:srgbClr val="0f1b2d"/>
                </a:solidFill>
                <a:latin typeface="Calibri"/>
              </a:rPr>
              <a:t>Timing checks too. </a:t>
            </a:r>
            <a:r>
              <a:rPr b="0" lang="en-US" sz="1400" spc="-1" strike="noStrike">
                <a:solidFill>
                  <a:srgbClr val="0f1b2d"/>
                </a:solidFill>
                <a:latin typeface="Calibri"/>
              </a:rPr>
              <a:t>The APB transfer must start after the AXI request was accepted, and the B or R response must come after the APB transfer completed. Expected values come from the other monitor or from documented RTL behaviour, never from the driver.</a:t>
            </a:r>
            <a:endParaRPr b="0" lang="en-US" sz="1400" spc="-1" strike="noStrike">
              <a:latin typeface="Arial"/>
            </a:endParaRPr>
          </a:p>
        </p:txBody>
      </p:sp>
      <p:sp>
        <p:nvSpPr>
          <p:cNvPr id="351" name="TextShape 9"/>
          <p:cNvSpPr txBox="1"/>
          <p:nvPr/>
        </p:nvSpPr>
        <p:spPr>
          <a:xfrm>
            <a:off x="11064240" y="6419160"/>
            <a:ext cx="548280" cy="273960"/>
          </a:xfrm>
          <a:prstGeom prst="rect">
            <a:avLst/>
          </a:prstGeom>
          <a:noFill/>
          <a:ln>
            <a:noFill/>
          </a:ln>
        </p:spPr>
        <p:txBody>
          <a:bodyPr lIns="90000" rIns="90000" tIns="45000" bIns="45000">
            <a:noAutofit/>
          </a:bodyPr>
          <a:p>
            <a:pPr algn="r">
              <a:lnSpc>
                <a:spcPct val="100000"/>
              </a:lnSpc>
            </a:pPr>
            <a:fld id="{B765F9E8-9D0E-4F6A-8FD6-EB6D2EBDE6AF}" type="slidenum">
              <a:rPr b="0" lang="en-US" sz="1000" spc="-1" strike="noStrike">
                <a:solidFill>
                  <a:srgbClr val="5b6c8f"/>
                </a:solidFill>
                <a:latin typeface="Calibri"/>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TextShape 1"/>
          <p:cNvSpPr txBox="1"/>
          <p:nvPr/>
        </p:nvSpPr>
        <p:spPr>
          <a:xfrm>
            <a:off x="548640" y="365760"/>
            <a:ext cx="11063880" cy="731160"/>
          </a:xfrm>
          <a:prstGeom prst="rect">
            <a:avLst/>
          </a:prstGeom>
          <a:noFill/>
          <a:ln>
            <a:noFill/>
          </a:ln>
        </p:spPr>
        <p:txBody>
          <a:bodyPr lIns="0" rIns="0" tIns="0" bIns="0" anchor="ctr">
            <a:noAutofit/>
          </a:bodyPr>
          <a:p>
            <a:pPr algn="ctr">
              <a:lnSpc>
                <a:spcPct val="100000"/>
              </a:lnSpc>
              <a:tabLst>
                <a:tab algn="l" pos="0"/>
              </a:tabLst>
            </a:pPr>
            <a:r>
              <a:rPr b="1" lang="en-US" sz="3400" spc="-1" strike="noStrike">
                <a:solidFill>
                  <a:srgbClr val="0f1b2d"/>
                </a:solidFill>
                <a:latin typeface="Cambria"/>
              </a:rPr>
              <a:t>14 directed tests</a:t>
            </a:r>
            <a:endParaRPr b="0" lang="en-US" sz="3400" spc="-1" strike="noStrike">
              <a:solidFill>
                <a:srgbClr val="0f1b2d"/>
              </a:solidFill>
              <a:latin typeface="Calibri"/>
            </a:endParaRPr>
          </a:p>
        </p:txBody>
      </p:sp>
      <p:sp>
        <p:nvSpPr>
          <p:cNvPr id="353" name="CustomShape 2"/>
          <p:cNvSpPr/>
          <p:nvPr/>
        </p:nvSpPr>
        <p:spPr>
          <a:xfrm>
            <a:off x="548640" y="1444680"/>
            <a:ext cx="456840" cy="456840"/>
          </a:xfrm>
          <a:prstGeom prst="ellipse">
            <a:avLst/>
          </a:prstGeom>
          <a:solidFill>
            <a:schemeClr val="accent1"/>
          </a:solidFill>
          <a:ln>
            <a:noFill/>
          </a:ln>
        </p:spPr>
        <p:style>
          <a:lnRef idx="0"/>
          <a:fillRef idx="0"/>
          <a:effectRef idx="0"/>
          <a:fontRef idx="minor"/>
        </p:style>
      </p:sp>
      <p:sp>
        <p:nvSpPr>
          <p:cNvPr id="354" name="CustomShape 3"/>
          <p:cNvSpPr/>
          <p:nvPr/>
        </p:nvSpPr>
        <p:spPr>
          <a:xfrm>
            <a:off x="548640" y="1444680"/>
            <a:ext cx="456840" cy="4568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400" spc="-1" strike="noStrike">
                <a:solidFill>
                  <a:srgbClr val="ffffff"/>
                </a:solidFill>
                <a:latin typeface="Calibri"/>
              </a:rPr>
              <a:t>1</a:t>
            </a:r>
            <a:endParaRPr b="0" lang="en-US" sz="1400" spc="-1" strike="noStrike">
              <a:latin typeface="Arial"/>
            </a:endParaRPr>
          </a:p>
        </p:txBody>
      </p:sp>
      <p:sp>
        <p:nvSpPr>
          <p:cNvPr id="355" name="CustomShape 4"/>
          <p:cNvSpPr/>
          <p:nvPr/>
        </p:nvSpPr>
        <p:spPr>
          <a:xfrm>
            <a:off x="1188720" y="1371600"/>
            <a:ext cx="4571640" cy="6030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500" spc="-1" strike="noStrike">
                <a:solidFill>
                  <a:srgbClr val="0f1b2d"/>
                </a:solidFill>
                <a:latin typeface="Calibri"/>
              </a:rPr>
              <a:t>Smoke</a:t>
            </a:r>
            <a:endParaRPr b="0" lang="en-US" sz="1500" spc="-1" strike="noStrike">
              <a:latin typeface="Arial"/>
            </a:endParaRPr>
          </a:p>
          <a:p>
            <a:pPr>
              <a:lnSpc>
                <a:spcPct val="100000"/>
              </a:lnSpc>
              <a:tabLst>
                <a:tab algn="l" pos="0"/>
              </a:tabLst>
            </a:pPr>
            <a:r>
              <a:rPr b="0" lang="en-US" sz="1400" spc="-1" strike="noStrike">
                <a:solidFill>
                  <a:srgbClr val="5b6c8f"/>
                </a:solidFill>
                <a:latin typeface="Calibri"/>
              </a:rPr>
              <a:t>Idle check after reset, write then read-back</a:t>
            </a:r>
            <a:endParaRPr b="0" lang="en-US" sz="1400" spc="-1" strike="noStrike">
              <a:latin typeface="Arial"/>
            </a:endParaRPr>
          </a:p>
        </p:txBody>
      </p:sp>
      <p:sp>
        <p:nvSpPr>
          <p:cNvPr id="356" name="CustomShape 5"/>
          <p:cNvSpPr/>
          <p:nvPr/>
        </p:nvSpPr>
        <p:spPr>
          <a:xfrm>
            <a:off x="548640" y="2121480"/>
            <a:ext cx="456840" cy="456840"/>
          </a:xfrm>
          <a:prstGeom prst="ellipse">
            <a:avLst/>
          </a:prstGeom>
          <a:solidFill>
            <a:schemeClr val="accent1"/>
          </a:solidFill>
          <a:ln>
            <a:noFill/>
          </a:ln>
        </p:spPr>
        <p:style>
          <a:lnRef idx="0"/>
          <a:fillRef idx="0"/>
          <a:effectRef idx="0"/>
          <a:fontRef idx="minor"/>
        </p:style>
      </p:sp>
      <p:sp>
        <p:nvSpPr>
          <p:cNvPr id="357" name="CustomShape 6"/>
          <p:cNvSpPr/>
          <p:nvPr/>
        </p:nvSpPr>
        <p:spPr>
          <a:xfrm>
            <a:off x="548640" y="2121480"/>
            <a:ext cx="456840" cy="4568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400" spc="-1" strike="noStrike">
                <a:solidFill>
                  <a:srgbClr val="ffffff"/>
                </a:solidFill>
                <a:latin typeface="Calibri"/>
              </a:rPr>
              <a:t>2</a:t>
            </a:r>
            <a:endParaRPr b="0" lang="en-US" sz="1400" spc="-1" strike="noStrike">
              <a:latin typeface="Arial"/>
            </a:endParaRPr>
          </a:p>
        </p:txBody>
      </p:sp>
      <p:sp>
        <p:nvSpPr>
          <p:cNvPr id="358" name="CustomShape 7"/>
          <p:cNvSpPr/>
          <p:nvPr/>
        </p:nvSpPr>
        <p:spPr>
          <a:xfrm>
            <a:off x="1188720" y="2048400"/>
            <a:ext cx="4571640" cy="6030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500" spc="-1" strike="noStrike">
                <a:solidFill>
                  <a:srgbClr val="0f1b2d"/>
                </a:solidFill>
                <a:latin typeface="Calibri"/>
              </a:rPr>
              <a:t>Single write</a:t>
            </a:r>
            <a:endParaRPr b="0" lang="en-US" sz="1500" spc="-1" strike="noStrike">
              <a:latin typeface="Arial"/>
            </a:endParaRPr>
          </a:p>
          <a:p>
            <a:pPr>
              <a:lnSpc>
                <a:spcPct val="100000"/>
              </a:lnSpc>
              <a:tabLst>
                <a:tab algn="l" pos="0"/>
              </a:tabLst>
            </a:pPr>
            <a:r>
              <a:rPr b="0" lang="en-US" sz="1400" spc="-1" strike="noStrike">
                <a:solidFill>
                  <a:srgbClr val="5b6c8f"/>
                </a:solidFill>
                <a:latin typeface="Calibri"/>
              </a:rPr>
              <a:t>PREADY immediate, read-back check</a:t>
            </a:r>
            <a:endParaRPr b="0" lang="en-US" sz="1400" spc="-1" strike="noStrike">
              <a:latin typeface="Arial"/>
            </a:endParaRPr>
          </a:p>
        </p:txBody>
      </p:sp>
      <p:sp>
        <p:nvSpPr>
          <p:cNvPr id="359" name="CustomShape 8"/>
          <p:cNvSpPr/>
          <p:nvPr/>
        </p:nvSpPr>
        <p:spPr>
          <a:xfrm>
            <a:off x="548640" y="2797920"/>
            <a:ext cx="456840" cy="456840"/>
          </a:xfrm>
          <a:prstGeom prst="ellipse">
            <a:avLst/>
          </a:prstGeom>
          <a:solidFill>
            <a:schemeClr val="accent1"/>
          </a:solidFill>
          <a:ln>
            <a:noFill/>
          </a:ln>
        </p:spPr>
        <p:style>
          <a:lnRef idx="0"/>
          <a:fillRef idx="0"/>
          <a:effectRef idx="0"/>
          <a:fontRef idx="minor"/>
        </p:style>
      </p:sp>
      <p:sp>
        <p:nvSpPr>
          <p:cNvPr id="360" name="CustomShape 9"/>
          <p:cNvSpPr/>
          <p:nvPr/>
        </p:nvSpPr>
        <p:spPr>
          <a:xfrm>
            <a:off x="548640" y="2797920"/>
            <a:ext cx="456840" cy="4568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400" spc="-1" strike="noStrike">
                <a:solidFill>
                  <a:srgbClr val="ffffff"/>
                </a:solidFill>
                <a:latin typeface="Calibri"/>
              </a:rPr>
              <a:t>3</a:t>
            </a:r>
            <a:endParaRPr b="0" lang="en-US" sz="1400" spc="-1" strike="noStrike">
              <a:latin typeface="Arial"/>
            </a:endParaRPr>
          </a:p>
        </p:txBody>
      </p:sp>
      <p:sp>
        <p:nvSpPr>
          <p:cNvPr id="361" name="CustomShape 10"/>
          <p:cNvSpPr/>
          <p:nvPr/>
        </p:nvSpPr>
        <p:spPr>
          <a:xfrm>
            <a:off x="1188720" y="2724840"/>
            <a:ext cx="4571640" cy="6030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500" spc="-1" strike="noStrike">
                <a:solidFill>
                  <a:srgbClr val="0f1b2d"/>
                </a:solidFill>
                <a:latin typeface="Calibri"/>
              </a:rPr>
              <a:t>Single read</a:t>
            </a:r>
            <a:endParaRPr b="0" lang="en-US" sz="1500" spc="-1" strike="noStrike">
              <a:latin typeface="Arial"/>
            </a:endParaRPr>
          </a:p>
          <a:p>
            <a:pPr>
              <a:lnSpc>
                <a:spcPct val="100000"/>
              </a:lnSpc>
              <a:tabLst>
                <a:tab algn="l" pos="0"/>
              </a:tabLst>
            </a:pPr>
            <a:r>
              <a:rPr b="0" lang="en-US" sz="1400" spc="-1" strike="noStrike">
                <a:solidFill>
                  <a:srgbClr val="5b6c8f"/>
                </a:solidFill>
                <a:latin typeface="Calibri"/>
              </a:rPr>
              <a:t>Preloaded and forced PRDATA</a:t>
            </a:r>
            <a:endParaRPr b="0" lang="en-US" sz="1400" spc="-1" strike="noStrike">
              <a:latin typeface="Arial"/>
            </a:endParaRPr>
          </a:p>
        </p:txBody>
      </p:sp>
      <p:sp>
        <p:nvSpPr>
          <p:cNvPr id="362" name="CustomShape 11"/>
          <p:cNvSpPr/>
          <p:nvPr/>
        </p:nvSpPr>
        <p:spPr>
          <a:xfrm>
            <a:off x="548640" y="3474720"/>
            <a:ext cx="456840" cy="456840"/>
          </a:xfrm>
          <a:prstGeom prst="ellipse">
            <a:avLst/>
          </a:prstGeom>
          <a:solidFill>
            <a:schemeClr val="accent1"/>
          </a:solidFill>
          <a:ln>
            <a:noFill/>
          </a:ln>
        </p:spPr>
        <p:style>
          <a:lnRef idx="0"/>
          <a:fillRef idx="0"/>
          <a:effectRef idx="0"/>
          <a:fontRef idx="minor"/>
        </p:style>
      </p:sp>
      <p:sp>
        <p:nvSpPr>
          <p:cNvPr id="363" name="CustomShape 12"/>
          <p:cNvSpPr/>
          <p:nvPr/>
        </p:nvSpPr>
        <p:spPr>
          <a:xfrm>
            <a:off x="548640" y="3474720"/>
            <a:ext cx="456840" cy="4568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400" spc="-1" strike="noStrike">
                <a:solidFill>
                  <a:srgbClr val="ffffff"/>
                </a:solidFill>
                <a:latin typeface="Calibri"/>
              </a:rPr>
              <a:t>4</a:t>
            </a:r>
            <a:endParaRPr b="0" lang="en-US" sz="1400" spc="-1" strike="noStrike">
              <a:latin typeface="Arial"/>
            </a:endParaRPr>
          </a:p>
        </p:txBody>
      </p:sp>
      <p:sp>
        <p:nvSpPr>
          <p:cNvPr id="364" name="CustomShape 13"/>
          <p:cNvSpPr/>
          <p:nvPr/>
        </p:nvSpPr>
        <p:spPr>
          <a:xfrm>
            <a:off x="1188720" y="3401640"/>
            <a:ext cx="4571640" cy="6030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500" spc="-1" strike="noStrike">
                <a:solidFill>
                  <a:srgbClr val="0f1b2d"/>
                </a:solidFill>
                <a:latin typeface="Calibri"/>
              </a:rPr>
              <a:t>Write wait states</a:t>
            </a:r>
            <a:endParaRPr b="0" lang="en-US" sz="1500" spc="-1" strike="noStrike">
              <a:latin typeface="Arial"/>
            </a:endParaRPr>
          </a:p>
          <a:p>
            <a:pPr>
              <a:lnSpc>
                <a:spcPct val="100000"/>
              </a:lnSpc>
              <a:tabLst>
                <a:tab algn="l" pos="0"/>
              </a:tabLst>
            </a:pPr>
            <a:r>
              <a:rPr b="0" lang="en-US" sz="1400" spc="-1" strike="noStrike">
                <a:solidFill>
                  <a:srgbClr val="5b6c8f"/>
                </a:solidFill>
                <a:latin typeface="Calibri"/>
              </a:rPr>
              <a:t>PREADY low for 0 to 10 cycles</a:t>
            </a:r>
            <a:endParaRPr b="0" lang="en-US" sz="1400" spc="-1" strike="noStrike">
              <a:latin typeface="Arial"/>
            </a:endParaRPr>
          </a:p>
        </p:txBody>
      </p:sp>
      <p:sp>
        <p:nvSpPr>
          <p:cNvPr id="365" name="CustomShape 14"/>
          <p:cNvSpPr/>
          <p:nvPr/>
        </p:nvSpPr>
        <p:spPr>
          <a:xfrm>
            <a:off x="548640" y="4151520"/>
            <a:ext cx="456840" cy="456840"/>
          </a:xfrm>
          <a:prstGeom prst="ellipse">
            <a:avLst/>
          </a:prstGeom>
          <a:solidFill>
            <a:schemeClr val="accent1"/>
          </a:solidFill>
          <a:ln>
            <a:noFill/>
          </a:ln>
        </p:spPr>
        <p:style>
          <a:lnRef idx="0"/>
          <a:fillRef idx="0"/>
          <a:effectRef idx="0"/>
          <a:fontRef idx="minor"/>
        </p:style>
      </p:sp>
      <p:sp>
        <p:nvSpPr>
          <p:cNvPr id="366" name="CustomShape 15"/>
          <p:cNvSpPr/>
          <p:nvPr/>
        </p:nvSpPr>
        <p:spPr>
          <a:xfrm>
            <a:off x="548640" y="4151520"/>
            <a:ext cx="456840" cy="4568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400" spc="-1" strike="noStrike">
                <a:solidFill>
                  <a:srgbClr val="ffffff"/>
                </a:solidFill>
                <a:latin typeface="Calibri"/>
              </a:rPr>
              <a:t>5</a:t>
            </a:r>
            <a:endParaRPr b="0" lang="en-US" sz="1400" spc="-1" strike="noStrike">
              <a:latin typeface="Arial"/>
            </a:endParaRPr>
          </a:p>
        </p:txBody>
      </p:sp>
      <p:sp>
        <p:nvSpPr>
          <p:cNvPr id="367" name="CustomShape 16"/>
          <p:cNvSpPr/>
          <p:nvPr/>
        </p:nvSpPr>
        <p:spPr>
          <a:xfrm>
            <a:off x="1188720" y="4078080"/>
            <a:ext cx="4571640" cy="6030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500" spc="-1" strike="noStrike">
                <a:solidFill>
                  <a:srgbClr val="0f1b2d"/>
                </a:solidFill>
                <a:latin typeface="Calibri"/>
              </a:rPr>
              <a:t>Read wait states</a:t>
            </a:r>
            <a:endParaRPr b="0" lang="en-US" sz="1500" spc="-1" strike="noStrike">
              <a:latin typeface="Arial"/>
            </a:endParaRPr>
          </a:p>
          <a:p>
            <a:pPr>
              <a:lnSpc>
                <a:spcPct val="100000"/>
              </a:lnSpc>
              <a:tabLst>
                <a:tab algn="l" pos="0"/>
              </a:tabLst>
            </a:pPr>
            <a:r>
              <a:rPr b="0" lang="en-US" sz="1400" spc="-1" strike="noStrike">
                <a:solidFill>
                  <a:srgbClr val="5b6c8f"/>
                </a:solidFill>
                <a:latin typeface="Calibri"/>
              </a:rPr>
              <a:t>Same sweep for reads</a:t>
            </a:r>
            <a:endParaRPr b="0" lang="en-US" sz="1400" spc="-1" strike="noStrike">
              <a:latin typeface="Arial"/>
            </a:endParaRPr>
          </a:p>
        </p:txBody>
      </p:sp>
      <p:sp>
        <p:nvSpPr>
          <p:cNvPr id="368" name="CustomShape 17"/>
          <p:cNvSpPr/>
          <p:nvPr/>
        </p:nvSpPr>
        <p:spPr>
          <a:xfrm>
            <a:off x="548640" y="4827960"/>
            <a:ext cx="456840" cy="456840"/>
          </a:xfrm>
          <a:prstGeom prst="ellipse">
            <a:avLst/>
          </a:prstGeom>
          <a:solidFill>
            <a:schemeClr val="accent1"/>
          </a:solidFill>
          <a:ln>
            <a:noFill/>
          </a:ln>
        </p:spPr>
        <p:style>
          <a:lnRef idx="0"/>
          <a:fillRef idx="0"/>
          <a:effectRef idx="0"/>
          <a:fontRef idx="minor"/>
        </p:style>
      </p:sp>
      <p:sp>
        <p:nvSpPr>
          <p:cNvPr id="369" name="CustomShape 18"/>
          <p:cNvSpPr/>
          <p:nvPr/>
        </p:nvSpPr>
        <p:spPr>
          <a:xfrm>
            <a:off x="548640" y="4827960"/>
            <a:ext cx="456840" cy="4568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400" spc="-1" strike="noStrike">
                <a:solidFill>
                  <a:srgbClr val="ffffff"/>
                </a:solidFill>
                <a:latin typeface="Calibri"/>
              </a:rPr>
              <a:t>6</a:t>
            </a:r>
            <a:endParaRPr b="0" lang="en-US" sz="1400" spc="-1" strike="noStrike">
              <a:latin typeface="Arial"/>
            </a:endParaRPr>
          </a:p>
        </p:txBody>
      </p:sp>
      <p:sp>
        <p:nvSpPr>
          <p:cNvPr id="370" name="CustomShape 19"/>
          <p:cNvSpPr/>
          <p:nvPr/>
        </p:nvSpPr>
        <p:spPr>
          <a:xfrm>
            <a:off x="1188720" y="4754880"/>
            <a:ext cx="4571640" cy="6030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500" spc="-1" strike="noStrike">
                <a:solidFill>
                  <a:srgbClr val="0f1b2d"/>
                </a:solidFill>
                <a:latin typeface="Calibri"/>
              </a:rPr>
              <a:t>RREADY delay</a:t>
            </a:r>
            <a:endParaRPr b="0" lang="en-US" sz="1500" spc="-1" strike="noStrike">
              <a:latin typeface="Arial"/>
            </a:endParaRPr>
          </a:p>
          <a:p>
            <a:pPr>
              <a:lnSpc>
                <a:spcPct val="100000"/>
              </a:lnSpc>
              <a:tabLst>
                <a:tab algn="l" pos="0"/>
              </a:tabLst>
            </a:pPr>
            <a:r>
              <a:rPr b="0" lang="en-US" sz="1400" spc="-1" strike="noStrike">
                <a:solidFill>
                  <a:srgbClr val="5b6c8f"/>
                </a:solidFill>
                <a:latin typeface="Calibri"/>
              </a:rPr>
              <a:t>Back-pressure on the R channel</a:t>
            </a:r>
            <a:endParaRPr b="0" lang="en-US" sz="1400" spc="-1" strike="noStrike">
              <a:latin typeface="Arial"/>
            </a:endParaRPr>
          </a:p>
        </p:txBody>
      </p:sp>
      <p:sp>
        <p:nvSpPr>
          <p:cNvPr id="371" name="CustomShape 20"/>
          <p:cNvSpPr/>
          <p:nvPr/>
        </p:nvSpPr>
        <p:spPr>
          <a:xfrm>
            <a:off x="548640" y="5504760"/>
            <a:ext cx="456840" cy="456840"/>
          </a:xfrm>
          <a:prstGeom prst="ellipse">
            <a:avLst/>
          </a:prstGeom>
          <a:solidFill>
            <a:schemeClr val="accent1"/>
          </a:solidFill>
          <a:ln>
            <a:noFill/>
          </a:ln>
        </p:spPr>
        <p:style>
          <a:lnRef idx="0"/>
          <a:fillRef idx="0"/>
          <a:effectRef idx="0"/>
          <a:fontRef idx="minor"/>
        </p:style>
      </p:sp>
      <p:sp>
        <p:nvSpPr>
          <p:cNvPr id="372" name="CustomShape 21"/>
          <p:cNvSpPr/>
          <p:nvPr/>
        </p:nvSpPr>
        <p:spPr>
          <a:xfrm>
            <a:off x="548640" y="5504760"/>
            <a:ext cx="456840" cy="4568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400" spc="-1" strike="noStrike">
                <a:solidFill>
                  <a:srgbClr val="ffffff"/>
                </a:solidFill>
                <a:latin typeface="Calibri"/>
              </a:rPr>
              <a:t>7</a:t>
            </a:r>
            <a:endParaRPr b="0" lang="en-US" sz="1400" spc="-1" strike="noStrike">
              <a:latin typeface="Arial"/>
            </a:endParaRPr>
          </a:p>
        </p:txBody>
      </p:sp>
      <p:sp>
        <p:nvSpPr>
          <p:cNvPr id="373" name="CustomShape 22"/>
          <p:cNvSpPr/>
          <p:nvPr/>
        </p:nvSpPr>
        <p:spPr>
          <a:xfrm>
            <a:off x="1188720" y="5431680"/>
            <a:ext cx="4571640" cy="6030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500" spc="-1" strike="noStrike">
                <a:solidFill>
                  <a:srgbClr val="0f1b2d"/>
                </a:solidFill>
                <a:latin typeface="Calibri"/>
              </a:rPr>
              <a:t>BREADY delay</a:t>
            </a:r>
            <a:endParaRPr b="0" lang="en-US" sz="1500" spc="-1" strike="noStrike">
              <a:latin typeface="Arial"/>
            </a:endParaRPr>
          </a:p>
          <a:p>
            <a:pPr>
              <a:lnSpc>
                <a:spcPct val="100000"/>
              </a:lnSpc>
              <a:tabLst>
                <a:tab algn="l" pos="0"/>
              </a:tabLst>
            </a:pPr>
            <a:r>
              <a:rPr b="0" lang="en-US" sz="1400" spc="-1" strike="noStrike">
                <a:solidFill>
                  <a:srgbClr val="5b6c8f"/>
                </a:solidFill>
                <a:latin typeface="Calibri"/>
              </a:rPr>
              <a:t>Back-pressure on the B channel</a:t>
            </a:r>
            <a:endParaRPr b="0" lang="en-US" sz="1400" spc="-1" strike="noStrike">
              <a:latin typeface="Arial"/>
            </a:endParaRPr>
          </a:p>
        </p:txBody>
      </p:sp>
      <p:sp>
        <p:nvSpPr>
          <p:cNvPr id="374" name="CustomShape 23"/>
          <p:cNvSpPr/>
          <p:nvPr/>
        </p:nvSpPr>
        <p:spPr>
          <a:xfrm>
            <a:off x="6217920" y="1444680"/>
            <a:ext cx="456840" cy="4568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400" spc="-1" strike="noStrike">
                <a:solidFill>
                  <a:srgbClr val="ffffff"/>
                </a:solidFill>
                <a:latin typeface="Calibri"/>
              </a:rPr>
              <a:t>8</a:t>
            </a:r>
            <a:endParaRPr b="0" lang="en-US" sz="1400" spc="-1" strike="noStrike">
              <a:latin typeface="Arial"/>
            </a:endParaRPr>
          </a:p>
        </p:txBody>
      </p:sp>
      <p:sp>
        <p:nvSpPr>
          <p:cNvPr id="375" name="CustomShape 24"/>
          <p:cNvSpPr/>
          <p:nvPr/>
        </p:nvSpPr>
        <p:spPr>
          <a:xfrm>
            <a:off x="6217920" y="2121480"/>
            <a:ext cx="456840" cy="456840"/>
          </a:xfrm>
          <a:prstGeom prst="ellipse">
            <a:avLst/>
          </a:prstGeom>
          <a:solidFill>
            <a:schemeClr val="accent1"/>
          </a:solidFill>
          <a:ln>
            <a:noFill/>
          </a:ln>
        </p:spPr>
        <p:style>
          <a:lnRef idx="0"/>
          <a:fillRef idx="0"/>
          <a:effectRef idx="0"/>
          <a:fontRef idx="minor"/>
        </p:style>
      </p:sp>
      <p:sp>
        <p:nvSpPr>
          <p:cNvPr id="376" name="CustomShape 25"/>
          <p:cNvSpPr/>
          <p:nvPr/>
        </p:nvSpPr>
        <p:spPr>
          <a:xfrm>
            <a:off x="6217920" y="2121480"/>
            <a:ext cx="456840" cy="4568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400" spc="-1" strike="noStrike">
                <a:solidFill>
                  <a:srgbClr val="ffffff"/>
                </a:solidFill>
                <a:latin typeface="Calibri"/>
              </a:rPr>
              <a:t>9</a:t>
            </a:r>
            <a:endParaRPr b="0" lang="en-US" sz="1400" spc="-1" strike="noStrike">
              <a:latin typeface="Arial"/>
            </a:endParaRPr>
          </a:p>
        </p:txBody>
      </p:sp>
      <p:sp>
        <p:nvSpPr>
          <p:cNvPr id="377" name="CustomShape 26"/>
          <p:cNvSpPr/>
          <p:nvPr/>
        </p:nvSpPr>
        <p:spPr>
          <a:xfrm>
            <a:off x="6858000" y="2048400"/>
            <a:ext cx="4571640" cy="6030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500" spc="-1" strike="noStrike">
                <a:solidFill>
                  <a:srgbClr val="0f1b2d"/>
                </a:solidFill>
                <a:latin typeface="Calibri"/>
              </a:rPr>
              <a:t>Back-to-back reads</a:t>
            </a:r>
            <a:endParaRPr b="0" lang="en-US" sz="1500" spc="-1" strike="noStrike">
              <a:latin typeface="Arial"/>
            </a:endParaRPr>
          </a:p>
          <a:p>
            <a:pPr>
              <a:lnSpc>
                <a:spcPct val="100000"/>
              </a:lnSpc>
              <a:tabLst>
                <a:tab algn="l" pos="0"/>
              </a:tabLst>
            </a:pPr>
            <a:r>
              <a:rPr b="0" lang="en-US" sz="1400" spc="-1" strike="noStrike">
                <a:solidFill>
                  <a:srgbClr val="5b6c8f"/>
                </a:solidFill>
                <a:latin typeface="Calibri"/>
              </a:rPr>
              <a:t>Eight pipelined reads</a:t>
            </a:r>
            <a:endParaRPr b="0" lang="en-US" sz="1400" spc="-1" strike="noStrike">
              <a:latin typeface="Arial"/>
            </a:endParaRPr>
          </a:p>
        </p:txBody>
      </p:sp>
      <p:sp>
        <p:nvSpPr>
          <p:cNvPr id="378" name="CustomShape 27"/>
          <p:cNvSpPr/>
          <p:nvPr/>
        </p:nvSpPr>
        <p:spPr>
          <a:xfrm>
            <a:off x="6217920" y="2797920"/>
            <a:ext cx="456840" cy="456840"/>
          </a:xfrm>
          <a:prstGeom prst="ellipse">
            <a:avLst/>
          </a:prstGeom>
          <a:solidFill>
            <a:schemeClr val="accent1"/>
          </a:solidFill>
          <a:ln>
            <a:noFill/>
          </a:ln>
        </p:spPr>
        <p:style>
          <a:lnRef idx="0"/>
          <a:fillRef idx="0"/>
          <a:effectRef idx="0"/>
          <a:fontRef idx="minor"/>
        </p:style>
      </p:sp>
      <p:sp>
        <p:nvSpPr>
          <p:cNvPr id="379" name="CustomShape 28"/>
          <p:cNvSpPr/>
          <p:nvPr/>
        </p:nvSpPr>
        <p:spPr>
          <a:xfrm>
            <a:off x="6217920" y="2797920"/>
            <a:ext cx="456840" cy="4568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400" spc="-1" strike="noStrike">
                <a:solidFill>
                  <a:srgbClr val="ffffff"/>
                </a:solidFill>
                <a:latin typeface="Calibri"/>
              </a:rPr>
              <a:t>10</a:t>
            </a:r>
            <a:endParaRPr b="0" lang="en-US" sz="1400" spc="-1" strike="noStrike">
              <a:latin typeface="Arial"/>
            </a:endParaRPr>
          </a:p>
        </p:txBody>
      </p:sp>
      <p:sp>
        <p:nvSpPr>
          <p:cNvPr id="380" name="CustomShape 29"/>
          <p:cNvSpPr/>
          <p:nvPr/>
        </p:nvSpPr>
        <p:spPr>
          <a:xfrm>
            <a:off x="6858000" y="2724840"/>
            <a:ext cx="4571640" cy="6030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500" spc="-1" strike="noStrike">
                <a:solidFill>
                  <a:srgbClr val="0f1b2d"/>
                </a:solidFill>
                <a:latin typeface="Calibri"/>
              </a:rPr>
              <a:t>Back-to-back writes</a:t>
            </a:r>
            <a:endParaRPr b="0" lang="en-US" sz="1500" spc="-1" strike="noStrike">
              <a:latin typeface="Arial"/>
            </a:endParaRPr>
          </a:p>
          <a:p>
            <a:pPr>
              <a:lnSpc>
                <a:spcPct val="100000"/>
              </a:lnSpc>
              <a:tabLst>
                <a:tab algn="l" pos="0"/>
              </a:tabLst>
            </a:pPr>
            <a:r>
              <a:rPr b="0" lang="en-US" sz="1400" spc="-1" strike="noStrike">
                <a:solidFill>
                  <a:srgbClr val="5b6c8f"/>
                </a:solidFill>
                <a:latin typeface="Calibri"/>
              </a:rPr>
              <a:t>Eight writes, then read-back</a:t>
            </a:r>
            <a:endParaRPr b="0" lang="en-US" sz="1400" spc="-1" strike="noStrike">
              <a:latin typeface="Arial"/>
            </a:endParaRPr>
          </a:p>
        </p:txBody>
      </p:sp>
      <p:sp>
        <p:nvSpPr>
          <p:cNvPr id="381" name="CustomShape 30"/>
          <p:cNvSpPr/>
          <p:nvPr/>
        </p:nvSpPr>
        <p:spPr>
          <a:xfrm>
            <a:off x="6217920" y="3474720"/>
            <a:ext cx="456840" cy="456840"/>
          </a:xfrm>
          <a:prstGeom prst="ellipse">
            <a:avLst/>
          </a:prstGeom>
          <a:solidFill>
            <a:schemeClr val="accent1"/>
          </a:solidFill>
          <a:ln>
            <a:noFill/>
          </a:ln>
        </p:spPr>
        <p:style>
          <a:lnRef idx="0"/>
          <a:fillRef idx="0"/>
          <a:effectRef idx="0"/>
          <a:fontRef idx="minor"/>
        </p:style>
      </p:sp>
      <p:sp>
        <p:nvSpPr>
          <p:cNvPr id="382" name="CustomShape 31"/>
          <p:cNvSpPr/>
          <p:nvPr/>
        </p:nvSpPr>
        <p:spPr>
          <a:xfrm>
            <a:off x="6217920" y="3474720"/>
            <a:ext cx="456840" cy="4568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400" spc="-1" strike="noStrike">
                <a:solidFill>
                  <a:srgbClr val="ffffff"/>
                </a:solidFill>
                <a:latin typeface="Calibri"/>
              </a:rPr>
              <a:t>11</a:t>
            </a:r>
            <a:endParaRPr b="0" lang="en-US" sz="1400" spc="-1" strike="noStrike">
              <a:latin typeface="Arial"/>
            </a:endParaRPr>
          </a:p>
        </p:txBody>
      </p:sp>
      <p:sp>
        <p:nvSpPr>
          <p:cNvPr id="383" name="CustomShape 32"/>
          <p:cNvSpPr/>
          <p:nvPr/>
        </p:nvSpPr>
        <p:spPr>
          <a:xfrm>
            <a:off x="6858000" y="3401640"/>
            <a:ext cx="4571640" cy="6030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500" spc="-1" strike="noStrike">
                <a:solidFill>
                  <a:srgbClr val="0f1b2d"/>
                </a:solidFill>
                <a:latin typeface="Calibri"/>
              </a:rPr>
              <a:t>Mixed traffic</a:t>
            </a:r>
            <a:endParaRPr b="0" lang="en-US" sz="1500" spc="-1" strike="noStrike">
              <a:latin typeface="Arial"/>
            </a:endParaRPr>
          </a:p>
          <a:p>
            <a:pPr>
              <a:lnSpc>
                <a:spcPct val="100000"/>
              </a:lnSpc>
              <a:tabLst>
                <a:tab algn="l" pos="0"/>
              </a:tabLst>
            </a:pPr>
            <a:r>
              <a:rPr b="0" lang="en-US" sz="1400" spc="-1" strike="noStrike">
                <a:solidFill>
                  <a:srgbClr val="5b6c8f"/>
                </a:solidFill>
                <a:latin typeface="Calibri"/>
              </a:rPr>
              <a:t>Writes and reads, varied waits</a:t>
            </a:r>
            <a:endParaRPr b="0" lang="en-US" sz="1400" spc="-1" strike="noStrike">
              <a:latin typeface="Arial"/>
            </a:endParaRPr>
          </a:p>
        </p:txBody>
      </p:sp>
      <p:sp>
        <p:nvSpPr>
          <p:cNvPr id="384" name="CustomShape 33"/>
          <p:cNvSpPr/>
          <p:nvPr/>
        </p:nvSpPr>
        <p:spPr>
          <a:xfrm>
            <a:off x="6217920" y="4151520"/>
            <a:ext cx="456840" cy="456840"/>
          </a:xfrm>
          <a:prstGeom prst="ellipse">
            <a:avLst/>
          </a:prstGeom>
          <a:solidFill>
            <a:schemeClr val="accent1"/>
          </a:solidFill>
          <a:ln>
            <a:noFill/>
          </a:ln>
        </p:spPr>
        <p:style>
          <a:lnRef idx="0"/>
          <a:fillRef idx="0"/>
          <a:effectRef idx="0"/>
          <a:fontRef idx="minor"/>
        </p:style>
      </p:sp>
      <p:sp>
        <p:nvSpPr>
          <p:cNvPr id="385" name="CustomShape 34"/>
          <p:cNvSpPr/>
          <p:nvPr/>
        </p:nvSpPr>
        <p:spPr>
          <a:xfrm>
            <a:off x="6217920" y="4151520"/>
            <a:ext cx="456840" cy="4568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400" spc="-1" strike="noStrike">
                <a:solidFill>
                  <a:srgbClr val="ffffff"/>
                </a:solidFill>
                <a:latin typeface="Calibri"/>
              </a:rPr>
              <a:t>12</a:t>
            </a:r>
            <a:endParaRPr b="0" lang="en-US" sz="1400" spc="-1" strike="noStrike">
              <a:latin typeface="Arial"/>
            </a:endParaRPr>
          </a:p>
        </p:txBody>
      </p:sp>
      <p:sp>
        <p:nvSpPr>
          <p:cNvPr id="386" name="CustomShape 35"/>
          <p:cNvSpPr/>
          <p:nvPr/>
        </p:nvSpPr>
        <p:spPr>
          <a:xfrm>
            <a:off x="6858000" y="4078080"/>
            <a:ext cx="4571640" cy="6030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500" spc="-1" strike="noStrike">
                <a:solidFill>
                  <a:srgbClr val="0f1b2d"/>
                </a:solidFill>
                <a:latin typeface="Calibri"/>
              </a:rPr>
              <a:t>ID and USER</a:t>
            </a:r>
            <a:endParaRPr b="0" lang="en-US" sz="1500" spc="-1" strike="noStrike">
              <a:latin typeface="Arial"/>
            </a:endParaRPr>
          </a:p>
          <a:p>
            <a:pPr>
              <a:lnSpc>
                <a:spcPct val="100000"/>
              </a:lnSpc>
              <a:tabLst>
                <a:tab algn="l" pos="0"/>
              </a:tabLst>
            </a:pPr>
            <a:r>
              <a:rPr b="0" lang="en-US" sz="1400" spc="-1" strike="noStrike">
                <a:solidFill>
                  <a:srgbClr val="5b6c8f"/>
                </a:solidFill>
                <a:latin typeface="Calibri"/>
              </a:rPr>
              <a:t>Propagation to B and R</a:t>
            </a:r>
            <a:endParaRPr b="0" lang="en-US" sz="1400" spc="-1" strike="noStrike">
              <a:latin typeface="Arial"/>
            </a:endParaRPr>
          </a:p>
        </p:txBody>
      </p:sp>
      <p:sp>
        <p:nvSpPr>
          <p:cNvPr id="387" name="CustomShape 36"/>
          <p:cNvSpPr/>
          <p:nvPr/>
        </p:nvSpPr>
        <p:spPr>
          <a:xfrm>
            <a:off x="6217920" y="4827960"/>
            <a:ext cx="456840" cy="456840"/>
          </a:xfrm>
          <a:prstGeom prst="ellipse">
            <a:avLst/>
          </a:prstGeom>
          <a:solidFill>
            <a:schemeClr val="accent1"/>
          </a:solidFill>
          <a:ln>
            <a:noFill/>
          </a:ln>
        </p:spPr>
        <p:style>
          <a:lnRef idx="0"/>
          <a:fillRef idx="0"/>
          <a:effectRef idx="0"/>
          <a:fontRef idx="minor"/>
        </p:style>
      </p:sp>
      <p:sp>
        <p:nvSpPr>
          <p:cNvPr id="388" name="CustomShape 37"/>
          <p:cNvSpPr/>
          <p:nvPr/>
        </p:nvSpPr>
        <p:spPr>
          <a:xfrm>
            <a:off x="6217920" y="4827960"/>
            <a:ext cx="456840" cy="4568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400" spc="-1" strike="noStrike">
                <a:solidFill>
                  <a:srgbClr val="ffffff"/>
                </a:solidFill>
                <a:latin typeface="Calibri"/>
              </a:rPr>
              <a:t>13</a:t>
            </a:r>
            <a:endParaRPr b="0" lang="en-US" sz="1400" spc="-1" strike="noStrike">
              <a:latin typeface="Arial"/>
            </a:endParaRPr>
          </a:p>
        </p:txBody>
      </p:sp>
      <p:sp>
        <p:nvSpPr>
          <p:cNvPr id="389" name="CustomShape 38"/>
          <p:cNvSpPr/>
          <p:nvPr/>
        </p:nvSpPr>
        <p:spPr>
          <a:xfrm>
            <a:off x="6858000" y="4754880"/>
            <a:ext cx="4571640" cy="6030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500" spc="-1" strike="noStrike">
                <a:solidFill>
                  <a:srgbClr val="0f1b2d"/>
                </a:solidFill>
                <a:latin typeface="Calibri"/>
              </a:rPr>
              <a:t>PSLVERR</a:t>
            </a:r>
            <a:endParaRPr b="0" lang="en-US" sz="1500" spc="-1" strike="noStrike">
              <a:latin typeface="Arial"/>
            </a:endParaRPr>
          </a:p>
          <a:p>
            <a:pPr>
              <a:lnSpc>
                <a:spcPct val="100000"/>
              </a:lnSpc>
              <a:tabLst>
                <a:tab algn="l" pos="0"/>
              </a:tabLst>
            </a:pPr>
            <a:r>
              <a:rPr b="0" lang="en-US" sz="1400" spc="-1" strike="noStrike">
                <a:solidFill>
                  <a:srgbClr val="5b6c8f"/>
                </a:solidFill>
                <a:latin typeface="Calibri"/>
              </a:rPr>
              <a:t>Documents that it is ignored</a:t>
            </a:r>
            <a:endParaRPr b="0" lang="en-US" sz="1400" spc="-1" strike="noStrike">
              <a:latin typeface="Arial"/>
            </a:endParaRPr>
          </a:p>
        </p:txBody>
      </p:sp>
      <p:sp>
        <p:nvSpPr>
          <p:cNvPr id="390" name="CustomShape 39"/>
          <p:cNvSpPr/>
          <p:nvPr/>
        </p:nvSpPr>
        <p:spPr>
          <a:xfrm>
            <a:off x="6217920" y="5504760"/>
            <a:ext cx="456840" cy="456840"/>
          </a:xfrm>
          <a:prstGeom prst="ellipse">
            <a:avLst/>
          </a:prstGeom>
          <a:solidFill>
            <a:schemeClr val="accent1"/>
          </a:solidFill>
          <a:ln>
            <a:noFill/>
          </a:ln>
        </p:spPr>
        <p:style>
          <a:lnRef idx="0"/>
          <a:fillRef idx="0"/>
          <a:effectRef idx="0"/>
          <a:fontRef idx="minor"/>
        </p:style>
      </p:sp>
      <p:sp>
        <p:nvSpPr>
          <p:cNvPr id="391" name="CustomShape 40"/>
          <p:cNvSpPr/>
          <p:nvPr/>
        </p:nvSpPr>
        <p:spPr>
          <a:xfrm>
            <a:off x="6217920" y="5504760"/>
            <a:ext cx="456840" cy="4568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400" spc="-1" strike="noStrike">
                <a:solidFill>
                  <a:srgbClr val="ffffff"/>
                </a:solidFill>
                <a:latin typeface="Calibri"/>
              </a:rPr>
              <a:t>14</a:t>
            </a:r>
            <a:endParaRPr b="0" lang="en-US" sz="1400" spc="-1" strike="noStrike">
              <a:latin typeface="Arial"/>
            </a:endParaRPr>
          </a:p>
        </p:txBody>
      </p:sp>
      <p:sp>
        <p:nvSpPr>
          <p:cNvPr id="392" name="CustomShape 41"/>
          <p:cNvSpPr/>
          <p:nvPr/>
        </p:nvSpPr>
        <p:spPr>
          <a:xfrm>
            <a:off x="6858000" y="5431680"/>
            <a:ext cx="4571640" cy="6030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500" spc="-1" strike="noStrike">
                <a:solidFill>
                  <a:srgbClr val="0f1b2d"/>
                </a:solidFill>
                <a:latin typeface="Calibri"/>
              </a:rPr>
              <a:t>WSTRB</a:t>
            </a:r>
            <a:endParaRPr b="0" lang="en-US" sz="1500" spc="-1" strike="noStrike">
              <a:latin typeface="Arial"/>
            </a:endParaRPr>
          </a:p>
          <a:p>
            <a:pPr>
              <a:lnSpc>
                <a:spcPct val="100000"/>
              </a:lnSpc>
              <a:tabLst>
                <a:tab algn="l" pos="0"/>
              </a:tabLst>
            </a:pPr>
            <a:r>
              <a:rPr b="0" lang="en-US" sz="1400" spc="-1" strike="noStrike">
                <a:solidFill>
                  <a:srgbClr val="5b6c8f"/>
                </a:solidFill>
                <a:latin typeface="Calibri"/>
              </a:rPr>
              <a:t>Documents the full-word write</a:t>
            </a:r>
            <a:endParaRPr b="0" lang="en-US" sz="1400" spc="-1" strike="noStrike">
              <a:latin typeface="Arial"/>
            </a:endParaRPr>
          </a:p>
        </p:txBody>
      </p:sp>
      <p:sp>
        <p:nvSpPr>
          <p:cNvPr id="393" name="TextShape 42"/>
          <p:cNvSpPr txBox="1"/>
          <p:nvPr/>
        </p:nvSpPr>
        <p:spPr>
          <a:xfrm>
            <a:off x="11064240" y="6419160"/>
            <a:ext cx="548280" cy="273960"/>
          </a:xfrm>
          <a:prstGeom prst="rect">
            <a:avLst/>
          </a:prstGeom>
          <a:noFill/>
          <a:ln>
            <a:noFill/>
          </a:ln>
        </p:spPr>
        <p:txBody>
          <a:bodyPr lIns="90000" rIns="90000" tIns="45000" bIns="45000">
            <a:noAutofit/>
          </a:bodyPr>
          <a:p>
            <a:pPr algn="r">
              <a:lnSpc>
                <a:spcPct val="100000"/>
              </a:lnSpc>
            </a:pPr>
            <a:fld id="{EEEBF8D7-49E1-4363-8797-6BD65169AC14}" type="slidenum">
              <a:rPr b="0" lang="en-US" sz="1000" spc="-1" strike="noStrike">
                <a:solidFill>
                  <a:srgbClr val="5b6c8f"/>
                </a:solidFill>
                <a:latin typeface="Calibri"/>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TextShape 1"/>
          <p:cNvSpPr txBox="1"/>
          <p:nvPr/>
        </p:nvSpPr>
        <p:spPr>
          <a:xfrm>
            <a:off x="548640" y="365760"/>
            <a:ext cx="11063880" cy="731160"/>
          </a:xfrm>
          <a:prstGeom prst="rect">
            <a:avLst/>
          </a:prstGeom>
          <a:noFill/>
          <a:ln>
            <a:noFill/>
          </a:ln>
        </p:spPr>
        <p:txBody>
          <a:bodyPr lIns="0" rIns="0" tIns="0" bIns="0" anchor="ctr">
            <a:noAutofit/>
          </a:bodyPr>
          <a:p>
            <a:pPr algn="ctr">
              <a:lnSpc>
                <a:spcPct val="100000"/>
              </a:lnSpc>
              <a:tabLst>
                <a:tab algn="l" pos="0"/>
              </a:tabLst>
            </a:pPr>
            <a:r>
              <a:rPr b="1" lang="en-US" sz="3400" spc="-1" strike="noStrike">
                <a:solidFill>
                  <a:srgbClr val="0f1b2d"/>
                </a:solidFill>
                <a:latin typeface="Cambria"/>
              </a:rPr>
              <a:t>Deep dive: read vs </a:t>
            </a:r>
            <a:r>
              <a:rPr b="1" lang="en-US" sz="3400" spc="-1" strike="noStrike">
                <a:solidFill>
                  <a:srgbClr val="0f1b2d"/>
                </a:solidFill>
                <a:latin typeface="Cambria"/>
              </a:rPr>
              <a:t>write priority</a:t>
            </a:r>
            <a:endParaRPr b="0" lang="en-US" sz="3400" spc="-1" strike="noStrike">
              <a:solidFill>
                <a:srgbClr val="0f1b2d"/>
              </a:solidFill>
              <a:latin typeface="Calibri"/>
            </a:endParaRPr>
          </a:p>
        </p:txBody>
      </p:sp>
      <p:sp>
        <p:nvSpPr>
          <p:cNvPr id="395" name="CustomShape 2"/>
          <p:cNvSpPr/>
          <p:nvPr/>
        </p:nvSpPr>
        <p:spPr>
          <a:xfrm>
            <a:off x="548640" y="1417320"/>
            <a:ext cx="2559960" cy="2377080"/>
          </a:xfrm>
          <a:prstGeom prst="roundRect">
            <a:avLst>
              <a:gd name="adj" fmla="val 4615"/>
            </a:avLst>
          </a:prstGeom>
          <a:solidFill>
            <a:schemeClr val="bg2"/>
          </a:solidFill>
          <a:ln>
            <a:noFill/>
          </a:ln>
        </p:spPr>
        <p:style>
          <a:lnRef idx="0"/>
          <a:fillRef idx="0"/>
          <a:effectRef idx="0"/>
          <a:fontRef idx="minor"/>
        </p:style>
      </p:sp>
      <p:sp>
        <p:nvSpPr>
          <p:cNvPr id="396" name="CustomShape 3"/>
          <p:cNvSpPr/>
          <p:nvPr/>
        </p:nvSpPr>
        <p:spPr>
          <a:xfrm>
            <a:off x="777240" y="1645920"/>
            <a:ext cx="502560" cy="502560"/>
          </a:xfrm>
          <a:prstGeom prst="ellipse">
            <a:avLst/>
          </a:prstGeom>
          <a:solidFill>
            <a:schemeClr val="accent1"/>
          </a:solidFill>
          <a:ln>
            <a:noFill/>
          </a:ln>
        </p:spPr>
        <p:style>
          <a:lnRef idx="0"/>
          <a:fillRef idx="0"/>
          <a:effectRef idx="0"/>
          <a:fontRef idx="minor"/>
        </p:style>
      </p:sp>
      <p:sp>
        <p:nvSpPr>
          <p:cNvPr id="397" name="CustomShape 4"/>
          <p:cNvSpPr/>
          <p:nvPr/>
        </p:nvSpPr>
        <p:spPr>
          <a:xfrm>
            <a:off x="777240" y="1645920"/>
            <a:ext cx="502560" cy="50256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600" spc="-1" strike="noStrike">
                <a:solidFill>
                  <a:srgbClr val="ffffff"/>
                </a:solidFill>
                <a:latin typeface="Calibri"/>
              </a:rPr>
              <a:t>1</a:t>
            </a:r>
            <a:endParaRPr b="0" lang="en-US" sz="1600" spc="-1" strike="noStrike">
              <a:latin typeface="Arial"/>
            </a:endParaRPr>
          </a:p>
        </p:txBody>
      </p:sp>
      <p:sp>
        <p:nvSpPr>
          <p:cNvPr id="398" name="CustomShape 5"/>
          <p:cNvSpPr/>
          <p:nvPr/>
        </p:nvSpPr>
        <p:spPr>
          <a:xfrm>
            <a:off x="777240" y="2286000"/>
            <a:ext cx="2194200" cy="548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Dispatch together</a:t>
            </a:r>
            <a:endParaRPr b="0" lang="en-US" sz="1600" spc="-1" strike="noStrike">
              <a:latin typeface="Arial"/>
            </a:endParaRPr>
          </a:p>
        </p:txBody>
      </p:sp>
      <p:sp>
        <p:nvSpPr>
          <p:cNvPr id="399" name="CustomShape 6"/>
          <p:cNvSpPr/>
          <p:nvPr/>
        </p:nvSpPr>
        <p:spPr>
          <a:xfrm>
            <a:off x="777240" y="2880360"/>
            <a:ext cx="2194200" cy="8683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The vseq sends the write and the read with wait_resp = 0, so neither waits for the other.</a:t>
            </a:r>
            <a:endParaRPr b="0" lang="en-US" sz="1400" spc="-1" strike="noStrike">
              <a:latin typeface="Arial"/>
            </a:endParaRPr>
          </a:p>
        </p:txBody>
      </p:sp>
      <p:sp>
        <p:nvSpPr>
          <p:cNvPr id="400" name="CustomShape 7"/>
          <p:cNvSpPr/>
          <p:nvPr/>
        </p:nvSpPr>
        <p:spPr>
          <a:xfrm>
            <a:off x="3383280" y="1417320"/>
            <a:ext cx="2559960" cy="2377080"/>
          </a:xfrm>
          <a:prstGeom prst="roundRect">
            <a:avLst>
              <a:gd name="adj" fmla="val 4615"/>
            </a:avLst>
          </a:prstGeom>
          <a:solidFill>
            <a:schemeClr val="bg2"/>
          </a:solidFill>
          <a:ln>
            <a:noFill/>
          </a:ln>
        </p:spPr>
        <p:style>
          <a:lnRef idx="0"/>
          <a:fillRef idx="0"/>
          <a:effectRef idx="0"/>
          <a:fontRef idx="minor"/>
        </p:style>
      </p:sp>
      <p:sp>
        <p:nvSpPr>
          <p:cNvPr id="401" name="CustomShape 8"/>
          <p:cNvSpPr/>
          <p:nvPr/>
        </p:nvSpPr>
        <p:spPr>
          <a:xfrm>
            <a:off x="3611880" y="1645920"/>
            <a:ext cx="502560" cy="502560"/>
          </a:xfrm>
          <a:prstGeom prst="ellipse">
            <a:avLst/>
          </a:prstGeom>
          <a:solidFill>
            <a:schemeClr val="accent1"/>
          </a:solidFill>
          <a:ln>
            <a:noFill/>
          </a:ln>
        </p:spPr>
        <p:style>
          <a:lnRef idx="0"/>
          <a:fillRef idx="0"/>
          <a:effectRef idx="0"/>
          <a:fontRef idx="minor"/>
        </p:style>
      </p:sp>
      <p:sp>
        <p:nvSpPr>
          <p:cNvPr id="402" name="CustomShape 9"/>
          <p:cNvSpPr/>
          <p:nvPr/>
        </p:nvSpPr>
        <p:spPr>
          <a:xfrm>
            <a:off x="3611880" y="1645920"/>
            <a:ext cx="502560" cy="50256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600" spc="-1" strike="noStrike">
                <a:solidFill>
                  <a:srgbClr val="ffffff"/>
                </a:solidFill>
                <a:latin typeface="Calibri"/>
              </a:rPr>
              <a:t>2</a:t>
            </a:r>
            <a:endParaRPr b="0" lang="en-US" sz="1600" spc="-1" strike="noStrike">
              <a:latin typeface="Arial"/>
            </a:endParaRPr>
          </a:p>
        </p:txBody>
      </p:sp>
      <p:sp>
        <p:nvSpPr>
          <p:cNvPr id="403" name="CustomShape 10"/>
          <p:cNvSpPr/>
          <p:nvPr/>
        </p:nvSpPr>
        <p:spPr>
          <a:xfrm>
            <a:off x="3611880" y="2286000"/>
            <a:ext cx="2194200" cy="548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Valid in the same cycle</a:t>
            </a:r>
            <a:endParaRPr b="0" lang="en-US" sz="1600" spc="-1" strike="noStrike">
              <a:latin typeface="Arial"/>
            </a:endParaRPr>
          </a:p>
        </p:txBody>
      </p:sp>
      <p:sp>
        <p:nvSpPr>
          <p:cNvPr id="404" name="CustomShape 11"/>
          <p:cNvSpPr/>
          <p:nvPr/>
        </p:nvSpPr>
        <p:spPr>
          <a:xfrm>
            <a:off x="3611880" y="2880360"/>
            <a:ext cx="2194200" cy="8683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The AW, W and AR engines all raise VALID on the same negedge.</a:t>
            </a:r>
            <a:endParaRPr b="0" lang="en-US" sz="1400" spc="-1" strike="noStrike">
              <a:latin typeface="Arial"/>
            </a:endParaRPr>
          </a:p>
        </p:txBody>
      </p:sp>
      <p:sp>
        <p:nvSpPr>
          <p:cNvPr id="405" name="CustomShape 12"/>
          <p:cNvSpPr/>
          <p:nvPr/>
        </p:nvSpPr>
        <p:spPr>
          <a:xfrm>
            <a:off x="6217920" y="1417320"/>
            <a:ext cx="2559960" cy="2377080"/>
          </a:xfrm>
          <a:prstGeom prst="roundRect">
            <a:avLst>
              <a:gd name="adj" fmla="val 4615"/>
            </a:avLst>
          </a:prstGeom>
          <a:solidFill>
            <a:schemeClr val="bg2"/>
          </a:solidFill>
          <a:ln>
            <a:noFill/>
          </a:ln>
        </p:spPr>
        <p:style>
          <a:lnRef idx="0"/>
          <a:fillRef idx="0"/>
          <a:effectRef idx="0"/>
          <a:fontRef idx="minor"/>
        </p:style>
      </p:sp>
      <p:sp>
        <p:nvSpPr>
          <p:cNvPr id="406" name="CustomShape 13"/>
          <p:cNvSpPr/>
          <p:nvPr/>
        </p:nvSpPr>
        <p:spPr>
          <a:xfrm>
            <a:off x="6446520" y="1645920"/>
            <a:ext cx="502560" cy="502560"/>
          </a:xfrm>
          <a:prstGeom prst="ellipse">
            <a:avLst/>
          </a:prstGeom>
          <a:solidFill>
            <a:schemeClr val="accent1"/>
          </a:solidFill>
          <a:ln>
            <a:noFill/>
          </a:ln>
        </p:spPr>
        <p:style>
          <a:lnRef idx="0"/>
          <a:fillRef idx="0"/>
          <a:effectRef idx="0"/>
          <a:fontRef idx="minor"/>
        </p:style>
      </p:sp>
      <p:sp>
        <p:nvSpPr>
          <p:cNvPr id="407" name="CustomShape 14"/>
          <p:cNvSpPr/>
          <p:nvPr/>
        </p:nvSpPr>
        <p:spPr>
          <a:xfrm>
            <a:off x="6446520" y="1645920"/>
            <a:ext cx="502560" cy="50256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600" spc="-1" strike="noStrike">
                <a:solidFill>
                  <a:srgbClr val="ffffff"/>
                </a:solidFill>
                <a:latin typeface="Calibri"/>
              </a:rPr>
              <a:t>3</a:t>
            </a:r>
            <a:endParaRPr b="0" lang="en-US" sz="1600" spc="-1" strike="noStrike">
              <a:latin typeface="Arial"/>
            </a:endParaRPr>
          </a:p>
        </p:txBody>
      </p:sp>
      <p:sp>
        <p:nvSpPr>
          <p:cNvPr id="408" name="CustomShape 15"/>
          <p:cNvSpPr/>
          <p:nvPr/>
        </p:nvSpPr>
        <p:spPr>
          <a:xfrm>
            <a:off x="6446520" y="2286000"/>
            <a:ext cx="2194200" cy="548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One posedge, three pushes</a:t>
            </a:r>
            <a:endParaRPr b="0" lang="en-US" sz="1600" spc="-1" strike="noStrike">
              <a:latin typeface="Arial"/>
            </a:endParaRPr>
          </a:p>
        </p:txBody>
      </p:sp>
      <p:sp>
        <p:nvSpPr>
          <p:cNvPr id="409" name="CustomShape 16"/>
          <p:cNvSpPr/>
          <p:nvPr/>
        </p:nvSpPr>
        <p:spPr>
          <a:xfrm>
            <a:off x="6446520" y="2880360"/>
            <a:ext cx="2194200" cy="8683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All three handshakes finish on one edge and fill their FIFOs.</a:t>
            </a:r>
            <a:endParaRPr b="0" lang="en-US" sz="1400" spc="-1" strike="noStrike">
              <a:latin typeface="Arial"/>
            </a:endParaRPr>
          </a:p>
        </p:txBody>
      </p:sp>
      <p:sp>
        <p:nvSpPr>
          <p:cNvPr id="410" name="CustomShape 17"/>
          <p:cNvSpPr/>
          <p:nvPr/>
        </p:nvSpPr>
        <p:spPr>
          <a:xfrm>
            <a:off x="9052560" y="1417320"/>
            <a:ext cx="2559960" cy="2377080"/>
          </a:xfrm>
          <a:prstGeom prst="roundRect">
            <a:avLst>
              <a:gd name="adj" fmla="val 4615"/>
            </a:avLst>
          </a:prstGeom>
          <a:solidFill>
            <a:schemeClr val="bg2"/>
          </a:solidFill>
          <a:ln>
            <a:noFill/>
          </a:ln>
        </p:spPr>
        <p:style>
          <a:lnRef idx="0"/>
          <a:fillRef idx="0"/>
          <a:effectRef idx="0"/>
          <a:fontRef idx="minor"/>
        </p:style>
      </p:sp>
      <p:sp>
        <p:nvSpPr>
          <p:cNvPr id="411" name="CustomShape 18"/>
          <p:cNvSpPr/>
          <p:nvPr/>
        </p:nvSpPr>
        <p:spPr>
          <a:xfrm>
            <a:off x="9281160" y="1645920"/>
            <a:ext cx="502560" cy="502560"/>
          </a:xfrm>
          <a:prstGeom prst="ellipse">
            <a:avLst/>
          </a:prstGeom>
          <a:solidFill>
            <a:schemeClr val="accent2"/>
          </a:solidFill>
          <a:ln>
            <a:noFill/>
          </a:ln>
        </p:spPr>
        <p:style>
          <a:lnRef idx="0"/>
          <a:fillRef idx="0"/>
          <a:effectRef idx="0"/>
          <a:fontRef idx="minor"/>
        </p:style>
      </p:sp>
      <p:sp>
        <p:nvSpPr>
          <p:cNvPr id="412" name="CustomShape 19"/>
          <p:cNvSpPr/>
          <p:nvPr/>
        </p:nvSpPr>
        <p:spPr>
          <a:xfrm>
            <a:off x="9281160" y="1645920"/>
            <a:ext cx="502560" cy="50256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600" spc="-1" strike="noStrike">
                <a:solidFill>
                  <a:srgbClr val="ffffff"/>
                </a:solidFill>
                <a:latin typeface="Calibri"/>
              </a:rPr>
              <a:t>4</a:t>
            </a:r>
            <a:endParaRPr b="0" lang="en-US" sz="1600" spc="-1" strike="noStrike">
              <a:latin typeface="Arial"/>
            </a:endParaRPr>
          </a:p>
        </p:txBody>
      </p:sp>
      <p:sp>
        <p:nvSpPr>
          <p:cNvPr id="413" name="CustomShape 20"/>
          <p:cNvSpPr/>
          <p:nvPr/>
        </p:nvSpPr>
        <p:spPr>
          <a:xfrm>
            <a:off x="9281160" y="2286000"/>
            <a:ext cx="2194200" cy="548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FSM picks the read</a:t>
            </a:r>
            <a:endParaRPr b="0" lang="en-US" sz="1600" spc="-1" strike="noStrike">
              <a:latin typeface="Arial"/>
            </a:endParaRPr>
          </a:p>
        </p:txBody>
      </p:sp>
      <p:sp>
        <p:nvSpPr>
          <p:cNvPr id="414" name="CustomShape 21"/>
          <p:cNvSpPr/>
          <p:nvPr/>
        </p:nvSpPr>
        <p:spPr>
          <a:xfrm>
            <a:off x="9281160" y="2880360"/>
            <a:ext cx="2194200" cy="8683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ARVALID is tested first, so the APB read runs before the write.</a:t>
            </a:r>
            <a:endParaRPr b="0" lang="en-US" sz="1400" spc="-1" strike="noStrike">
              <a:latin typeface="Arial"/>
            </a:endParaRPr>
          </a:p>
        </p:txBody>
      </p:sp>
      <p:sp>
        <p:nvSpPr>
          <p:cNvPr id="415" name="CustomShape 22"/>
          <p:cNvSpPr/>
          <p:nvPr/>
        </p:nvSpPr>
        <p:spPr>
          <a:xfrm>
            <a:off x="548640" y="4069080"/>
            <a:ext cx="5668920" cy="2011320"/>
          </a:xfrm>
          <a:prstGeom prst="roundRect">
            <a:avLst>
              <a:gd name="adj" fmla="val 5455"/>
            </a:avLst>
          </a:prstGeom>
          <a:solidFill>
            <a:schemeClr val="tx1"/>
          </a:solidFill>
          <a:ln>
            <a:noFill/>
          </a:ln>
        </p:spPr>
        <p:style>
          <a:lnRef idx="0"/>
          <a:fillRef idx="0"/>
          <a:effectRef idx="0"/>
          <a:fontRef idx="minor"/>
        </p:style>
      </p:sp>
      <p:sp>
        <p:nvSpPr>
          <p:cNvPr id="416" name="CustomShape 23"/>
          <p:cNvSpPr/>
          <p:nvPr/>
        </p:nvSpPr>
        <p:spPr>
          <a:xfrm>
            <a:off x="822960" y="4206240"/>
            <a:ext cx="5120280" cy="2739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200" spc="-1" strike="noStrike">
                <a:solidFill>
                  <a:srgbClr val="f3f6fa"/>
                </a:solidFill>
                <a:latin typeface="Calibri"/>
              </a:rPr>
              <a:t>IDLE state in axi2apb.sv (simplified)</a:t>
            </a:r>
            <a:endParaRPr b="0" lang="en-US" sz="1200" spc="-1" strike="noStrike">
              <a:latin typeface="Arial"/>
            </a:endParaRPr>
          </a:p>
        </p:txBody>
      </p:sp>
      <p:sp>
        <p:nvSpPr>
          <p:cNvPr id="417" name="CustomShape 24"/>
          <p:cNvSpPr/>
          <p:nvPr/>
        </p:nvSpPr>
        <p:spPr>
          <a:xfrm>
            <a:off x="822960" y="4617720"/>
            <a:ext cx="5211720" cy="1279800"/>
          </a:xfrm>
          <a:prstGeom prst="rect">
            <a:avLst/>
          </a:prstGeom>
          <a:noFill/>
          <a:ln>
            <a:noFill/>
          </a:ln>
        </p:spPr>
        <p:style>
          <a:lnRef idx="0"/>
          <a:fillRef idx="0"/>
          <a:effectRef idx="0"/>
          <a:fontRef idx="minor"/>
        </p:style>
        <p:txBody>
          <a:bodyPr lIns="0" rIns="0" tIns="0" bIns="0">
            <a:noAutofit/>
          </a:bodyPr>
          <a:p>
            <a:pPr>
              <a:lnSpc>
                <a:spcPct val="100000"/>
              </a:lnSpc>
              <a:spcAft>
                <a:spcPts val="601"/>
              </a:spcAft>
              <a:tabLst>
                <a:tab algn="l" pos="0"/>
              </a:tabLst>
            </a:pPr>
            <a:r>
              <a:rPr b="0" lang="en-US" sz="1400" spc="-1" strike="noStrike">
                <a:solidFill>
                  <a:srgbClr val="ffffff"/>
                </a:solidFill>
                <a:latin typeface="Courier New"/>
                <a:ea typeface="Courier New"/>
              </a:rPr>
              <a:t>if (ARVALID)          // read wins</a:t>
            </a:r>
            <a:endParaRPr b="0" lang="en-US" sz="1400" spc="-1" strike="noStrike">
              <a:latin typeface="Arial"/>
            </a:endParaRPr>
          </a:p>
          <a:p>
            <a:pPr>
              <a:lnSpc>
                <a:spcPct val="100000"/>
              </a:lnSpc>
              <a:spcAft>
                <a:spcPts val="601"/>
              </a:spcAft>
              <a:tabLst>
                <a:tab algn="l" pos="0"/>
              </a:tabLst>
            </a:pPr>
            <a:r>
              <a:rPr b="0" lang="en-US" sz="1400" spc="-1" strike="noStrike">
                <a:solidFill>
                  <a:srgbClr val="ffffff"/>
                </a:solidFill>
                <a:latin typeface="Courier New"/>
                <a:ea typeface="Courier New"/>
              </a:rPr>
              <a:t>    </a:t>
            </a:r>
            <a:r>
              <a:rPr b="0" lang="en-US" sz="1400" spc="-1" strike="noStrike">
                <a:solidFill>
                  <a:srgbClr val="ffffff"/>
                </a:solidFill>
                <a:latin typeface="Courier New"/>
                <a:ea typeface="Courier New"/>
              </a:rPr>
              <a:t>start APB read</a:t>
            </a:r>
            <a:endParaRPr b="0" lang="en-US" sz="1400" spc="-1" strike="noStrike">
              <a:latin typeface="Arial"/>
            </a:endParaRPr>
          </a:p>
          <a:p>
            <a:pPr>
              <a:lnSpc>
                <a:spcPct val="100000"/>
              </a:lnSpc>
              <a:spcAft>
                <a:spcPts val="601"/>
              </a:spcAft>
              <a:tabLst>
                <a:tab algn="l" pos="0"/>
              </a:tabLst>
            </a:pPr>
            <a:r>
              <a:rPr b="0" lang="en-US" sz="1400" spc="-1" strike="noStrike">
                <a:solidFill>
                  <a:srgbClr val="ffffff"/>
                </a:solidFill>
                <a:latin typeface="Courier New"/>
                <a:ea typeface="Courier New"/>
              </a:rPr>
              <a:t>else if (AWVALID)     // write if no read</a:t>
            </a:r>
            <a:endParaRPr b="0" lang="en-US" sz="1400" spc="-1" strike="noStrike">
              <a:latin typeface="Arial"/>
            </a:endParaRPr>
          </a:p>
          <a:p>
            <a:pPr>
              <a:lnSpc>
                <a:spcPct val="100000"/>
              </a:lnSpc>
              <a:spcAft>
                <a:spcPts val="601"/>
              </a:spcAft>
              <a:tabLst>
                <a:tab algn="l" pos="0"/>
              </a:tabLst>
            </a:pPr>
            <a:r>
              <a:rPr b="0" lang="en-US" sz="1400" spc="-1" strike="noStrike">
                <a:solidFill>
                  <a:srgbClr val="ffffff"/>
                </a:solidFill>
                <a:latin typeface="Courier New"/>
                <a:ea typeface="Courier New"/>
              </a:rPr>
              <a:t>    </a:t>
            </a:r>
            <a:r>
              <a:rPr b="0" lang="en-US" sz="1400" spc="-1" strike="noStrike">
                <a:solidFill>
                  <a:srgbClr val="ffffff"/>
                </a:solidFill>
                <a:latin typeface="Courier New"/>
                <a:ea typeface="Courier New"/>
              </a:rPr>
              <a:t>start APB write</a:t>
            </a:r>
            <a:endParaRPr b="0" lang="en-US" sz="1400" spc="-1" strike="noStrike">
              <a:latin typeface="Arial"/>
            </a:endParaRPr>
          </a:p>
        </p:txBody>
      </p:sp>
      <p:sp>
        <p:nvSpPr>
          <p:cNvPr id="418" name="CustomShape 25"/>
          <p:cNvSpPr/>
          <p:nvPr/>
        </p:nvSpPr>
        <p:spPr>
          <a:xfrm>
            <a:off x="6583680" y="4069080"/>
            <a:ext cx="5028840" cy="319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APB bus order seen by the scoreboard</a:t>
            </a:r>
            <a:endParaRPr b="0" lang="en-US" sz="1600" spc="-1" strike="noStrike">
              <a:latin typeface="Arial"/>
            </a:endParaRPr>
          </a:p>
        </p:txBody>
      </p:sp>
      <p:sp>
        <p:nvSpPr>
          <p:cNvPr id="419" name="CustomShape 26"/>
          <p:cNvSpPr/>
          <p:nvPr/>
        </p:nvSpPr>
        <p:spPr>
          <a:xfrm>
            <a:off x="6583680" y="4572000"/>
            <a:ext cx="2377080" cy="868320"/>
          </a:xfrm>
          <a:prstGeom prst="roundRect">
            <a:avLst>
              <a:gd name="adj" fmla="val 10526"/>
            </a:avLst>
          </a:prstGeom>
          <a:solidFill>
            <a:schemeClr val="accent5"/>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1st: READ 0x500</a:t>
            </a:r>
            <a:endParaRPr b="0" lang="en-US" sz="1500" spc="-1" strike="noStrike">
              <a:latin typeface="Arial"/>
            </a:endParaRPr>
          </a:p>
        </p:txBody>
      </p:sp>
      <p:sp>
        <p:nvSpPr>
          <p:cNvPr id="420" name="Line 27"/>
          <p:cNvSpPr/>
          <p:nvPr/>
        </p:nvSpPr>
        <p:spPr>
          <a:xfrm>
            <a:off x="8961120" y="5006160"/>
            <a:ext cx="274320" cy="0"/>
          </a:xfrm>
          <a:prstGeom prst="line">
            <a:avLst/>
          </a:prstGeom>
          <a:ln w="19080">
            <a:solidFill>
              <a:schemeClr val="accent4"/>
            </a:solidFill>
            <a:round/>
            <a:tailEnd len="med" type="triangle" w="med"/>
          </a:ln>
        </p:spPr>
        <p:style>
          <a:lnRef idx="0"/>
          <a:fillRef idx="0"/>
          <a:effectRef idx="0"/>
          <a:fontRef idx="minor"/>
        </p:style>
      </p:sp>
      <p:sp>
        <p:nvSpPr>
          <p:cNvPr id="421" name="CustomShape 28"/>
          <p:cNvSpPr/>
          <p:nvPr/>
        </p:nvSpPr>
        <p:spPr>
          <a:xfrm>
            <a:off x="9235440" y="4572000"/>
            <a:ext cx="2377080" cy="868320"/>
          </a:xfrm>
          <a:prstGeom prst="roundRect">
            <a:avLst>
              <a:gd name="adj" fmla="val 10526"/>
            </a:avLst>
          </a:prstGeom>
          <a:solidFill>
            <a:schemeClr val="accent1"/>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500" spc="-1" strike="noStrike">
                <a:solidFill>
                  <a:srgbClr val="ffffff"/>
                </a:solidFill>
                <a:latin typeface="Calibri"/>
              </a:rPr>
              <a:t>2nd: WRITE 0x504</a:t>
            </a:r>
            <a:endParaRPr b="0" lang="en-US" sz="1500" spc="-1" strike="noStrike">
              <a:latin typeface="Arial"/>
            </a:endParaRPr>
          </a:p>
        </p:txBody>
      </p:sp>
      <p:sp>
        <p:nvSpPr>
          <p:cNvPr id="422" name="CustomShape 29"/>
          <p:cNvSpPr/>
          <p:nvPr/>
        </p:nvSpPr>
        <p:spPr>
          <a:xfrm>
            <a:off x="6583680" y="5623560"/>
            <a:ext cx="5028840" cy="3654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The test fails if the order is WRITE then READ.</a:t>
            </a:r>
            <a:endParaRPr b="0" lang="en-US" sz="1400" spc="-1" strike="noStrike">
              <a:latin typeface="Arial"/>
            </a:endParaRPr>
          </a:p>
        </p:txBody>
      </p:sp>
      <p:sp>
        <p:nvSpPr>
          <p:cNvPr id="423" name="TextShape 30"/>
          <p:cNvSpPr txBox="1"/>
          <p:nvPr/>
        </p:nvSpPr>
        <p:spPr>
          <a:xfrm>
            <a:off x="11064240" y="6419160"/>
            <a:ext cx="548280" cy="273960"/>
          </a:xfrm>
          <a:prstGeom prst="rect">
            <a:avLst/>
          </a:prstGeom>
          <a:noFill/>
          <a:ln>
            <a:noFill/>
          </a:ln>
        </p:spPr>
        <p:txBody>
          <a:bodyPr lIns="90000" rIns="90000" tIns="45000" bIns="45000">
            <a:noAutofit/>
          </a:bodyPr>
          <a:p>
            <a:pPr algn="r">
              <a:lnSpc>
                <a:spcPct val="100000"/>
              </a:lnSpc>
            </a:pPr>
            <a:fld id="{515C3FED-9554-474F-A232-2DB657E06655}" type="slidenum">
              <a:rPr b="0" lang="en-US" sz="1000" spc="-1" strike="noStrike">
                <a:solidFill>
                  <a:srgbClr val="5b6c8f"/>
                </a:solidFill>
                <a:latin typeface="Calibri"/>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TextShape 1"/>
          <p:cNvSpPr txBox="1"/>
          <p:nvPr/>
        </p:nvSpPr>
        <p:spPr>
          <a:xfrm>
            <a:off x="548640" y="365760"/>
            <a:ext cx="11063880" cy="731160"/>
          </a:xfrm>
          <a:prstGeom prst="rect">
            <a:avLst/>
          </a:prstGeom>
          <a:noFill/>
          <a:ln>
            <a:noFill/>
          </a:ln>
        </p:spPr>
        <p:txBody>
          <a:bodyPr lIns="0" rIns="0" tIns="0" bIns="0" anchor="ctr">
            <a:noAutofit/>
          </a:bodyPr>
          <a:p>
            <a:pPr algn="ctr">
              <a:lnSpc>
                <a:spcPct val="100000"/>
              </a:lnSpc>
              <a:tabLst>
                <a:tab algn="l" pos="0"/>
              </a:tabLst>
            </a:pPr>
            <a:r>
              <a:rPr b="1" lang="en-US" sz="3400" spc="-1" strike="noStrike">
                <a:solidFill>
                  <a:srgbClr val="0f1b2d"/>
                </a:solidFill>
                <a:latin typeface="Cambria"/>
              </a:rPr>
              <a:t>Build and run flow</a:t>
            </a:r>
            <a:endParaRPr b="0" lang="en-US" sz="3400" spc="-1" strike="noStrike">
              <a:solidFill>
                <a:srgbClr val="0f1b2d"/>
              </a:solidFill>
              <a:latin typeface="Calibri"/>
            </a:endParaRPr>
          </a:p>
        </p:txBody>
      </p:sp>
      <p:sp>
        <p:nvSpPr>
          <p:cNvPr id="425" name="CustomShape 2"/>
          <p:cNvSpPr/>
          <p:nvPr/>
        </p:nvSpPr>
        <p:spPr>
          <a:xfrm>
            <a:off x="548640" y="1417320"/>
            <a:ext cx="2377080" cy="1188360"/>
          </a:xfrm>
          <a:prstGeom prst="roundRect">
            <a:avLst>
              <a:gd name="adj" fmla="val 7692"/>
            </a:avLst>
          </a:prstGeom>
          <a:solidFill>
            <a:schemeClr val="tx2"/>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600" spc="-1" strike="noStrike">
                <a:solidFill>
                  <a:srgbClr val="ffffff"/>
                </a:solidFill>
                <a:latin typeface="Calibri"/>
              </a:rPr>
              <a:t>build.flist</a:t>
            </a:r>
            <a:endParaRPr b="0" lang="en-US" sz="1600" spc="-1" strike="noStrike">
              <a:latin typeface="Arial"/>
            </a:endParaRPr>
          </a:p>
          <a:p>
            <a:pPr algn="ctr">
              <a:lnSpc>
                <a:spcPct val="100000"/>
              </a:lnSpc>
              <a:tabLst>
                <a:tab algn="l" pos="0"/>
              </a:tabLst>
            </a:pPr>
            <a:r>
              <a:rPr b="1" lang="en-US" sz="1400" spc="-1" strike="noStrike">
                <a:solidFill>
                  <a:srgbClr val="ffffff"/>
                </a:solidFill>
                <a:latin typeface="Calibri"/>
              </a:rPr>
              <a:t>compile order</a:t>
            </a:r>
            <a:endParaRPr b="0" lang="en-US" sz="1400" spc="-1" strike="noStrike">
              <a:latin typeface="Arial"/>
            </a:endParaRPr>
          </a:p>
        </p:txBody>
      </p:sp>
      <p:sp>
        <p:nvSpPr>
          <p:cNvPr id="426" name="Line 3"/>
          <p:cNvSpPr/>
          <p:nvPr/>
        </p:nvSpPr>
        <p:spPr>
          <a:xfrm>
            <a:off x="2926080" y="2011680"/>
            <a:ext cx="520920" cy="0"/>
          </a:xfrm>
          <a:prstGeom prst="line">
            <a:avLst/>
          </a:prstGeom>
          <a:ln w="19080">
            <a:solidFill>
              <a:schemeClr val="accent4"/>
            </a:solidFill>
            <a:round/>
            <a:tailEnd len="med" type="triangle" w="med"/>
          </a:ln>
        </p:spPr>
        <p:style>
          <a:lnRef idx="0"/>
          <a:fillRef idx="0"/>
          <a:effectRef idx="0"/>
          <a:fontRef idx="minor"/>
        </p:style>
      </p:sp>
      <p:sp>
        <p:nvSpPr>
          <p:cNvPr id="427" name="CustomShape 4"/>
          <p:cNvSpPr/>
          <p:nvPr/>
        </p:nvSpPr>
        <p:spPr>
          <a:xfrm>
            <a:off x="3447360" y="1417320"/>
            <a:ext cx="2377080" cy="1188360"/>
          </a:xfrm>
          <a:prstGeom prst="roundRect">
            <a:avLst>
              <a:gd name="adj" fmla="val 7692"/>
            </a:avLst>
          </a:prstGeom>
          <a:solidFill>
            <a:schemeClr val="tx2"/>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600" spc="-1" strike="noStrike">
                <a:solidFill>
                  <a:srgbClr val="ffffff"/>
                </a:solidFill>
                <a:latin typeface="Calibri"/>
              </a:rPr>
              <a:t>make compile</a:t>
            </a:r>
            <a:endParaRPr b="0" lang="en-US" sz="1600" spc="-1" strike="noStrike">
              <a:latin typeface="Arial"/>
            </a:endParaRPr>
          </a:p>
          <a:p>
            <a:pPr algn="ctr">
              <a:lnSpc>
                <a:spcPct val="100000"/>
              </a:lnSpc>
              <a:tabLst>
                <a:tab algn="l" pos="0"/>
              </a:tabLst>
            </a:pPr>
            <a:r>
              <a:rPr b="1" lang="en-US" sz="1400" spc="-1" strike="noStrike">
                <a:solidFill>
                  <a:srgbClr val="ffffff"/>
                </a:solidFill>
                <a:latin typeface="Calibri"/>
              </a:rPr>
              <a:t>VCS builds one simv</a:t>
            </a:r>
            <a:endParaRPr b="0" lang="en-US" sz="1400" spc="-1" strike="noStrike">
              <a:latin typeface="Arial"/>
            </a:endParaRPr>
          </a:p>
        </p:txBody>
      </p:sp>
      <p:sp>
        <p:nvSpPr>
          <p:cNvPr id="428" name="Line 5"/>
          <p:cNvSpPr/>
          <p:nvPr/>
        </p:nvSpPr>
        <p:spPr>
          <a:xfrm>
            <a:off x="5824440" y="2011680"/>
            <a:ext cx="521280" cy="0"/>
          </a:xfrm>
          <a:prstGeom prst="line">
            <a:avLst/>
          </a:prstGeom>
          <a:ln w="19080">
            <a:solidFill>
              <a:schemeClr val="accent4"/>
            </a:solidFill>
            <a:round/>
            <a:tailEnd len="med" type="triangle" w="med"/>
          </a:ln>
        </p:spPr>
        <p:style>
          <a:lnRef idx="0"/>
          <a:fillRef idx="0"/>
          <a:effectRef idx="0"/>
          <a:fontRef idx="minor"/>
        </p:style>
      </p:sp>
      <p:sp>
        <p:nvSpPr>
          <p:cNvPr id="429" name="CustomShape 6"/>
          <p:cNvSpPr/>
          <p:nvPr/>
        </p:nvSpPr>
        <p:spPr>
          <a:xfrm>
            <a:off x="6346080" y="1417320"/>
            <a:ext cx="2377080" cy="1188360"/>
          </a:xfrm>
          <a:prstGeom prst="roundRect">
            <a:avLst>
              <a:gd name="adj" fmla="val 7692"/>
            </a:avLst>
          </a:prstGeom>
          <a:solidFill>
            <a:schemeClr val="tx2"/>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600" spc="-1" strike="noStrike">
                <a:solidFill>
                  <a:srgbClr val="ffffff"/>
                </a:solidFill>
                <a:latin typeface="Calibri"/>
              </a:rPr>
              <a:t>make sim</a:t>
            </a:r>
            <a:endParaRPr b="0" lang="en-US" sz="1600" spc="-1" strike="noStrike">
              <a:latin typeface="Arial"/>
            </a:endParaRPr>
          </a:p>
          <a:p>
            <a:pPr algn="ctr">
              <a:lnSpc>
                <a:spcPct val="100000"/>
              </a:lnSpc>
              <a:tabLst>
                <a:tab algn="l" pos="0"/>
              </a:tabLst>
            </a:pPr>
            <a:r>
              <a:rPr b="1" lang="en-US" sz="1400" spc="-1" strike="noStrike">
                <a:solidFill>
                  <a:srgbClr val="ffffff"/>
                </a:solidFill>
                <a:latin typeface="Calibri"/>
              </a:rPr>
              <a:t>one test, one seed</a:t>
            </a:r>
            <a:endParaRPr b="0" lang="en-US" sz="1400" spc="-1" strike="noStrike">
              <a:latin typeface="Arial"/>
            </a:endParaRPr>
          </a:p>
        </p:txBody>
      </p:sp>
      <p:sp>
        <p:nvSpPr>
          <p:cNvPr id="430" name="Line 7"/>
          <p:cNvSpPr/>
          <p:nvPr/>
        </p:nvSpPr>
        <p:spPr>
          <a:xfrm>
            <a:off x="8723160" y="2011680"/>
            <a:ext cx="521280" cy="0"/>
          </a:xfrm>
          <a:prstGeom prst="line">
            <a:avLst/>
          </a:prstGeom>
          <a:ln w="19080">
            <a:solidFill>
              <a:schemeClr val="accent4"/>
            </a:solidFill>
            <a:round/>
            <a:tailEnd len="med" type="triangle" w="med"/>
          </a:ln>
        </p:spPr>
        <p:style>
          <a:lnRef idx="0"/>
          <a:fillRef idx="0"/>
          <a:effectRef idx="0"/>
          <a:fontRef idx="minor"/>
        </p:style>
      </p:sp>
      <p:sp>
        <p:nvSpPr>
          <p:cNvPr id="431" name="CustomShape 8"/>
          <p:cNvSpPr/>
          <p:nvPr/>
        </p:nvSpPr>
        <p:spPr>
          <a:xfrm>
            <a:off x="9244440" y="1417320"/>
            <a:ext cx="2377080" cy="1188360"/>
          </a:xfrm>
          <a:prstGeom prst="roundRect">
            <a:avLst>
              <a:gd name="adj" fmla="val 7692"/>
            </a:avLst>
          </a:prstGeom>
          <a:solidFill>
            <a:schemeClr val="accent1"/>
          </a:solidFill>
          <a:ln>
            <a:noFill/>
          </a:ln>
        </p:spPr>
        <p:style>
          <a:lnRef idx="0"/>
          <a:fillRef idx="0"/>
          <a:effectRef idx="0"/>
          <a:fontRef idx="minor"/>
        </p:style>
        <p:txBody>
          <a:bodyPr lIns="720" rIns="720" tIns="720" bIns="720" anchor="ctr">
            <a:noAutofit/>
          </a:bodyPr>
          <a:p>
            <a:pPr algn="ctr">
              <a:lnSpc>
                <a:spcPct val="100000"/>
              </a:lnSpc>
              <a:tabLst>
                <a:tab algn="l" pos="0"/>
              </a:tabLst>
            </a:pPr>
            <a:r>
              <a:rPr b="1" lang="en-US" sz="1600" spc="-1" strike="noStrike">
                <a:solidFill>
                  <a:srgbClr val="ffffff"/>
                </a:solidFill>
                <a:latin typeface="Calibri"/>
              </a:rPr>
              <a:t>make regress</a:t>
            </a:r>
            <a:endParaRPr b="0" lang="en-US" sz="1600" spc="-1" strike="noStrike">
              <a:latin typeface="Arial"/>
            </a:endParaRPr>
          </a:p>
          <a:p>
            <a:pPr algn="ctr">
              <a:lnSpc>
                <a:spcPct val="100000"/>
              </a:lnSpc>
              <a:tabLst>
                <a:tab algn="l" pos="0"/>
              </a:tabLst>
            </a:pPr>
            <a:r>
              <a:rPr b="1" lang="en-US" sz="1400" spc="-1" strike="noStrike">
                <a:solidFill>
                  <a:srgbClr val="ffffff"/>
                </a:solidFill>
                <a:latin typeface="Calibri"/>
              </a:rPr>
              <a:t>all tests, summary, coverage</a:t>
            </a:r>
            <a:endParaRPr b="0" lang="en-US" sz="1400" spc="-1" strike="noStrike">
              <a:latin typeface="Arial"/>
            </a:endParaRPr>
          </a:p>
        </p:txBody>
      </p:sp>
      <p:sp>
        <p:nvSpPr>
          <p:cNvPr id="432" name="CustomShape 9"/>
          <p:cNvSpPr/>
          <p:nvPr/>
        </p:nvSpPr>
        <p:spPr>
          <a:xfrm>
            <a:off x="548640" y="2926080"/>
            <a:ext cx="6309000" cy="3154320"/>
          </a:xfrm>
          <a:prstGeom prst="roundRect">
            <a:avLst>
              <a:gd name="adj" fmla="val 3478"/>
            </a:avLst>
          </a:prstGeom>
          <a:solidFill>
            <a:schemeClr val="tx1"/>
          </a:solidFill>
          <a:ln>
            <a:noFill/>
          </a:ln>
        </p:spPr>
        <p:style>
          <a:lnRef idx="0"/>
          <a:fillRef idx="0"/>
          <a:effectRef idx="0"/>
          <a:fontRef idx="minor"/>
        </p:style>
      </p:sp>
      <p:sp>
        <p:nvSpPr>
          <p:cNvPr id="433" name="CustomShape 10"/>
          <p:cNvSpPr/>
          <p:nvPr/>
        </p:nvSpPr>
        <p:spPr>
          <a:xfrm>
            <a:off x="822960" y="3063240"/>
            <a:ext cx="2742840" cy="2739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200" spc="-1" strike="noStrike">
                <a:solidFill>
                  <a:srgbClr val="f3f6fa"/>
                </a:solidFill>
                <a:latin typeface="Calibri"/>
              </a:rPr>
              <a:t>Commands</a:t>
            </a:r>
            <a:endParaRPr b="0" lang="en-US" sz="1200" spc="-1" strike="noStrike">
              <a:latin typeface="Arial"/>
            </a:endParaRPr>
          </a:p>
        </p:txBody>
      </p:sp>
      <p:sp>
        <p:nvSpPr>
          <p:cNvPr id="434" name="CustomShape 11"/>
          <p:cNvSpPr/>
          <p:nvPr/>
        </p:nvSpPr>
        <p:spPr>
          <a:xfrm>
            <a:off x="822960" y="3474720"/>
            <a:ext cx="5851800" cy="2377080"/>
          </a:xfrm>
          <a:prstGeom prst="rect">
            <a:avLst/>
          </a:prstGeom>
          <a:noFill/>
          <a:ln>
            <a:noFill/>
          </a:ln>
        </p:spPr>
        <p:style>
          <a:lnRef idx="0"/>
          <a:fillRef idx="0"/>
          <a:effectRef idx="0"/>
          <a:fontRef idx="minor"/>
        </p:style>
        <p:txBody>
          <a:bodyPr lIns="0" rIns="0" tIns="0" bIns="0">
            <a:noAutofit/>
          </a:bodyPr>
          <a:p>
            <a:pPr>
              <a:lnSpc>
                <a:spcPct val="100000"/>
              </a:lnSpc>
              <a:spcAft>
                <a:spcPts val="1001"/>
              </a:spcAft>
              <a:tabLst>
                <a:tab algn="l" pos="0"/>
              </a:tabLst>
            </a:pPr>
            <a:r>
              <a:rPr b="0" lang="en-US" sz="1400" spc="-1" strike="noStrike">
                <a:solidFill>
                  <a:srgbClr val="ffffff"/>
                </a:solidFill>
                <a:latin typeface="Courier New"/>
                <a:ea typeface="Courier New"/>
              </a:rPr>
              <a:t>make compile</a:t>
            </a:r>
            <a:endParaRPr b="0" lang="en-US" sz="1400" spc="-1" strike="noStrike">
              <a:latin typeface="Arial"/>
            </a:endParaRPr>
          </a:p>
          <a:p>
            <a:pPr>
              <a:lnSpc>
                <a:spcPct val="100000"/>
              </a:lnSpc>
              <a:spcAft>
                <a:spcPts val="1001"/>
              </a:spcAft>
              <a:tabLst>
                <a:tab algn="l" pos="0"/>
              </a:tabLst>
            </a:pPr>
            <a:r>
              <a:rPr b="0" lang="en-US" sz="1400" spc="-1" strike="noStrike">
                <a:solidFill>
                  <a:srgbClr val="ffffff"/>
                </a:solidFill>
                <a:latin typeface="Courier New"/>
                <a:ea typeface="Courier New"/>
              </a:rPr>
              <a:t>make sim TEST=axi2apb_smoke_test</a:t>
            </a:r>
            <a:endParaRPr b="0" lang="en-US" sz="1400" spc="-1" strike="noStrike">
              <a:latin typeface="Arial"/>
            </a:endParaRPr>
          </a:p>
          <a:p>
            <a:pPr>
              <a:lnSpc>
                <a:spcPct val="100000"/>
              </a:lnSpc>
              <a:spcAft>
                <a:spcPts val="1001"/>
              </a:spcAft>
              <a:tabLst>
                <a:tab algn="l" pos="0"/>
              </a:tabLst>
            </a:pPr>
            <a:r>
              <a:rPr b="0" lang="en-US" sz="1400" spc="-1" strike="noStrike">
                <a:solidFill>
                  <a:srgbClr val="ffffff"/>
                </a:solidFill>
                <a:latin typeface="Courier New"/>
                <a:ea typeface="Courier New"/>
              </a:rPr>
              <a:t>make sim TEST=axi2apb_rw_priority_test SEED=7</a:t>
            </a:r>
            <a:endParaRPr b="0" lang="en-US" sz="1400" spc="-1" strike="noStrike">
              <a:latin typeface="Arial"/>
            </a:endParaRPr>
          </a:p>
          <a:p>
            <a:pPr>
              <a:lnSpc>
                <a:spcPct val="100000"/>
              </a:lnSpc>
              <a:spcAft>
                <a:spcPts val="1001"/>
              </a:spcAft>
              <a:tabLst>
                <a:tab algn="l" pos="0"/>
              </a:tabLst>
            </a:pPr>
            <a:r>
              <a:rPr b="0" lang="en-US" sz="1400" spc="-1" strike="noStrike">
                <a:solidFill>
                  <a:srgbClr val="ffffff"/>
                </a:solidFill>
                <a:latin typeface="Courier New"/>
                <a:ea typeface="Courier New"/>
              </a:rPr>
              <a:t>make regress     # 14 tests + summary</a:t>
            </a:r>
            <a:endParaRPr b="0" lang="en-US" sz="1400" spc="-1" strike="noStrike">
              <a:latin typeface="Arial"/>
            </a:endParaRPr>
          </a:p>
          <a:p>
            <a:pPr>
              <a:lnSpc>
                <a:spcPct val="100000"/>
              </a:lnSpc>
              <a:spcAft>
                <a:spcPts val="1001"/>
              </a:spcAft>
              <a:tabLst>
                <a:tab algn="l" pos="0"/>
              </a:tabLst>
            </a:pPr>
            <a:r>
              <a:rPr b="0" lang="en-US" sz="1400" spc="-1" strike="noStrike">
                <a:solidFill>
                  <a:srgbClr val="ffffff"/>
                </a:solidFill>
                <a:latin typeface="Courier New"/>
                <a:ea typeface="Courier New"/>
              </a:rPr>
              <a:t>make cov         # urg coverage report</a:t>
            </a:r>
            <a:endParaRPr b="0" lang="en-US" sz="1400" spc="-1" strike="noStrike">
              <a:latin typeface="Arial"/>
            </a:endParaRPr>
          </a:p>
        </p:txBody>
      </p:sp>
      <p:sp>
        <p:nvSpPr>
          <p:cNvPr id="435" name="CustomShape 12"/>
          <p:cNvSpPr/>
          <p:nvPr/>
        </p:nvSpPr>
        <p:spPr>
          <a:xfrm>
            <a:off x="7223760" y="2971800"/>
            <a:ext cx="639720" cy="639720"/>
          </a:xfrm>
          <a:prstGeom prst="ellipse">
            <a:avLst/>
          </a:prstGeom>
          <a:solidFill>
            <a:schemeClr val="accent1"/>
          </a:solidFill>
          <a:ln>
            <a:noFill/>
          </a:ln>
        </p:spPr>
        <p:style>
          <a:lnRef idx="0"/>
          <a:fillRef idx="0"/>
          <a:effectRef idx="0"/>
          <a:fontRef idx="minor"/>
        </p:style>
      </p:sp>
      <p:pic>
        <p:nvPicPr>
          <p:cNvPr id="436" name="icon FaCheckCircle" descr="preencoded.png"/>
          <p:cNvPicPr/>
          <p:nvPr/>
        </p:nvPicPr>
        <p:blipFill>
          <a:blip r:embed="rId1"/>
          <a:stretch/>
        </p:blipFill>
        <p:spPr>
          <a:xfrm>
            <a:off x="7383960" y="3132000"/>
            <a:ext cx="319680" cy="319680"/>
          </a:xfrm>
          <a:prstGeom prst="rect">
            <a:avLst/>
          </a:prstGeom>
          <a:ln>
            <a:noFill/>
          </a:ln>
        </p:spPr>
      </p:pic>
      <p:sp>
        <p:nvSpPr>
          <p:cNvPr id="437" name="CustomShape 13"/>
          <p:cNvSpPr/>
          <p:nvPr/>
        </p:nvSpPr>
        <p:spPr>
          <a:xfrm>
            <a:off x="8092440" y="2971800"/>
            <a:ext cx="3520080" cy="319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Pass or fail in the log</a:t>
            </a:r>
            <a:endParaRPr b="0" lang="en-US" sz="1600" spc="-1" strike="noStrike">
              <a:latin typeface="Arial"/>
            </a:endParaRPr>
          </a:p>
        </p:txBody>
      </p:sp>
      <p:sp>
        <p:nvSpPr>
          <p:cNvPr id="438" name="CustomShape 14"/>
          <p:cNvSpPr/>
          <p:nvPr/>
        </p:nvSpPr>
        <p:spPr>
          <a:xfrm>
            <a:off x="8092440" y="3337560"/>
            <a:ext cx="3520080" cy="914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Each log ends with TEST PASSED or TEST FAILED.</a:t>
            </a:r>
            <a:endParaRPr b="0" lang="en-US" sz="1400" spc="-1" strike="noStrike">
              <a:latin typeface="Arial"/>
            </a:endParaRPr>
          </a:p>
        </p:txBody>
      </p:sp>
      <p:sp>
        <p:nvSpPr>
          <p:cNvPr id="439" name="CustomShape 15"/>
          <p:cNvSpPr/>
          <p:nvPr/>
        </p:nvSpPr>
        <p:spPr>
          <a:xfrm>
            <a:off x="7223760" y="4069080"/>
            <a:ext cx="639720" cy="639720"/>
          </a:xfrm>
          <a:prstGeom prst="ellipse">
            <a:avLst/>
          </a:prstGeom>
          <a:solidFill>
            <a:schemeClr val="accent5"/>
          </a:solidFill>
          <a:ln>
            <a:noFill/>
          </a:ln>
        </p:spPr>
        <p:style>
          <a:lnRef idx="0"/>
          <a:fillRef idx="0"/>
          <a:effectRef idx="0"/>
          <a:fontRef idx="minor"/>
        </p:style>
      </p:sp>
      <p:pic>
        <p:nvPicPr>
          <p:cNvPr id="440" name="icon FaRandom" descr="preencoded.png"/>
          <p:cNvPicPr/>
          <p:nvPr/>
        </p:nvPicPr>
        <p:blipFill>
          <a:blip r:embed="rId2"/>
          <a:stretch/>
        </p:blipFill>
        <p:spPr>
          <a:xfrm>
            <a:off x="7383960" y="4229280"/>
            <a:ext cx="319680" cy="319680"/>
          </a:xfrm>
          <a:prstGeom prst="rect">
            <a:avLst/>
          </a:prstGeom>
          <a:ln>
            <a:noFill/>
          </a:ln>
        </p:spPr>
      </p:pic>
      <p:sp>
        <p:nvSpPr>
          <p:cNvPr id="441" name="CustomShape 16"/>
          <p:cNvSpPr/>
          <p:nvPr/>
        </p:nvSpPr>
        <p:spPr>
          <a:xfrm>
            <a:off x="8092440" y="4069080"/>
            <a:ext cx="3520080" cy="319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One build, many runs</a:t>
            </a:r>
            <a:endParaRPr b="0" lang="en-US" sz="1600" spc="-1" strike="noStrike">
              <a:latin typeface="Arial"/>
            </a:endParaRPr>
          </a:p>
        </p:txBody>
      </p:sp>
      <p:sp>
        <p:nvSpPr>
          <p:cNvPr id="442" name="CustomShape 17"/>
          <p:cNvSpPr/>
          <p:nvPr/>
        </p:nvSpPr>
        <p:spPr>
          <a:xfrm>
            <a:off x="8092440" y="4434840"/>
            <a:ext cx="3520080" cy="914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The same simv runs every test. Change SEED for another seed.</a:t>
            </a:r>
            <a:endParaRPr b="0" lang="en-US" sz="1400" spc="-1" strike="noStrike">
              <a:latin typeface="Arial"/>
            </a:endParaRPr>
          </a:p>
        </p:txBody>
      </p:sp>
      <p:sp>
        <p:nvSpPr>
          <p:cNvPr id="443" name="CustomShape 18"/>
          <p:cNvSpPr/>
          <p:nvPr/>
        </p:nvSpPr>
        <p:spPr>
          <a:xfrm>
            <a:off x="7223760" y="5166360"/>
            <a:ext cx="639720" cy="639720"/>
          </a:xfrm>
          <a:prstGeom prst="ellipse">
            <a:avLst/>
          </a:prstGeom>
          <a:solidFill>
            <a:schemeClr val="accent2"/>
          </a:solidFill>
          <a:ln>
            <a:noFill/>
          </a:ln>
        </p:spPr>
        <p:style>
          <a:lnRef idx="0"/>
          <a:fillRef idx="0"/>
          <a:effectRef idx="0"/>
          <a:fontRef idx="minor"/>
        </p:style>
      </p:sp>
      <p:pic>
        <p:nvPicPr>
          <p:cNvPr id="444" name="icon FaChartBar" descr="preencoded.png"/>
          <p:cNvPicPr/>
          <p:nvPr/>
        </p:nvPicPr>
        <p:blipFill>
          <a:blip r:embed="rId3"/>
          <a:stretch/>
        </p:blipFill>
        <p:spPr>
          <a:xfrm>
            <a:off x="7383960" y="5326560"/>
            <a:ext cx="319680" cy="319680"/>
          </a:xfrm>
          <a:prstGeom prst="rect">
            <a:avLst/>
          </a:prstGeom>
          <a:ln>
            <a:noFill/>
          </a:ln>
        </p:spPr>
      </p:pic>
      <p:sp>
        <p:nvSpPr>
          <p:cNvPr id="445" name="CustomShape 19"/>
          <p:cNvSpPr/>
          <p:nvPr/>
        </p:nvSpPr>
        <p:spPr>
          <a:xfrm>
            <a:off x="8092440" y="5166360"/>
            <a:ext cx="3520080" cy="319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f1b2d"/>
                </a:solidFill>
                <a:latin typeface="Calibri"/>
              </a:rPr>
              <a:t>Coverage</a:t>
            </a:r>
            <a:endParaRPr b="0" lang="en-US" sz="1600" spc="-1" strike="noStrike">
              <a:latin typeface="Arial"/>
            </a:endParaRPr>
          </a:p>
        </p:txBody>
      </p:sp>
      <p:sp>
        <p:nvSpPr>
          <p:cNvPr id="446" name="CustomShape 20"/>
          <p:cNvSpPr/>
          <p:nvPr/>
        </p:nvSpPr>
        <p:spPr>
          <a:xfrm>
            <a:off x="8092440" y="5532120"/>
            <a:ext cx="3520080" cy="914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5b6c8f"/>
                </a:solidFill>
                <a:latin typeface="Calibri"/>
              </a:rPr>
              <a:t>VCS code coverage plus functional covergroups, merged by urg.</a:t>
            </a:r>
            <a:endParaRPr b="0" lang="en-US" sz="1400" spc="-1" strike="noStrike">
              <a:latin typeface="Arial"/>
            </a:endParaRPr>
          </a:p>
        </p:txBody>
      </p:sp>
      <p:sp>
        <p:nvSpPr>
          <p:cNvPr id="447" name="TextShape 21"/>
          <p:cNvSpPr txBox="1"/>
          <p:nvPr/>
        </p:nvSpPr>
        <p:spPr>
          <a:xfrm>
            <a:off x="11064240" y="6419160"/>
            <a:ext cx="548280" cy="273960"/>
          </a:xfrm>
          <a:prstGeom prst="rect">
            <a:avLst/>
          </a:prstGeom>
          <a:noFill/>
          <a:ln>
            <a:noFill/>
          </a:ln>
        </p:spPr>
        <p:txBody>
          <a:bodyPr lIns="90000" rIns="90000" tIns="45000" bIns="45000">
            <a:noAutofit/>
          </a:bodyPr>
          <a:p>
            <a:pPr algn="r">
              <a:lnSpc>
                <a:spcPct val="100000"/>
              </a:lnSpc>
            </a:pPr>
            <a:fld id="{01D7452C-0F7D-496B-A9F7-E4FB817AA59E}" type="slidenum">
              <a:rPr b="0" lang="en-US" sz="1000" spc="-1" strike="noStrike">
                <a:solidFill>
                  <a:srgbClr val="5b6c8f"/>
                </a:solidFill>
                <a:latin typeface="Calibri"/>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b2b45"/>
      </a:dk2>
      <a:lt2>
        <a:srgbClr val="f3f6fa"/>
      </a:lt2>
      <a:accent1>
        <a:srgbClr val="12806e"/>
      </a:accent1>
      <a:accent2>
        <a:srgbClr val="d14a22"/>
      </a:accent2>
      <a:accent3>
        <a:srgbClr val="f2a541"/>
      </a:accent3>
      <a:accent4>
        <a:srgbClr val="5b6c8f"/>
      </a:accent4>
      <a:accent5>
        <a:srgbClr val="6b5bd2"/>
      </a:accent5>
      <a:accent6>
        <a:srgbClr val="2d7dd2"/>
      </a:accent6>
      <a:hlink>
        <a:srgbClr val="12806e"/>
      </a:hlink>
      <a:folHlink>
        <a:srgbClr val="5b6c8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b2b45"/>
      </a:dk2>
      <a:lt2>
        <a:srgbClr val="f3f6fa"/>
      </a:lt2>
      <a:accent1>
        <a:srgbClr val="12806e"/>
      </a:accent1>
      <a:accent2>
        <a:srgbClr val="d14a22"/>
      </a:accent2>
      <a:accent3>
        <a:srgbClr val="f2a541"/>
      </a:accent3>
      <a:accent4>
        <a:srgbClr val="5b6c8f"/>
      </a:accent4>
      <a:accent5>
        <a:srgbClr val="6b5bd2"/>
      </a:accent5>
      <a:accent6>
        <a:srgbClr val="2d7dd2"/>
      </a:accent6>
      <a:hlink>
        <a:srgbClr val="12806e"/>
      </a:hlink>
      <a:folHlink>
        <a:srgbClr val="5b6c8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b2b45"/>
      </a:dk2>
      <a:lt2>
        <a:srgbClr val="f3f6fa"/>
      </a:lt2>
      <a:accent1>
        <a:srgbClr val="12806e"/>
      </a:accent1>
      <a:accent2>
        <a:srgbClr val="d14a22"/>
      </a:accent2>
      <a:accent3>
        <a:srgbClr val="f2a541"/>
      </a:accent3>
      <a:accent4>
        <a:srgbClr val="5b6c8f"/>
      </a:accent4>
      <a:accent5>
        <a:srgbClr val="6b5bd2"/>
      </a:accent5>
      <a:accent6>
        <a:srgbClr val="2d7dd2"/>
      </a:accent6>
      <a:hlink>
        <a:srgbClr val="12806e"/>
      </a:hlink>
      <a:folHlink>
        <a:srgbClr val="5b6c8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b2b45"/>
      </a:dk2>
      <a:lt2>
        <a:srgbClr val="f3f6fa"/>
      </a:lt2>
      <a:accent1>
        <a:srgbClr val="12806e"/>
      </a:accent1>
      <a:accent2>
        <a:srgbClr val="d14a22"/>
      </a:accent2>
      <a:accent3>
        <a:srgbClr val="f2a541"/>
      </a:accent3>
      <a:accent4>
        <a:srgbClr val="5b6c8f"/>
      </a:accent4>
      <a:accent5>
        <a:srgbClr val="6b5bd2"/>
      </a:accent5>
      <a:accent6>
        <a:srgbClr val="2d7dd2"/>
      </a:accent6>
      <a:hlink>
        <a:srgbClr val="12806e"/>
      </a:hlink>
      <a:folHlink>
        <a:srgbClr val="5b6c8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LibreOffice/6.4.7.2$Linux_X86_64 LibreOffice_project/40$Build-2</Applicat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2026-10-18T08:44:57Z</dcterms:created>
  <dc:creator>PptxGenJS</dc:creator>
  <dc:description/>
  <dc:language>en-US</dc:language>
  <cp:lastModifiedBy/>
  <dcterms:modified xsi:type="dcterms:W3CDTF">2026-10-18T08:53:52Z</dcterms:modified>
  <cp:revision>3</cp:revision>
  <dc:subject>PptxGenJS Presentation</dc:subject>
  <dc:title>AXI2APB UVM Verification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PptxGenJS</vt:lpwstr>
  </property>
  <property fmtid="{D5CDD505-2E9C-101B-9397-08002B2CF9AE}" pid="4" name="HiddenSlides">
    <vt:i4>0</vt:i4>
  </property>
  <property fmtid="{D5CDD505-2E9C-101B-9397-08002B2CF9AE}" pid="5" name="HyperlinksChanged">
    <vt:bool>0</vt:bool>
  </property>
  <property fmtid="{D5CDD505-2E9C-101B-9397-08002B2CF9AE}" pid="6" name="LinksUpToDate">
    <vt:bool>0</vt:bool>
  </property>
  <property fmtid="{D5CDD505-2E9C-101B-9397-08002B2CF9AE}" pid="7" name="MMClips">
    <vt:i4>0</vt:i4>
  </property>
  <property fmtid="{D5CDD505-2E9C-101B-9397-08002B2CF9AE}" pid="8" name="Notes">
    <vt:i4>14</vt:i4>
  </property>
  <property fmtid="{D5CDD505-2E9C-101B-9397-08002B2CF9AE}" pid="9" name="PresentationFormat">
    <vt:lpwstr>On-screen Show (16:9)</vt:lpwstr>
  </property>
  <property fmtid="{D5CDD505-2E9C-101B-9397-08002B2CF9AE}" pid="10" name="ScaleCrop">
    <vt:bool>0</vt:bool>
  </property>
  <property fmtid="{D5CDD505-2E9C-101B-9397-08002B2CF9AE}" pid="11" name="ShareDoc">
    <vt:bool>0</vt:bool>
  </property>
  <property fmtid="{D5CDD505-2E9C-101B-9397-08002B2CF9AE}" pid="12" name="Slides">
    <vt:i4>14</vt:i4>
  </property>
</Properties>
</file>