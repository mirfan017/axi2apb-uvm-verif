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2334740-dd14-4d4a-f48c-db37d963c2a9}">
          <p14:sldIdLst>
            <p14:sldId id="256"/>
            <p14:sldId id="257"/>
          </p14:sldIdLst>
        </p14:section>
        <p14:section name="Design under test" id="{621c48bd-caa2-9c5f-8110-b3c8623b147f}">
          <p14:sldIdLst>
            <p14:sldId id="258"/>
            <p14:sldId id="259"/>
            <p14:sldId id="260"/>
          </p14:sldIdLst>
        </p14:section>
        <p14:section name="UVM environment" id="{6685aeb9-ca16-7e7f-b05d-05216c83e0ea}">
          <p14:sldIdLst>
            <p14:sldId id="261"/>
            <p14:sldId id="262"/>
            <p14:sldId id="263"/>
            <p14:sldId id="264"/>
            <p14:sldId id="265"/>
          </p14:sldIdLst>
        </p14:section>
        <p14:section name="Tests and flow" id="{7cb36157-bd1e-7bbe-b423-6e73b8b15fa8}">
          <p14:sldIdLst>
            <p14:sldId id="266"/>
            <p14:sldId id="267"/>
            <p14:sldId id="268"/>
          </p14:sldIdLst>
        </p14:section>
        <p14:section name="Wrap-up" id="{1545aa8d-c58e-ee6e-40f0-dc325179d353}">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UVM environment that verifies the axi2apb bridge. The DUT is an AXI slave on one side and an APB master on the other, so the testbench plays AXI master and APB slave.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one DUT, two agents, directed tests only. Seven RTL files are verified unmodified. The testbench-only fifo model is not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 testbench plays both outer blocks. Inside the dashed boundary: five channel buffers (each a FIFO slice), the FSM, and the APB master port. Mention the missing fifo module and that it was reported rather than silently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observations come from reading the RTL. Each one is either checked by the scoreboard or documented by a dedicated test: PSLVERR and WSTRB have their own tests, read priority has the priority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lanes, one per direction. The dashed wait states are only entered when PREADY is low in the first cycle. DONE_SINGLE_RD and SEND_B_RESP push the response into the R or B buffer and pop the request FIFOs.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starts a virtual sequence. It drives the AXI sequencer and queues response items for the APB sequencer. Both monitors publish transactions to the scoreboard and the coverage collector.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Folder layout follows the project specification: rtl, tb, uvm, sequences, tests. Assertions are deliberately left out of this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driver has one engine per channel. That is what lets AW, W and AR go valid together. Using objections per item means the run phase cannot finish while a response is still outstanding.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DUT checks PREADY in the same cycle it raises PENABLE, so the driver must answer on the negedge of the first request cycle. Response items come from the APB sequencer; when none are queued the driver uses config defaults.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values do not come from the driver. For writes the AXI monitor is the reference and the APB monitor is the actual. For reads it flips: the APB monitor's PRDATA is the reference for the RDATA seen by the AXI master.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test is a base test plus one virtual sequence. Number 8, the read/write priority test, is highlighted because the next slide walks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wait_resp = 0 matters: if the write finished first, the read would never compete with it and the test would prove nothing. The pass criterion is the order of transfers recorded by the scoreboard.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Makefile follows the reference style but builds once and runs every test from the same simv. The regress target prints a PASS/FAIL table and then generates the merged coverage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the environment is written and reviewed but has not been compiled or simulated yet. The first VCS run will show compile issues to fix. The four findings should be reported to the instructor rather than fixed in the RTL.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AXI2APB UVM verification</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5760720" cy="228600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548640" y="4206240"/>
            <a:ext cx="576072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bg2"/>
                </a:solidFill>
              </a:rPr>
              <a:t>AXI2APB UVM verification</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3F6FA"/>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5760720" cy="2286000"/>
          </a:xfrm>
          <a:prstGeom prst="rect">
            <a:avLst/>
          </a:prstGeom>
          <a:noFill/>
          <a:ln/>
        </p:spPr>
        <p:txBody>
          <a:bodyPr wrap="square" lIns="0" tIns="0" rIns="0" bIns="0" rtlCol="0" anchor="t"/>
          <a:lstStyle/>
          <a:p>
            <a:pPr indent="0" marL="0">
              <a:buNone/>
            </a:pPr>
            <a:r>
              <a:rPr lang="en-US" sz="4400" b="1" dirty="0">
                <a:solidFill>
                  <a:schemeClr val="bg1"/>
                </a:solidFill>
              </a:rPr>
              <a:t>Verifying an AXI4-to-APB bridge</a:t>
            </a:r>
            <a:endParaRPr lang="en-US" sz="4400" dirty="0"/>
          </a:p>
        </p:txBody>
      </p:sp>
      <p:sp>
        <p:nvSpPr>
          <p:cNvPr id="3" name="Text 0"/>
          <p:cNvSpPr/>
          <p:nvPr>
            <p:ph idx="101" type="body" hasCustomPrompt="1"/>
          </p:nvPr>
        </p:nvSpPr>
        <p:spPr>
          <a:xfrm>
            <a:off x="548640" y="4206240"/>
            <a:ext cx="5760720" cy="914400"/>
          </a:xfrm>
          <a:prstGeom prst="rect">
            <a:avLst/>
          </a:prstGeom>
          <a:noFill/>
          <a:ln/>
        </p:spPr>
        <p:txBody>
          <a:bodyPr wrap="square" lIns="0" tIns="0" rIns="0" bIns="0" rtlCol="0" anchor="t"/>
          <a:lstStyle/>
          <a:p>
            <a:pPr indent="0" marL="0">
              <a:buNone/>
            </a:pPr>
            <a:r>
              <a:rPr lang="en-US" sz="2000" dirty="0">
                <a:solidFill>
                  <a:schemeClr val="bg2"/>
                </a:solidFill>
              </a:rPr>
              <a:t>UVM verification environment, directed-test phase</a:t>
            </a:r>
            <a:endParaRPr lang="en-US" sz="2000" dirty="0"/>
          </a:p>
        </p:txBody>
      </p:sp>
      <p:sp>
        <p:nvSpPr>
          <p:cNvPr id="4" name="Text 2"/>
          <p:cNvSpPr txBox="1"/>
          <p:nvPr/>
        </p:nvSpPr>
        <p:spPr>
          <a:xfrm>
            <a:off x="548640" y="5760720"/>
            <a:ext cx="5760720" cy="365760"/>
          </a:xfrm>
          <a:prstGeom prst="rect">
            <a:avLst/>
          </a:prstGeom>
          <a:noFill/>
          <a:ln/>
        </p:spPr>
        <p:txBody>
          <a:bodyPr wrap="square" lIns="0" tIns="0" rIns="0" bIns="0" rtlCol="0" anchor="t"/>
          <a:lstStyle/>
          <a:p>
            <a:pPr indent="0" marL="0">
              <a:buNone/>
            </a:pPr>
            <a:r>
              <a:rPr lang="en-US" sz="1400" dirty="0">
                <a:solidFill>
                  <a:schemeClr val="bg2"/>
                </a:solidFill>
              </a:rPr>
              <a:t>UVM 1.2  |  Synopsys VCS  |  14 directed tests</a:t>
            </a:r>
            <a:endParaRPr lang="en-US" sz="1400" dirty="0"/>
          </a:p>
        </p:txBody>
      </p:sp>
      <p:sp>
        <p:nvSpPr>
          <p:cNvPr id="5" name="hero-axi"/>
          <p:cNvSpPr txBox="1"/>
          <p:nvPr/>
        </p:nvSpPr>
        <p:spPr>
          <a:xfrm>
            <a:off x="6400800" y="2834640"/>
            <a:ext cx="1508760" cy="1005840"/>
          </a:xfrm>
          <a:prstGeom prst="roundRect">
            <a:avLst>
              <a:gd name="adj" fmla="val 9091"/>
            </a:avLst>
          </a:prstGeom>
          <a:solidFill>
            <a:schemeClr val="accent1"/>
          </a:solidFill>
          <a:ln/>
        </p:spPr>
        <p:txBody>
          <a:bodyPr wrap="square" lIns="635" tIns="635" rIns="635" bIns="635" rtlCol="0" anchor="ctr"/>
          <a:lstStyle/>
          <a:p>
            <a:pPr algn="ctr" indent="0" marL="0">
              <a:buNone/>
            </a:pPr>
            <a:r>
              <a:rPr lang="en-US" sz="1500" b="1" dirty="0">
                <a:solidFill>
                  <a:schemeClr val="bg1"/>
                </a:solidFill>
              </a:rPr>
              <a:t>AXI4 master</a:t>
            </a:r>
            <a:endParaRPr lang="en-US" sz="1500" dirty="0"/>
          </a:p>
          <a:p>
            <a:pPr algn="ctr" indent="0" marL="0">
              <a:buNone/>
            </a:pPr>
            <a:r>
              <a:rPr lang="en-US" sz="1500" b="1" dirty="0">
                <a:solidFill>
                  <a:schemeClr val="bg1"/>
                </a:solidFill>
              </a:rPr>
              <a:t>agent</a:t>
            </a:r>
            <a:endParaRPr lang="en-US" sz="1500" dirty="0"/>
          </a:p>
        </p:txBody>
      </p:sp>
      <p:sp>
        <p:nvSpPr>
          <p:cNvPr id="6" name="hero-dut"/>
          <p:cNvSpPr txBox="1"/>
          <p:nvPr/>
        </p:nvSpPr>
        <p:spPr>
          <a:xfrm>
            <a:off x="8275320" y="2834640"/>
            <a:ext cx="1508760" cy="1005840"/>
          </a:xfrm>
          <a:prstGeom prst="roundRect">
            <a:avLst>
              <a:gd name="adj" fmla="val 9091"/>
            </a:avLst>
          </a:prstGeom>
          <a:solidFill>
            <a:schemeClr val="bg1"/>
          </a:solidFill>
          <a:ln/>
        </p:spPr>
        <p:txBody>
          <a:bodyPr wrap="square" lIns="635" tIns="635" rIns="635" bIns="635" rtlCol="0" anchor="ctr"/>
          <a:lstStyle/>
          <a:p>
            <a:pPr algn="ctr" indent="0" marL="0">
              <a:buNone/>
            </a:pPr>
            <a:r>
              <a:rPr lang="en-US" sz="1500" b="1" dirty="0">
                <a:solidFill>
                  <a:schemeClr val="tx1"/>
                </a:solidFill>
              </a:rPr>
              <a:t>axi2apb</a:t>
            </a:r>
            <a:endParaRPr lang="en-US" sz="1500" dirty="0"/>
          </a:p>
          <a:p>
            <a:pPr algn="ctr" indent="0" marL="0">
              <a:buNone/>
            </a:pPr>
            <a:r>
              <a:rPr lang="en-US" sz="1500" b="1" dirty="0">
                <a:solidFill>
                  <a:schemeClr val="tx1"/>
                </a:solidFill>
              </a:rPr>
              <a:t>DUT</a:t>
            </a:r>
            <a:endParaRPr lang="en-US" sz="1500" dirty="0"/>
          </a:p>
        </p:txBody>
      </p:sp>
      <p:sp>
        <p:nvSpPr>
          <p:cNvPr id="7" name="hero-apb"/>
          <p:cNvSpPr txBox="1"/>
          <p:nvPr/>
        </p:nvSpPr>
        <p:spPr>
          <a:xfrm>
            <a:off x="10149840" y="2834640"/>
            <a:ext cx="1508760" cy="1005840"/>
          </a:xfrm>
          <a:prstGeom prst="roundRect">
            <a:avLst>
              <a:gd name="adj" fmla="val 9091"/>
            </a:avLst>
          </a:prstGeom>
          <a:solidFill>
            <a:schemeClr val="accent2"/>
          </a:solidFill>
          <a:ln/>
        </p:spPr>
        <p:txBody>
          <a:bodyPr wrap="square" lIns="635" tIns="635" rIns="635" bIns="635" rtlCol="0" anchor="ctr"/>
          <a:lstStyle/>
          <a:p>
            <a:pPr algn="ctr" indent="0" marL="0">
              <a:buNone/>
            </a:pPr>
            <a:r>
              <a:rPr lang="en-US" sz="1500" b="1" dirty="0">
                <a:solidFill>
                  <a:schemeClr val="bg1"/>
                </a:solidFill>
              </a:rPr>
              <a:t>APB slave</a:t>
            </a:r>
            <a:endParaRPr lang="en-US" sz="1500" dirty="0"/>
          </a:p>
          <a:p>
            <a:pPr algn="ctr" indent="0" marL="0">
              <a:buNone/>
            </a:pPr>
            <a:r>
              <a:rPr lang="en-US" sz="1500" b="1" dirty="0">
                <a:solidFill>
                  <a:schemeClr val="bg1"/>
                </a:solidFill>
              </a:rPr>
              <a:t>agent</a:t>
            </a:r>
            <a:endParaRPr lang="en-US" sz="1500" dirty="0"/>
          </a:p>
        </p:txBody>
      </p:sp>
      <p:sp>
        <p:nvSpPr>
          <p:cNvPr id="8" name="arrow"/>
          <p:cNvSpPr/>
          <p:nvPr/>
        </p:nvSpPr>
        <p:spPr>
          <a:xfrm>
            <a:off x="7909560" y="3337560"/>
            <a:ext cx="365760" cy="0"/>
          </a:xfrm>
          <a:prstGeom prst="line">
            <a:avLst/>
          </a:prstGeom>
          <a:noFill/>
          <a:ln w="19050">
            <a:solidFill>
              <a:schemeClr val="accent4"/>
            </a:solidFill>
            <a:prstDash val="solid"/>
            <a:headEnd type="triangle"/>
            <a:tailEnd type="triangle"/>
          </a:ln>
        </p:spPr>
      </p:sp>
      <p:sp>
        <p:nvSpPr>
          <p:cNvPr id="9" name="arrow"/>
          <p:cNvSpPr/>
          <p:nvPr/>
        </p:nvSpPr>
        <p:spPr>
          <a:xfrm>
            <a:off x="9784080" y="3337560"/>
            <a:ext cx="365760" cy="0"/>
          </a:xfrm>
          <a:prstGeom prst="line">
            <a:avLst/>
          </a:prstGeom>
          <a:noFill/>
          <a:ln w="19050">
            <a:solidFill>
              <a:schemeClr val="accent4"/>
            </a:solidFill>
            <a:prstDash val="solid"/>
            <a:headEnd type="triangle"/>
            <a:tailEnd type="triangle"/>
          </a:ln>
        </p:spPr>
      </p:sp>
      <p:sp>
        <p:nvSpPr>
          <p:cNvPr id="10" name="Text 8"/>
          <p:cNvSpPr txBox="1"/>
          <p:nvPr/>
        </p:nvSpPr>
        <p:spPr>
          <a:xfrm>
            <a:off x="6400800" y="4114800"/>
            <a:ext cx="5257800" cy="365760"/>
          </a:xfrm>
          <a:prstGeom prst="rect">
            <a:avLst/>
          </a:prstGeom>
          <a:noFill/>
          <a:ln/>
        </p:spPr>
        <p:txBody>
          <a:bodyPr wrap="square" lIns="0" tIns="0" rIns="0" bIns="0" rtlCol="0" anchor="t"/>
          <a:lstStyle/>
          <a:p>
            <a:pPr indent="0" marL="0">
              <a:buNone/>
            </a:pPr>
            <a:r>
              <a:rPr lang="en-US" sz="1400" dirty="0">
                <a:solidFill>
                  <a:schemeClr val="bg2"/>
                </a:solidFill>
              </a:rPr>
              <a:t>The bridge under test sits between two UVM agents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Project goal and scope</a:t>
            </a:r>
            <a:endParaRPr lang="en-US" sz="3400" dirty="0"/>
          </a:p>
        </p:txBody>
      </p:sp>
      <p:sp>
        <p:nvSpPr>
          <p:cNvPr id="3" name="stat-card"/>
          <p:cNvSpPr/>
          <p:nvPr/>
        </p:nvSpPr>
        <p:spPr>
          <a:xfrm>
            <a:off x="548640" y="1371600"/>
            <a:ext cx="2560320" cy="1554480"/>
          </a:xfrm>
          <a:prstGeom prst="roundRect">
            <a:avLst>
              <a:gd name="adj" fmla="val 7059"/>
            </a:avLst>
          </a:prstGeom>
          <a:solidFill>
            <a:schemeClr val="bg2"/>
          </a:solidFill>
          <a:ln/>
        </p:spPr>
      </p:sp>
      <p:sp>
        <p:nvSpPr>
          <p:cNvPr id="4" name="Text 2"/>
          <p:cNvSpPr txBox="1"/>
          <p:nvPr/>
        </p:nvSpPr>
        <p:spPr>
          <a:xfrm>
            <a:off x="777240" y="1463040"/>
            <a:ext cx="2103120" cy="86868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14</a:t>
            </a:r>
            <a:endParaRPr lang="en-US" sz="5400" dirty="0"/>
          </a:p>
        </p:txBody>
      </p:sp>
      <p:sp>
        <p:nvSpPr>
          <p:cNvPr id="5" name="Text 3"/>
          <p:cNvSpPr txBox="1"/>
          <p:nvPr/>
        </p:nvSpPr>
        <p:spPr>
          <a:xfrm>
            <a:off x="777240" y="2377440"/>
            <a:ext cx="2194560" cy="457200"/>
          </a:xfrm>
          <a:prstGeom prst="rect">
            <a:avLst/>
          </a:prstGeom>
          <a:noFill/>
          <a:ln/>
        </p:spPr>
        <p:txBody>
          <a:bodyPr wrap="square" lIns="0" tIns="0" rIns="0" bIns="0" rtlCol="0" anchor="t"/>
          <a:lstStyle/>
          <a:p>
            <a:pPr indent="0" marL="0">
              <a:buNone/>
            </a:pPr>
            <a:r>
              <a:rPr lang="en-US" sz="1400" dirty="0">
                <a:solidFill>
                  <a:schemeClr val="tx1"/>
                </a:solidFill>
              </a:rPr>
              <a:t>directed tests</a:t>
            </a:r>
            <a:endParaRPr lang="en-US" sz="1400" dirty="0"/>
          </a:p>
        </p:txBody>
      </p:sp>
      <p:sp>
        <p:nvSpPr>
          <p:cNvPr id="6" name="stat-card"/>
          <p:cNvSpPr/>
          <p:nvPr/>
        </p:nvSpPr>
        <p:spPr>
          <a:xfrm>
            <a:off x="3383280" y="1371600"/>
            <a:ext cx="2560320" cy="1554480"/>
          </a:xfrm>
          <a:prstGeom prst="roundRect">
            <a:avLst>
              <a:gd name="adj" fmla="val 7059"/>
            </a:avLst>
          </a:prstGeom>
          <a:solidFill>
            <a:schemeClr val="bg2"/>
          </a:solidFill>
          <a:ln/>
        </p:spPr>
      </p:sp>
      <p:sp>
        <p:nvSpPr>
          <p:cNvPr id="7" name="Text 5"/>
          <p:cNvSpPr txBox="1"/>
          <p:nvPr/>
        </p:nvSpPr>
        <p:spPr>
          <a:xfrm>
            <a:off x="3611880" y="1463040"/>
            <a:ext cx="2103120" cy="86868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2</a:t>
            </a:r>
            <a:endParaRPr lang="en-US" sz="5400" dirty="0"/>
          </a:p>
        </p:txBody>
      </p:sp>
      <p:sp>
        <p:nvSpPr>
          <p:cNvPr id="8" name="Text 6"/>
          <p:cNvSpPr txBox="1"/>
          <p:nvPr/>
        </p:nvSpPr>
        <p:spPr>
          <a:xfrm>
            <a:off x="3611880" y="2377440"/>
            <a:ext cx="2194560" cy="457200"/>
          </a:xfrm>
          <a:prstGeom prst="rect">
            <a:avLst/>
          </a:prstGeom>
          <a:noFill/>
          <a:ln/>
        </p:spPr>
        <p:txBody>
          <a:bodyPr wrap="square" lIns="0" tIns="0" rIns="0" bIns="0" rtlCol="0" anchor="t"/>
          <a:lstStyle/>
          <a:p>
            <a:pPr indent="0" marL="0">
              <a:buNone/>
            </a:pPr>
            <a:r>
              <a:rPr lang="en-US" sz="1400" dirty="0">
                <a:solidFill>
                  <a:schemeClr val="tx1"/>
                </a:solidFill>
              </a:rPr>
              <a:t>UVM agents: AXI and APB</a:t>
            </a:r>
            <a:endParaRPr lang="en-US" sz="1400" dirty="0"/>
          </a:p>
        </p:txBody>
      </p:sp>
      <p:sp>
        <p:nvSpPr>
          <p:cNvPr id="9" name="stat-card"/>
          <p:cNvSpPr/>
          <p:nvPr/>
        </p:nvSpPr>
        <p:spPr>
          <a:xfrm>
            <a:off x="6217920" y="1371600"/>
            <a:ext cx="2560320" cy="1554480"/>
          </a:xfrm>
          <a:prstGeom prst="roundRect">
            <a:avLst>
              <a:gd name="adj" fmla="val 7059"/>
            </a:avLst>
          </a:prstGeom>
          <a:solidFill>
            <a:schemeClr val="bg2"/>
          </a:solidFill>
          <a:ln/>
        </p:spPr>
      </p:sp>
      <p:sp>
        <p:nvSpPr>
          <p:cNvPr id="10" name="Text 8"/>
          <p:cNvSpPr txBox="1"/>
          <p:nvPr/>
        </p:nvSpPr>
        <p:spPr>
          <a:xfrm>
            <a:off x="6446520" y="1463040"/>
            <a:ext cx="2103120" cy="868680"/>
          </a:xfrm>
          <a:prstGeom prst="rect">
            <a:avLst/>
          </a:prstGeom>
          <a:noFill/>
          <a:ln/>
        </p:spPr>
        <p:txBody>
          <a:bodyPr wrap="square" lIns="0" tIns="0" rIns="0" bIns="0" rtlCol="0" anchor="t"/>
          <a:lstStyle/>
          <a:p>
            <a:pPr indent="0" marL="0">
              <a:buNone/>
            </a:pPr>
            <a:r>
              <a:rPr lang="en-US" sz="5400" b="1" dirty="0">
                <a:solidFill>
                  <a:schemeClr val="accent5"/>
                </a:solidFill>
                <a:latin typeface="Cambria" pitchFamily="34" charset="0"/>
                <a:ea typeface="Cambria" pitchFamily="34" charset="-122"/>
                <a:cs typeface="Cambria" pitchFamily="34" charset="-120"/>
              </a:rPr>
              <a:t>7</a:t>
            </a:r>
            <a:endParaRPr lang="en-US" sz="5400" dirty="0"/>
          </a:p>
        </p:txBody>
      </p:sp>
      <p:sp>
        <p:nvSpPr>
          <p:cNvPr id="11" name="Text 9"/>
          <p:cNvSpPr txBox="1"/>
          <p:nvPr/>
        </p:nvSpPr>
        <p:spPr>
          <a:xfrm>
            <a:off x="6446520" y="2377440"/>
            <a:ext cx="2194560" cy="457200"/>
          </a:xfrm>
          <a:prstGeom prst="rect">
            <a:avLst/>
          </a:prstGeom>
          <a:noFill/>
          <a:ln/>
        </p:spPr>
        <p:txBody>
          <a:bodyPr wrap="square" lIns="0" tIns="0" rIns="0" bIns="0" rtlCol="0" anchor="t"/>
          <a:lstStyle/>
          <a:p>
            <a:pPr indent="0" marL="0">
              <a:buNone/>
            </a:pPr>
            <a:r>
              <a:rPr lang="en-US" sz="1400" dirty="0">
                <a:solidFill>
                  <a:schemeClr val="tx1"/>
                </a:solidFill>
              </a:rPr>
              <a:t>RTL files under test</a:t>
            </a:r>
            <a:endParaRPr lang="en-US" sz="1400" dirty="0"/>
          </a:p>
        </p:txBody>
      </p:sp>
      <p:sp>
        <p:nvSpPr>
          <p:cNvPr id="12" name="stat-card"/>
          <p:cNvSpPr/>
          <p:nvPr/>
        </p:nvSpPr>
        <p:spPr>
          <a:xfrm>
            <a:off x="9052560" y="1371600"/>
            <a:ext cx="2560320" cy="1554480"/>
          </a:xfrm>
          <a:prstGeom prst="roundRect">
            <a:avLst>
              <a:gd name="adj" fmla="val 7059"/>
            </a:avLst>
          </a:prstGeom>
          <a:solidFill>
            <a:schemeClr val="bg2"/>
          </a:solidFill>
          <a:ln/>
        </p:spPr>
      </p:sp>
      <p:sp>
        <p:nvSpPr>
          <p:cNvPr id="13" name="Text 11"/>
          <p:cNvSpPr txBox="1"/>
          <p:nvPr/>
        </p:nvSpPr>
        <p:spPr>
          <a:xfrm>
            <a:off x="9281160" y="1463040"/>
            <a:ext cx="2103120" cy="86868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a:t>
            </a:r>
            <a:endParaRPr lang="en-US" sz="5400" dirty="0"/>
          </a:p>
        </p:txBody>
      </p:sp>
      <p:sp>
        <p:nvSpPr>
          <p:cNvPr id="14" name="Text 12"/>
          <p:cNvSpPr txBox="1"/>
          <p:nvPr/>
        </p:nvSpPr>
        <p:spPr>
          <a:xfrm>
            <a:off x="9281160" y="2377440"/>
            <a:ext cx="2194560" cy="457200"/>
          </a:xfrm>
          <a:prstGeom prst="rect">
            <a:avLst/>
          </a:prstGeom>
          <a:noFill/>
          <a:ln/>
        </p:spPr>
        <p:txBody>
          <a:bodyPr wrap="square" lIns="0" tIns="0" rIns="0" bIns="0" rtlCol="0" anchor="t"/>
          <a:lstStyle/>
          <a:p>
            <a:pPr indent="0" marL="0">
              <a:buNone/>
            </a:pPr>
            <a:r>
              <a:rPr lang="en-US" sz="1400" dirty="0">
                <a:solidFill>
                  <a:schemeClr val="tx1"/>
                </a:solidFill>
              </a:rPr>
              <a:t>changes made to the DUT</a:t>
            </a:r>
            <a:endParaRPr lang="en-US" sz="1400" dirty="0"/>
          </a:p>
        </p:txBody>
      </p:sp>
      <p:sp>
        <p:nvSpPr>
          <p:cNvPr id="15" name="goal-card"/>
          <p:cNvSpPr/>
          <p:nvPr/>
        </p:nvSpPr>
        <p:spPr>
          <a:xfrm>
            <a:off x="548640" y="3291840"/>
            <a:ext cx="3566160" cy="2743200"/>
          </a:xfrm>
          <a:prstGeom prst="roundRect">
            <a:avLst>
              <a:gd name="adj" fmla="val 4000"/>
            </a:avLst>
          </a:prstGeom>
          <a:solidFill>
            <a:schemeClr val="bg2"/>
          </a:solidFill>
          <a:ln/>
        </p:spPr>
      </p:sp>
      <p:sp>
        <p:nvSpPr>
          <p:cNvPr id="16" name="icon-circle"/>
          <p:cNvSpPr/>
          <p:nvPr/>
        </p:nvSpPr>
        <p:spPr>
          <a:xfrm>
            <a:off x="822960" y="3566160"/>
            <a:ext cx="640080" cy="640080"/>
          </a:xfrm>
          <a:prstGeom prst="ellipse">
            <a:avLst/>
          </a:prstGeom>
          <a:solidFill>
            <a:schemeClr val="accent1"/>
          </a:solidFill>
          <a:ln/>
        </p:spPr>
      </p:sp>
      <p:pic>
        <p:nvPicPr>
          <p:cNvPr id="17" name="icon FaMicrochip" descr="preencoded.png">    </p:cNvPr>
          <p:cNvPicPr>
            <a:picLocks noChangeAspect="1"/>
          </p:cNvPicPr>
          <p:nvPr/>
        </p:nvPicPr>
        <p:blipFill>
          <a:blip r:embed="rId1"/>
          <a:stretch>
            <a:fillRect/>
          </a:stretch>
        </p:blipFill>
        <p:spPr>
          <a:xfrm>
            <a:off x="982980" y="3726180"/>
            <a:ext cx="320040" cy="320040"/>
          </a:xfrm>
          <a:prstGeom prst="rect">
            <a:avLst/>
          </a:prstGeom>
        </p:spPr>
      </p:pic>
      <p:sp>
        <p:nvSpPr>
          <p:cNvPr id="18" name="Text 15"/>
          <p:cNvSpPr txBox="1"/>
          <p:nvPr/>
        </p:nvSpPr>
        <p:spPr>
          <a:xfrm>
            <a:off x="1645920" y="3703320"/>
            <a:ext cx="2286000" cy="411480"/>
          </a:xfrm>
          <a:prstGeom prst="rect">
            <a:avLst/>
          </a:prstGeom>
          <a:noFill/>
          <a:ln/>
        </p:spPr>
        <p:txBody>
          <a:bodyPr wrap="square" lIns="0" tIns="0" rIns="0" bIns="0" rtlCol="0" anchor="t"/>
          <a:lstStyle/>
          <a:p>
            <a:pPr indent="0" marL="0">
              <a:buNone/>
            </a:pPr>
            <a:r>
              <a:rPr lang="en-US" sz="1800" b="1" dirty="0">
                <a:solidFill>
                  <a:schemeClr val="tx1"/>
                </a:solidFill>
              </a:rPr>
              <a:t>What we verify</a:t>
            </a:r>
            <a:endParaRPr lang="en-US" sz="1800" dirty="0"/>
          </a:p>
        </p:txBody>
      </p:sp>
      <p:sp>
        <p:nvSpPr>
          <p:cNvPr id="19" name="Text 16"/>
          <p:cNvSpPr txBox="1"/>
          <p:nvPr/>
        </p:nvSpPr>
        <p:spPr>
          <a:xfrm>
            <a:off x="822960" y="4526280"/>
            <a:ext cx="3017520" cy="1371600"/>
          </a:xfrm>
          <a:prstGeom prst="rect">
            <a:avLst/>
          </a:prstGeom>
          <a:noFill/>
          <a:ln/>
        </p:spPr>
        <p:txBody>
          <a:bodyPr wrap="square" lIns="0" tIns="0" rIns="0" bIns="0" rtlCol="0" anchor="t"/>
          <a:lstStyle/>
          <a:p>
            <a:pPr indent="0" marL="0">
              <a:buNone/>
            </a:pPr>
            <a:r>
              <a:rPr lang="en-US" sz="1400" dirty="0">
                <a:solidFill>
                  <a:schemeClr val="accent4"/>
                </a:solidFill>
              </a:rPr>
              <a:t>The axi2apb bridge: AXI4 slave port in, APB master port out. The supplied RTL stays unmodified.</a:t>
            </a:r>
            <a:endParaRPr lang="en-US" sz="1400" dirty="0"/>
          </a:p>
        </p:txBody>
      </p:sp>
      <p:sp>
        <p:nvSpPr>
          <p:cNvPr id="20" name="goal-card"/>
          <p:cNvSpPr/>
          <p:nvPr/>
        </p:nvSpPr>
        <p:spPr>
          <a:xfrm>
            <a:off x="4297680" y="3291840"/>
            <a:ext cx="3566160" cy="2743200"/>
          </a:xfrm>
          <a:prstGeom prst="roundRect">
            <a:avLst>
              <a:gd name="adj" fmla="val 4000"/>
            </a:avLst>
          </a:prstGeom>
          <a:solidFill>
            <a:schemeClr val="bg2"/>
          </a:solidFill>
          <a:ln/>
        </p:spPr>
      </p:sp>
      <p:sp>
        <p:nvSpPr>
          <p:cNvPr id="21" name="icon-circle"/>
          <p:cNvSpPr/>
          <p:nvPr/>
        </p:nvSpPr>
        <p:spPr>
          <a:xfrm>
            <a:off x="4572000" y="3566160"/>
            <a:ext cx="640080" cy="640080"/>
          </a:xfrm>
          <a:prstGeom prst="ellipse">
            <a:avLst/>
          </a:prstGeom>
          <a:solidFill>
            <a:schemeClr val="accent2"/>
          </a:solidFill>
          <a:ln/>
        </p:spPr>
      </p:sp>
      <p:pic>
        <p:nvPicPr>
          <p:cNvPr id="22" name="icon FaProjectDiagram" descr="preencoded.png">    </p:cNvPr>
          <p:cNvPicPr>
            <a:picLocks noChangeAspect="1"/>
          </p:cNvPicPr>
          <p:nvPr/>
        </p:nvPicPr>
        <p:blipFill>
          <a:blip r:embed="rId2"/>
          <a:stretch>
            <a:fillRect/>
          </a:stretch>
        </p:blipFill>
        <p:spPr>
          <a:xfrm>
            <a:off x="4732020" y="3726180"/>
            <a:ext cx="320040" cy="320040"/>
          </a:xfrm>
          <a:prstGeom prst="rect">
            <a:avLst/>
          </a:prstGeom>
        </p:spPr>
      </p:pic>
      <p:sp>
        <p:nvSpPr>
          <p:cNvPr id="23" name="Text 19"/>
          <p:cNvSpPr txBox="1"/>
          <p:nvPr/>
        </p:nvSpPr>
        <p:spPr>
          <a:xfrm>
            <a:off x="5394960" y="3703320"/>
            <a:ext cx="2286000" cy="411480"/>
          </a:xfrm>
          <a:prstGeom prst="rect">
            <a:avLst/>
          </a:prstGeom>
          <a:noFill/>
          <a:ln/>
        </p:spPr>
        <p:txBody>
          <a:bodyPr wrap="square" lIns="0" tIns="0" rIns="0" bIns="0" rtlCol="0" anchor="t"/>
          <a:lstStyle/>
          <a:p>
            <a:pPr indent="0" marL="0">
              <a:buNone/>
            </a:pPr>
            <a:r>
              <a:rPr lang="en-US" sz="1800" b="1" dirty="0">
                <a:solidFill>
                  <a:schemeClr val="tx1"/>
                </a:solidFill>
              </a:rPr>
              <a:t>How we verify</a:t>
            </a:r>
            <a:endParaRPr lang="en-US" sz="1800" dirty="0"/>
          </a:p>
        </p:txBody>
      </p:sp>
      <p:sp>
        <p:nvSpPr>
          <p:cNvPr id="24" name="Text 20"/>
          <p:cNvSpPr txBox="1"/>
          <p:nvPr/>
        </p:nvSpPr>
        <p:spPr>
          <a:xfrm>
            <a:off x="4572000" y="4526280"/>
            <a:ext cx="3017520" cy="1371600"/>
          </a:xfrm>
          <a:prstGeom prst="rect">
            <a:avLst/>
          </a:prstGeom>
          <a:noFill/>
          <a:ln/>
        </p:spPr>
        <p:txBody>
          <a:bodyPr wrap="square" lIns="0" tIns="0" rIns="0" bIns="0" rtlCol="0" anchor="t"/>
          <a:lstStyle/>
          <a:p>
            <a:pPr indent="0" marL="0">
              <a:buNone/>
            </a:pPr>
            <a:r>
              <a:rPr lang="en-US" sz="1400" dirty="0">
                <a:solidFill>
                  <a:schemeClr val="accent4"/>
                </a:solidFill>
              </a:rPr>
              <a:t>A dual-agent UVM environment: AXI master agent, reactive APB slave agent, scoreboard and coverage.</a:t>
            </a:r>
            <a:endParaRPr lang="en-US" sz="1400" dirty="0"/>
          </a:p>
        </p:txBody>
      </p:sp>
      <p:sp>
        <p:nvSpPr>
          <p:cNvPr id="25" name="goal-card"/>
          <p:cNvSpPr/>
          <p:nvPr/>
        </p:nvSpPr>
        <p:spPr>
          <a:xfrm>
            <a:off x="8046720" y="3291840"/>
            <a:ext cx="3566160" cy="2743200"/>
          </a:xfrm>
          <a:prstGeom prst="roundRect">
            <a:avLst>
              <a:gd name="adj" fmla="val 4000"/>
            </a:avLst>
          </a:prstGeom>
          <a:solidFill>
            <a:schemeClr val="bg2"/>
          </a:solidFill>
          <a:ln/>
        </p:spPr>
      </p:sp>
      <p:sp>
        <p:nvSpPr>
          <p:cNvPr id="26" name="icon-circle"/>
          <p:cNvSpPr/>
          <p:nvPr/>
        </p:nvSpPr>
        <p:spPr>
          <a:xfrm>
            <a:off x="8321040" y="3566160"/>
            <a:ext cx="640080" cy="640080"/>
          </a:xfrm>
          <a:prstGeom prst="ellipse">
            <a:avLst/>
          </a:prstGeom>
          <a:solidFill>
            <a:schemeClr val="accent5"/>
          </a:solidFill>
          <a:ln/>
        </p:spPr>
      </p:sp>
      <p:pic>
        <p:nvPicPr>
          <p:cNvPr id="27" name="icon FaClipboardCheck" descr="preencoded.png">    </p:cNvPr>
          <p:cNvPicPr>
            <a:picLocks noChangeAspect="1"/>
          </p:cNvPicPr>
          <p:nvPr/>
        </p:nvPicPr>
        <p:blipFill>
          <a:blip r:embed="rId3"/>
          <a:stretch>
            <a:fillRect/>
          </a:stretch>
        </p:blipFill>
        <p:spPr>
          <a:xfrm>
            <a:off x="8481060" y="3726180"/>
            <a:ext cx="320040" cy="320040"/>
          </a:xfrm>
          <a:prstGeom prst="rect">
            <a:avLst/>
          </a:prstGeom>
        </p:spPr>
      </p:pic>
      <p:sp>
        <p:nvSpPr>
          <p:cNvPr id="28" name="Text 23"/>
          <p:cNvSpPr txBox="1"/>
          <p:nvPr/>
        </p:nvSpPr>
        <p:spPr>
          <a:xfrm>
            <a:off x="9144000" y="3703320"/>
            <a:ext cx="2286000" cy="411480"/>
          </a:xfrm>
          <a:prstGeom prst="rect">
            <a:avLst/>
          </a:prstGeom>
          <a:noFill/>
          <a:ln/>
        </p:spPr>
        <p:txBody>
          <a:bodyPr wrap="square" lIns="0" tIns="0" rIns="0" bIns="0" rtlCol="0" anchor="t"/>
          <a:lstStyle/>
          <a:p>
            <a:pPr indent="0" marL="0">
              <a:buNone/>
            </a:pPr>
            <a:r>
              <a:rPr lang="en-US" sz="1800" b="1" dirty="0">
                <a:solidFill>
                  <a:schemeClr val="tx1"/>
                </a:solidFill>
              </a:rPr>
              <a:t>This phase</a:t>
            </a:r>
            <a:endParaRPr lang="en-US" sz="1800" dirty="0"/>
          </a:p>
        </p:txBody>
      </p:sp>
      <p:sp>
        <p:nvSpPr>
          <p:cNvPr id="29" name="Text 24"/>
          <p:cNvSpPr txBox="1"/>
          <p:nvPr/>
        </p:nvSpPr>
        <p:spPr>
          <a:xfrm>
            <a:off x="8321040" y="4526280"/>
            <a:ext cx="3017520" cy="1371600"/>
          </a:xfrm>
          <a:prstGeom prst="rect">
            <a:avLst/>
          </a:prstGeom>
          <a:noFill/>
          <a:ln/>
        </p:spPr>
        <p:txBody>
          <a:bodyPr wrap="square" lIns="0" tIns="0" rIns="0" bIns="0" rtlCol="0" anchor="t"/>
          <a:lstStyle/>
          <a:p>
            <a:pPr indent="0" marL="0">
              <a:buNone/>
            </a:pPr>
            <a:r>
              <a:rPr lang="en-US" sz="1400" dirty="0">
                <a:solidFill>
                  <a:schemeClr val="accent4"/>
                </a:solidFill>
              </a:rPr>
              <a:t>Directed tests first. Each test targets one behaviour of the bridge. Assertions come in a later phase.</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The DUT: axi2apb bridge</a:t>
            </a:r>
            <a:endParaRPr lang="en-US" sz="3400" dirty="0"/>
          </a:p>
        </p:txBody>
      </p:sp>
      <p:sp>
        <p:nvSpPr>
          <p:cNvPr id="3" name="Text 1"/>
          <p:cNvSpPr txBox="1"/>
          <p:nvPr/>
        </p:nvSpPr>
        <p:spPr>
          <a:xfrm>
            <a:off x="2743200" y="1188720"/>
            <a:ext cx="2743200" cy="256032"/>
          </a:xfrm>
          <a:prstGeom prst="rect">
            <a:avLst/>
          </a:prstGeom>
          <a:noFill/>
          <a:ln/>
        </p:spPr>
        <p:txBody>
          <a:bodyPr wrap="square" lIns="0" tIns="0" rIns="0" bIns="0" rtlCol="0" anchor="t"/>
          <a:lstStyle/>
          <a:p>
            <a:pPr indent="0" marL="0">
              <a:buNone/>
            </a:pPr>
            <a:r>
              <a:rPr lang="en-US" sz="1200" dirty="0">
                <a:solidFill>
                  <a:schemeClr val="accent4"/>
                </a:solidFill>
              </a:rPr>
              <a:t>DUT: axi2apb</a:t>
            </a:r>
            <a:endParaRPr lang="en-US" sz="1200" dirty="0"/>
          </a:p>
        </p:txBody>
      </p:sp>
      <p:sp>
        <p:nvSpPr>
          <p:cNvPr id="4" name="dut-boundary"/>
          <p:cNvSpPr/>
          <p:nvPr/>
        </p:nvSpPr>
        <p:spPr>
          <a:xfrm>
            <a:off x="2743200" y="1463040"/>
            <a:ext cx="7155180" cy="1600200"/>
          </a:xfrm>
          <a:prstGeom prst="roundRect">
            <a:avLst>
              <a:gd name="adj" fmla="val 6857"/>
            </a:avLst>
          </a:prstGeom>
          <a:solidFill>
            <a:schemeClr val="bg1">
              <a:alpha val="0"/>
            </a:schemeClr>
          </a:solidFill>
          <a:ln w="15875">
            <a:solidFill>
              <a:schemeClr val="accent4"/>
            </a:solidFill>
            <a:prstDash val="dash"/>
          </a:ln>
        </p:spPr>
      </p:sp>
      <p:sp>
        <p:nvSpPr>
          <p:cNvPr id="5" name="dut-block"/>
          <p:cNvSpPr txBox="1"/>
          <p:nvPr/>
        </p:nvSpPr>
        <p:spPr>
          <a:xfrm>
            <a:off x="548640" y="1645920"/>
            <a:ext cx="1828800" cy="1234440"/>
          </a:xfrm>
          <a:prstGeom prst="roundRect">
            <a:avLst>
              <a:gd name="adj" fmla="val 7407"/>
            </a:avLst>
          </a:prstGeom>
          <a:solidFill>
            <a:schemeClr val="accent1"/>
          </a:solidFill>
          <a:ln/>
        </p:spPr>
        <p:txBody>
          <a:bodyPr wrap="square" lIns="635" tIns="635" rIns="635" bIns="635" rtlCol="0" anchor="ctr"/>
          <a:lstStyle/>
          <a:p>
            <a:pPr algn="ctr" indent="0" marL="0">
              <a:buNone/>
            </a:pPr>
            <a:r>
              <a:rPr lang="en-US" sz="1500" b="1" dirty="0">
                <a:solidFill>
                  <a:schemeClr val="bg1"/>
                </a:solidFill>
              </a:rPr>
              <a:t>AXI master</a:t>
            </a:r>
            <a:endParaRPr lang="en-US" sz="1500" dirty="0"/>
          </a:p>
          <a:p>
            <a:pPr algn="ctr" indent="0" marL="0">
              <a:buNone/>
            </a:pPr>
            <a:r>
              <a:rPr lang="en-US" sz="1500" b="1" dirty="0">
                <a:solidFill>
                  <a:schemeClr val="bg1"/>
                </a:solidFill>
              </a:rPr>
              <a:t>(testbench)</a:t>
            </a:r>
            <a:endParaRPr lang="en-US" sz="1500" dirty="0"/>
          </a:p>
        </p:txBody>
      </p:sp>
      <p:sp>
        <p:nvSpPr>
          <p:cNvPr id="6" name="Text 4"/>
          <p:cNvSpPr txBox="1"/>
          <p:nvPr/>
        </p:nvSpPr>
        <p:spPr>
          <a:xfrm>
            <a:off x="548640" y="3246120"/>
            <a:ext cx="1828800" cy="1188720"/>
          </a:xfrm>
          <a:prstGeom prst="rect">
            <a:avLst/>
          </a:prstGeom>
          <a:noFill/>
          <a:ln/>
        </p:spPr>
        <p:txBody>
          <a:bodyPr wrap="square" lIns="0" tIns="0" rIns="0" bIns="0" rtlCol="0" anchor="t"/>
          <a:lstStyle/>
          <a:p>
            <a:pPr indent="0" marL="0">
              <a:buNone/>
            </a:pPr>
            <a:r>
              <a:rPr lang="en-US" sz="1400" dirty="0">
                <a:solidFill>
                  <a:schemeClr val="accent4"/>
                </a:solidFill>
              </a:rPr>
              <a:t>Drives AW, W and AR.</a:t>
            </a:r>
            <a:endParaRPr lang="en-US" sz="1400" dirty="0"/>
          </a:p>
          <a:p>
            <a:pPr indent="0" marL="0">
              <a:buNone/>
            </a:pPr>
            <a:r>
              <a:rPr lang="en-US" sz="1400" dirty="0">
                <a:solidFill>
                  <a:schemeClr val="accent4"/>
                </a:solidFill>
              </a:rPr>
              <a:t>Accepts B and R.</a:t>
            </a:r>
            <a:endParaRPr lang="en-US" sz="1400" dirty="0"/>
          </a:p>
        </p:txBody>
      </p:sp>
      <p:sp>
        <p:nvSpPr>
          <p:cNvPr id="7" name="arrow"/>
          <p:cNvSpPr/>
          <p:nvPr/>
        </p:nvSpPr>
        <p:spPr>
          <a:xfrm>
            <a:off x="2377440" y="2263140"/>
            <a:ext cx="480060" cy="0"/>
          </a:xfrm>
          <a:prstGeom prst="line">
            <a:avLst/>
          </a:prstGeom>
          <a:noFill/>
          <a:ln w="19050">
            <a:solidFill>
              <a:schemeClr val="accent4"/>
            </a:solidFill>
            <a:prstDash val="solid"/>
            <a:headEnd type="triangle"/>
            <a:tailEnd type="triangle"/>
          </a:ln>
        </p:spPr>
      </p:sp>
      <p:sp>
        <p:nvSpPr>
          <p:cNvPr id="8" name="dut-block"/>
          <p:cNvSpPr txBox="1"/>
          <p:nvPr/>
        </p:nvSpPr>
        <p:spPr>
          <a:xfrm>
            <a:off x="2857500" y="1645920"/>
            <a:ext cx="1828800" cy="1234440"/>
          </a:xfrm>
          <a:prstGeom prst="roundRect">
            <a:avLst>
              <a:gd name="adj" fmla="val 7407"/>
            </a:avLst>
          </a:prstGeom>
          <a:solidFill>
            <a:schemeClr val="tx2"/>
          </a:solidFill>
          <a:ln/>
        </p:spPr>
        <p:txBody>
          <a:bodyPr wrap="square" lIns="635" tIns="635" rIns="635" bIns="635" rtlCol="0" anchor="ctr"/>
          <a:lstStyle/>
          <a:p>
            <a:pPr algn="ctr" indent="0" marL="0">
              <a:buNone/>
            </a:pPr>
            <a:r>
              <a:rPr lang="en-US" sz="1500" b="1" dirty="0">
                <a:solidFill>
                  <a:schemeClr val="bg1"/>
                </a:solidFill>
              </a:rPr>
              <a:t>Channel buffers</a:t>
            </a:r>
            <a:endParaRPr lang="en-US" sz="1500" dirty="0"/>
          </a:p>
          <a:p>
            <a:pPr algn="ctr" indent="0" marL="0">
              <a:buNone/>
            </a:pPr>
            <a:r>
              <a:rPr lang="en-US" sz="1500" b="1" dirty="0">
                <a:solidFill>
                  <a:schemeClr val="bg1"/>
                </a:solidFill>
              </a:rPr>
              <a:t>5 x FIFO</a:t>
            </a:r>
            <a:endParaRPr lang="en-US" sz="1500" dirty="0"/>
          </a:p>
        </p:txBody>
      </p:sp>
      <p:sp>
        <p:nvSpPr>
          <p:cNvPr id="9" name="Text 7"/>
          <p:cNvSpPr txBox="1"/>
          <p:nvPr/>
        </p:nvSpPr>
        <p:spPr>
          <a:xfrm>
            <a:off x="2857500" y="3246120"/>
            <a:ext cx="1828800" cy="1188720"/>
          </a:xfrm>
          <a:prstGeom prst="rect">
            <a:avLst/>
          </a:prstGeom>
          <a:noFill/>
          <a:ln/>
        </p:spPr>
        <p:txBody>
          <a:bodyPr wrap="square" lIns="0" tIns="0" rIns="0" bIns="0" rtlCol="0" anchor="t"/>
          <a:lstStyle/>
          <a:p>
            <a:pPr indent="0" marL="0">
              <a:buNone/>
            </a:pPr>
            <a:r>
              <a:rPr lang="en-US" sz="1400" dirty="0">
                <a:solidFill>
                  <a:schemeClr val="accent4"/>
                </a:solidFill>
              </a:rPr>
              <a:t>AW, W, AR, R and B slices, depth 4 by default.</a:t>
            </a:r>
            <a:endParaRPr lang="en-US" sz="1400" dirty="0"/>
          </a:p>
        </p:txBody>
      </p:sp>
      <p:sp>
        <p:nvSpPr>
          <p:cNvPr id="10" name="arrow"/>
          <p:cNvSpPr/>
          <p:nvPr/>
        </p:nvSpPr>
        <p:spPr>
          <a:xfrm>
            <a:off x="4686300" y="2263140"/>
            <a:ext cx="480060" cy="0"/>
          </a:xfrm>
          <a:prstGeom prst="line">
            <a:avLst/>
          </a:prstGeom>
          <a:noFill/>
          <a:ln w="19050">
            <a:solidFill>
              <a:schemeClr val="accent4"/>
            </a:solidFill>
            <a:prstDash val="solid"/>
            <a:headEnd type="triangle"/>
            <a:tailEnd type="triangle"/>
          </a:ln>
        </p:spPr>
      </p:sp>
      <p:sp>
        <p:nvSpPr>
          <p:cNvPr id="11" name="dut-block"/>
          <p:cNvSpPr txBox="1"/>
          <p:nvPr/>
        </p:nvSpPr>
        <p:spPr>
          <a:xfrm>
            <a:off x="5166360" y="1645920"/>
            <a:ext cx="1828800" cy="1234440"/>
          </a:xfrm>
          <a:prstGeom prst="roundRect">
            <a:avLst>
              <a:gd name="adj" fmla="val 7407"/>
            </a:avLst>
          </a:prstGeom>
          <a:solidFill>
            <a:schemeClr val="tx2"/>
          </a:solidFill>
          <a:ln/>
        </p:spPr>
        <p:txBody>
          <a:bodyPr wrap="square" lIns="635" tIns="635" rIns="635" bIns="635" rtlCol="0" anchor="ctr"/>
          <a:lstStyle/>
          <a:p>
            <a:pPr algn="ctr" indent="0" marL="0">
              <a:buNone/>
            </a:pPr>
            <a:r>
              <a:rPr lang="en-US" sz="1500" b="1" dirty="0">
                <a:solidFill>
                  <a:schemeClr val="bg1"/>
                </a:solidFill>
              </a:rPr>
              <a:t>FSM</a:t>
            </a:r>
            <a:endParaRPr lang="en-US" sz="1500" dirty="0"/>
          </a:p>
          <a:p>
            <a:pPr algn="ctr" indent="0" marL="0">
              <a:buNone/>
            </a:pPr>
            <a:r>
              <a:rPr lang="en-US" sz="1500" b="1" dirty="0">
                <a:solidFill>
                  <a:schemeClr val="bg1"/>
                </a:solidFill>
              </a:rPr>
              <a:t>5 states</a:t>
            </a:r>
            <a:endParaRPr lang="en-US" sz="1500" dirty="0"/>
          </a:p>
        </p:txBody>
      </p:sp>
      <p:sp>
        <p:nvSpPr>
          <p:cNvPr id="12" name="Text 10"/>
          <p:cNvSpPr txBox="1"/>
          <p:nvPr/>
        </p:nvSpPr>
        <p:spPr>
          <a:xfrm>
            <a:off x="5166360" y="3246120"/>
            <a:ext cx="1828800" cy="1188720"/>
          </a:xfrm>
          <a:prstGeom prst="rect">
            <a:avLst/>
          </a:prstGeom>
          <a:noFill/>
          <a:ln/>
        </p:spPr>
        <p:txBody>
          <a:bodyPr wrap="square" lIns="0" tIns="0" rIns="0" bIns="0" rtlCol="0" anchor="t"/>
          <a:lstStyle/>
          <a:p>
            <a:pPr indent="0" marL="0">
              <a:buNone/>
            </a:pPr>
            <a:r>
              <a:rPr lang="en-US" sz="1400" dirty="0">
                <a:solidFill>
                  <a:schemeClr val="accent4"/>
                </a:solidFill>
              </a:rPr>
              <a:t>One transfer at a time. Read has priority over write.</a:t>
            </a:r>
            <a:endParaRPr lang="en-US" sz="1400" dirty="0"/>
          </a:p>
        </p:txBody>
      </p:sp>
      <p:sp>
        <p:nvSpPr>
          <p:cNvPr id="13" name="arrow"/>
          <p:cNvSpPr/>
          <p:nvPr/>
        </p:nvSpPr>
        <p:spPr>
          <a:xfrm>
            <a:off x="6995160" y="2263140"/>
            <a:ext cx="480060" cy="0"/>
          </a:xfrm>
          <a:prstGeom prst="line">
            <a:avLst/>
          </a:prstGeom>
          <a:noFill/>
          <a:ln w="19050">
            <a:solidFill>
              <a:schemeClr val="accent4"/>
            </a:solidFill>
            <a:prstDash val="solid"/>
            <a:headEnd type="triangle"/>
            <a:tailEnd type="triangle"/>
          </a:ln>
        </p:spPr>
      </p:sp>
      <p:sp>
        <p:nvSpPr>
          <p:cNvPr id="14" name="dut-block"/>
          <p:cNvSpPr txBox="1"/>
          <p:nvPr/>
        </p:nvSpPr>
        <p:spPr>
          <a:xfrm>
            <a:off x="7475220" y="1645920"/>
            <a:ext cx="1828800" cy="1234440"/>
          </a:xfrm>
          <a:prstGeom prst="roundRect">
            <a:avLst>
              <a:gd name="adj" fmla="val 7407"/>
            </a:avLst>
          </a:prstGeom>
          <a:solidFill>
            <a:schemeClr val="tx2"/>
          </a:solidFill>
          <a:ln/>
        </p:spPr>
        <p:txBody>
          <a:bodyPr wrap="square" lIns="635" tIns="635" rIns="635" bIns="635" rtlCol="0" anchor="ctr"/>
          <a:lstStyle/>
          <a:p>
            <a:pPr algn="ctr" indent="0" marL="0">
              <a:buNone/>
            </a:pPr>
            <a:r>
              <a:rPr lang="en-US" sz="1500" b="1" dirty="0">
                <a:solidFill>
                  <a:schemeClr val="bg1"/>
                </a:solidFill>
              </a:rPr>
              <a:t>APB master port</a:t>
            </a:r>
            <a:endParaRPr lang="en-US" sz="1500" dirty="0"/>
          </a:p>
          <a:p>
            <a:pPr algn="ctr" indent="0" marL="0">
              <a:buNone/>
            </a:pPr>
            <a:r>
              <a:rPr lang="en-US" sz="1500" b="1" dirty="0">
                <a:solidFill>
                  <a:schemeClr val="bg1"/>
                </a:solidFill>
              </a:rPr>
              <a:t>(DUT output)</a:t>
            </a:r>
            <a:endParaRPr lang="en-US" sz="1500" dirty="0"/>
          </a:p>
        </p:txBody>
      </p:sp>
      <p:sp>
        <p:nvSpPr>
          <p:cNvPr id="15" name="Text 13"/>
          <p:cNvSpPr txBox="1"/>
          <p:nvPr/>
        </p:nvSpPr>
        <p:spPr>
          <a:xfrm>
            <a:off x="7475220" y="3246120"/>
            <a:ext cx="1828800" cy="1188720"/>
          </a:xfrm>
          <a:prstGeom prst="rect">
            <a:avLst/>
          </a:prstGeom>
          <a:noFill/>
          <a:ln/>
        </p:spPr>
        <p:txBody>
          <a:bodyPr wrap="square" lIns="0" tIns="0" rIns="0" bIns="0" rtlCol="0" anchor="t"/>
          <a:lstStyle/>
          <a:p>
            <a:pPr indent="0" marL="0">
              <a:buNone/>
            </a:pPr>
            <a:r>
              <a:rPr lang="en-US" sz="1400" dirty="0">
                <a:solidFill>
                  <a:schemeClr val="accent4"/>
                </a:solidFill>
              </a:rPr>
              <a:t>PSEL fixed at 1. PENABLE marks an active request.</a:t>
            </a:r>
            <a:endParaRPr lang="en-US" sz="1400" dirty="0"/>
          </a:p>
        </p:txBody>
      </p:sp>
      <p:sp>
        <p:nvSpPr>
          <p:cNvPr id="16" name="arrow"/>
          <p:cNvSpPr/>
          <p:nvPr/>
        </p:nvSpPr>
        <p:spPr>
          <a:xfrm>
            <a:off x="9304020" y="2263140"/>
            <a:ext cx="480060" cy="0"/>
          </a:xfrm>
          <a:prstGeom prst="line">
            <a:avLst/>
          </a:prstGeom>
          <a:noFill/>
          <a:ln w="19050">
            <a:solidFill>
              <a:schemeClr val="accent4"/>
            </a:solidFill>
            <a:prstDash val="solid"/>
            <a:headEnd type="triangle"/>
            <a:tailEnd type="triangle"/>
          </a:ln>
        </p:spPr>
      </p:sp>
      <p:sp>
        <p:nvSpPr>
          <p:cNvPr id="17" name="dut-block"/>
          <p:cNvSpPr txBox="1"/>
          <p:nvPr/>
        </p:nvSpPr>
        <p:spPr>
          <a:xfrm>
            <a:off x="9784080" y="1645920"/>
            <a:ext cx="1828800" cy="1234440"/>
          </a:xfrm>
          <a:prstGeom prst="roundRect">
            <a:avLst>
              <a:gd name="adj" fmla="val 7407"/>
            </a:avLst>
          </a:prstGeom>
          <a:solidFill>
            <a:schemeClr val="accent2"/>
          </a:solidFill>
          <a:ln/>
        </p:spPr>
        <p:txBody>
          <a:bodyPr wrap="square" lIns="635" tIns="635" rIns="635" bIns="635" rtlCol="0" anchor="ctr"/>
          <a:lstStyle/>
          <a:p>
            <a:pPr algn="ctr" indent="0" marL="0">
              <a:buNone/>
            </a:pPr>
            <a:r>
              <a:rPr lang="en-US" sz="1500" b="1" dirty="0">
                <a:solidFill>
                  <a:schemeClr val="bg1"/>
                </a:solidFill>
              </a:rPr>
              <a:t>APB slave</a:t>
            </a:r>
            <a:endParaRPr lang="en-US" sz="1500" dirty="0"/>
          </a:p>
          <a:p>
            <a:pPr algn="ctr" indent="0" marL="0">
              <a:buNone/>
            </a:pPr>
            <a:r>
              <a:rPr lang="en-US" sz="1500" b="1" dirty="0">
                <a:solidFill>
                  <a:schemeClr val="bg1"/>
                </a:solidFill>
              </a:rPr>
              <a:t>(testbench)</a:t>
            </a:r>
            <a:endParaRPr lang="en-US" sz="1500" dirty="0"/>
          </a:p>
        </p:txBody>
      </p:sp>
      <p:sp>
        <p:nvSpPr>
          <p:cNvPr id="18" name="Text 16"/>
          <p:cNvSpPr txBox="1"/>
          <p:nvPr/>
        </p:nvSpPr>
        <p:spPr>
          <a:xfrm>
            <a:off x="9784080" y="3246120"/>
            <a:ext cx="1828800" cy="1188720"/>
          </a:xfrm>
          <a:prstGeom prst="rect">
            <a:avLst/>
          </a:prstGeom>
          <a:noFill/>
          <a:ln/>
        </p:spPr>
        <p:txBody>
          <a:bodyPr wrap="square" lIns="0" tIns="0" rIns="0" bIns="0" rtlCol="0" anchor="t"/>
          <a:lstStyle/>
          <a:p>
            <a:pPr indent="0" marL="0">
              <a:buNone/>
            </a:pPr>
            <a:r>
              <a:rPr lang="en-US" sz="1400" dirty="0">
                <a:solidFill>
                  <a:schemeClr val="accent4"/>
                </a:solidFill>
              </a:rPr>
              <a:t>Answers with PREADY, PRDATA and PSLVERR.</a:t>
            </a:r>
            <a:endParaRPr lang="en-US" sz="1400" dirty="0"/>
          </a:p>
        </p:txBody>
      </p:sp>
      <p:sp>
        <p:nvSpPr>
          <p:cNvPr id="19" name="dependency-note"/>
          <p:cNvSpPr/>
          <p:nvPr/>
        </p:nvSpPr>
        <p:spPr>
          <a:xfrm>
            <a:off x="548640" y="4709160"/>
            <a:ext cx="11064240" cy="1371600"/>
          </a:xfrm>
          <a:prstGeom prst="roundRect">
            <a:avLst>
              <a:gd name="adj" fmla="val 8000"/>
            </a:avLst>
          </a:prstGeom>
          <a:solidFill>
            <a:schemeClr val="bg2"/>
          </a:solidFill>
          <a:ln/>
        </p:spPr>
      </p:sp>
      <p:sp>
        <p:nvSpPr>
          <p:cNvPr id="20" name="icon-circle"/>
          <p:cNvSpPr/>
          <p:nvPr/>
        </p:nvSpPr>
        <p:spPr>
          <a:xfrm>
            <a:off x="822960" y="5074920"/>
            <a:ext cx="640080" cy="640080"/>
          </a:xfrm>
          <a:prstGeom prst="ellipse">
            <a:avLst/>
          </a:prstGeom>
          <a:solidFill>
            <a:schemeClr val="accent3"/>
          </a:solidFill>
          <a:ln/>
        </p:spPr>
      </p:sp>
      <p:pic>
        <p:nvPicPr>
          <p:cNvPr id="21" name="icon FaExclamationTriangle" descr="preencoded.png">    </p:cNvPr>
          <p:cNvPicPr>
            <a:picLocks noChangeAspect="1"/>
          </p:cNvPicPr>
          <p:nvPr/>
        </p:nvPicPr>
        <p:blipFill>
          <a:blip r:embed="rId1"/>
          <a:stretch>
            <a:fillRect/>
          </a:stretch>
        </p:blipFill>
        <p:spPr>
          <a:xfrm>
            <a:off x="982980" y="5234940"/>
            <a:ext cx="320040" cy="320040"/>
          </a:xfrm>
          <a:prstGeom prst="rect">
            <a:avLst/>
          </a:prstGeom>
        </p:spPr>
      </p:pic>
      <p:sp>
        <p:nvSpPr>
          <p:cNvPr id="22" name="Text 19"/>
          <p:cNvSpPr txBox="1"/>
          <p:nvPr/>
        </p:nvSpPr>
        <p:spPr>
          <a:xfrm>
            <a:off x="1783080" y="4937760"/>
            <a:ext cx="9509760" cy="914400"/>
          </a:xfrm>
          <a:prstGeom prst="rect">
            <a:avLst/>
          </a:prstGeom>
          <a:noFill/>
          <a:ln/>
        </p:spPr>
        <p:txBody>
          <a:bodyPr wrap="square" lIns="0" tIns="0" rIns="0" bIns="0" rtlCol="0" anchor="t"/>
          <a:lstStyle/>
          <a:p>
            <a:pPr indent="0" marL="0">
              <a:buNone/>
            </a:pPr>
            <a:r>
              <a:rPr lang="en-US" sz="1400" b="1" dirty="0">
                <a:solidFill>
                  <a:schemeClr val="tx1"/>
                </a:solidFill>
              </a:rPr>
              <a:t>One missing dependency. </a:t>
            </a:r>
            <a:pPr indent="0" marL="0">
              <a:buNone/>
            </a:pPr>
            <a:r>
              <a:rPr lang="en-US" sz="1400" dirty="0">
                <a:solidFill>
                  <a:schemeClr val="tx1"/>
                </a:solidFill>
              </a:rPr>
              <a:t>axi_single_slice instantiates a fifo module that is not in the supplied RTL. A compatible simulation model was added in rtl/fifo.sv and the gap is flagged for the instructor.</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What the RTL actually does</a:t>
            </a:r>
            <a:endParaRPr lang="en-US" sz="3400" dirty="0"/>
          </a:p>
        </p:txBody>
      </p:sp>
      <p:sp>
        <p:nvSpPr>
          <p:cNvPr id="3" name="behaviour-card"/>
          <p:cNvSpPr/>
          <p:nvPr/>
        </p:nvSpPr>
        <p:spPr>
          <a:xfrm>
            <a:off x="548640" y="1417320"/>
            <a:ext cx="5394960" cy="1371600"/>
          </a:xfrm>
          <a:prstGeom prst="roundRect">
            <a:avLst>
              <a:gd name="adj" fmla="val 8000"/>
            </a:avLst>
          </a:prstGeom>
          <a:solidFill>
            <a:schemeClr val="bg2"/>
          </a:solidFill>
          <a:ln/>
        </p:spPr>
      </p:sp>
      <p:sp>
        <p:nvSpPr>
          <p:cNvPr id="4" name="icon-circle"/>
          <p:cNvSpPr/>
          <p:nvPr/>
        </p:nvSpPr>
        <p:spPr>
          <a:xfrm>
            <a:off x="822960" y="1691640"/>
            <a:ext cx="640080" cy="640080"/>
          </a:xfrm>
          <a:prstGeom prst="ellipse">
            <a:avLst/>
          </a:prstGeom>
          <a:solidFill>
            <a:schemeClr val="accent1"/>
          </a:solidFill>
          <a:ln/>
        </p:spPr>
      </p:sp>
      <p:pic>
        <p:nvPicPr>
          <p:cNvPr id="5" name="icon FaPlug" descr="preencoded.png">    </p:cNvPr>
          <p:cNvPicPr>
            <a:picLocks noChangeAspect="1"/>
          </p:cNvPicPr>
          <p:nvPr/>
        </p:nvPicPr>
        <p:blipFill>
          <a:blip r:embed="rId1"/>
          <a:stretch>
            <a:fillRect/>
          </a:stretch>
        </p:blipFill>
        <p:spPr>
          <a:xfrm>
            <a:off x="982980" y="1851660"/>
            <a:ext cx="320040" cy="320040"/>
          </a:xfrm>
          <a:prstGeom prst="rect">
            <a:avLst/>
          </a:prstGeom>
        </p:spPr>
      </p:pic>
      <p:sp>
        <p:nvSpPr>
          <p:cNvPr id="6" name="Text 3"/>
          <p:cNvSpPr txBox="1"/>
          <p:nvPr/>
        </p:nvSpPr>
        <p:spPr>
          <a:xfrm>
            <a:off x="1691640" y="1691640"/>
            <a:ext cx="3977640" cy="320040"/>
          </a:xfrm>
          <a:prstGeom prst="rect">
            <a:avLst/>
          </a:prstGeom>
          <a:noFill/>
          <a:ln/>
        </p:spPr>
        <p:txBody>
          <a:bodyPr wrap="square" lIns="0" tIns="0" rIns="0" bIns="0" rtlCol="0" anchor="t"/>
          <a:lstStyle/>
          <a:p>
            <a:pPr indent="0" marL="0">
              <a:buNone/>
            </a:pPr>
            <a:r>
              <a:rPr lang="en-US" sz="1600" b="1" dirty="0">
                <a:solidFill>
                  <a:schemeClr val="tx1"/>
                </a:solidFill>
              </a:rPr>
              <a:t>PSEL fixed at 1</a:t>
            </a:r>
            <a:endParaRPr lang="en-US" sz="1600" dirty="0"/>
          </a:p>
        </p:txBody>
      </p:sp>
      <p:sp>
        <p:nvSpPr>
          <p:cNvPr id="7" name="Text 4"/>
          <p:cNvSpPr txBox="1"/>
          <p:nvPr/>
        </p:nvSpPr>
        <p:spPr>
          <a:xfrm>
            <a:off x="1691640" y="2057400"/>
            <a:ext cx="3977640" cy="914400"/>
          </a:xfrm>
          <a:prstGeom prst="rect">
            <a:avLst/>
          </a:prstGeom>
          <a:noFill/>
          <a:ln/>
        </p:spPr>
        <p:txBody>
          <a:bodyPr wrap="square" lIns="0" tIns="0" rIns="0" bIns="0" rtlCol="0" anchor="t"/>
          <a:lstStyle/>
          <a:p>
            <a:pPr indent="0" marL="0">
              <a:buNone/>
            </a:pPr>
            <a:r>
              <a:rPr lang="en-US" sz="1400" dirty="0">
                <a:solidFill>
                  <a:schemeClr val="accent4"/>
                </a:solidFill>
              </a:rPr>
              <a:t>PENABLE rises with the request. There is no separate APB setup phase.</a:t>
            </a:r>
            <a:endParaRPr lang="en-US" sz="1400" dirty="0"/>
          </a:p>
        </p:txBody>
      </p:sp>
      <p:sp>
        <p:nvSpPr>
          <p:cNvPr id="8" name="behaviour-card"/>
          <p:cNvSpPr/>
          <p:nvPr/>
        </p:nvSpPr>
        <p:spPr>
          <a:xfrm>
            <a:off x="6217920" y="1417320"/>
            <a:ext cx="5394960" cy="1371600"/>
          </a:xfrm>
          <a:prstGeom prst="roundRect">
            <a:avLst>
              <a:gd name="adj" fmla="val 8000"/>
            </a:avLst>
          </a:prstGeom>
          <a:solidFill>
            <a:schemeClr val="bg2"/>
          </a:solidFill>
          <a:ln/>
        </p:spPr>
      </p:sp>
      <p:sp>
        <p:nvSpPr>
          <p:cNvPr id="9" name="icon-circle"/>
          <p:cNvSpPr/>
          <p:nvPr/>
        </p:nvSpPr>
        <p:spPr>
          <a:xfrm>
            <a:off x="6492240" y="1691640"/>
            <a:ext cx="640080" cy="640080"/>
          </a:xfrm>
          <a:prstGeom prst="ellipse">
            <a:avLst/>
          </a:prstGeom>
          <a:solidFill>
            <a:schemeClr val="accent1"/>
          </a:solidFill>
          <a:ln/>
        </p:spPr>
      </p:sp>
      <p:pic>
        <p:nvPicPr>
          <p:cNvPr id="10" name="icon FaBan" descr="preencoded.png">    </p:cNvPr>
          <p:cNvPicPr>
            <a:picLocks noChangeAspect="1"/>
          </p:cNvPicPr>
          <p:nvPr/>
        </p:nvPicPr>
        <p:blipFill>
          <a:blip r:embed="rId2"/>
          <a:stretch>
            <a:fillRect/>
          </a:stretch>
        </p:blipFill>
        <p:spPr>
          <a:xfrm>
            <a:off x="6652260" y="1851660"/>
            <a:ext cx="320040" cy="320040"/>
          </a:xfrm>
          <a:prstGeom prst="rect">
            <a:avLst/>
          </a:prstGeom>
        </p:spPr>
      </p:pic>
      <p:sp>
        <p:nvSpPr>
          <p:cNvPr id="11" name="Text 7"/>
          <p:cNvSpPr txBox="1"/>
          <p:nvPr/>
        </p:nvSpPr>
        <p:spPr>
          <a:xfrm>
            <a:off x="7360920" y="1691640"/>
            <a:ext cx="3977640" cy="320040"/>
          </a:xfrm>
          <a:prstGeom prst="rect">
            <a:avLst/>
          </a:prstGeom>
          <a:noFill/>
          <a:ln/>
        </p:spPr>
        <p:txBody>
          <a:bodyPr wrap="square" lIns="0" tIns="0" rIns="0" bIns="0" rtlCol="0" anchor="t"/>
          <a:lstStyle/>
          <a:p>
            <a:pPr indent="0" marL="0">
              <a:buNone/>
            </a:pPr>
            <a:r>
              <a:rPr lang="en-US" sz="1600" b="1" dirty="0">
                <a:solidFill>
                  <a:schemeClr val="tx1"/>
                </a:solidFill>
              </a:rPr>
              <a:t>PSLVERR ignored</a:t>
            </a:r>
            <a:endParaRPr lang="en-US" sz="1600" dirty="0"/>
          </a:p>
        </p:txBody>
      </p:sp>
      <p:sp>
        <p:nvSpPr>
          <p:cNvPr id="12" name="Text 8"/>
          <p:cNvSpPr txBox="1"/>
          <p:nvPr/>
        </p:nvSpPr>
        <p:spPr>
          <a:xfrm>
            <a:off x="7360920" y="2057400"/>
            <a:ext cx="3977640" cy="914400"/>
          </a:xfrm>
          <a:prstGeom prst="rect">
            <a:avLst/>
          </a:prstGeom>
          <a:noFill/>
          <a:ln/>
        </p:spPr>
        <p:txBody>
          <a:bodyPr wrap="square" lIns="0" tIns="0" rIns="0" bIns="0" rtlCol="0" anchor="t"/>
          <a:lstStyle/>
          <a:p>
            <a:pPr indent="0" marL="0">
              <a:buNone/>
            </a:pPr>
            <a:r>
              <a:rPr lang="en-US" sz="1400" dirty="0">
                <a:solidFill>
                  <a:schemeClr val="accent4"/>
                </a:solidFill>
              </a:rPr>
              <a:t>BRESP and RRESP are always OKAY, whatever the APB slave returns.</a:t>
            </a:r>
            <a:endParaRPr lang="en-US" sz="1400" dirty="0"/>
          </a:p>
        </p:txBody>
      </p:sp>
      <p:sp>
        <p:nvSpPr>
          <p:cNvPr id="13" name="behaviour-card"/>
          <p:cNvSpPr/>
          <p:nvPr/>
        </p:nvSpPr>
        <p:spPr>
          <a:xfrm>
            <a:off x="548640" y="3063240"/>
            <a:ext cx="5394960" cy="1371600"/>
          </a:xfrm>
          <a:prstGeom prst="roundRect">
            <a:avLst>
              <a:gd name="adj" fmla="val 8000"/>
            </a:avLst>
          </a:prstGeom>
          <a:solidFill>
            <a:schemeClr val="bg2"/>
          </a:solidFill>
          <a:ln/>
        </p:spPr>
      </p:sp>
      <p:sp>
        <p:nvSpPr>
          <p:cNvPr id="14" name="icon-circle"/>
          <p:cNvSpPr/>
          <p:nvPr/>
        </p:nvSpPr>
        <p:spPr>
          <a:xfrm>
            <a:off x="822960" y="3337560"/>
            <a:ext cx="640080" cy="640080"/>
          </a:xfrm>
          <a:prstGeom prst="ellipse">
            <a:avLst/>
          </a:prstGeom>
          <a:solidFill>
            <a:schemeClr val="accent1"/>
          </a:solidFill>
          <a:ln/>
        </p:spPr>
      </p:sp>
      <p:pic>
        <p:nvPicPr>
          <p:cNvPr id="15" name="icon FaSlidersH" descr="preencoded.png">    </p:cNvPr>
          <p:cNvPicPr>
            <a:picLocks noChangeAspect="1"/>
          </p:cNvPicPr>
          <p:nvPr/>
        </p:nvPicPr>
        <p:blipFill>
          <a:blip r:embed="rId3"/>
          <a:stretch>
            <a:fillRect/>
          </a:stretch>
        </p:blipFill>
        <p:spPr>
          <a:xfrm>
            <a:off x="982980" y="3497580"/>
            <a:ext cx="320040" cy="320040"/>
          </a:xfrm>
          <a:prstGeom prst="rect">
            <a:avLst/>
          </a:prstGeom>
        </p:spPr>
      </p:pic>
      <p:sp>
        <p:nvSpPr>
          <p:cNvPr id="16" name="Text 11"/>
          <p:cNvSpPr txBox="1"/>
          <p:nvPr/>
        </p:nvSpPr>
        <p:spPr>
          <a:xfrm>
            <a:off x="1691640" y="3337560"/>
            <a:ext cx="3977640" cy="320040"/>
          </a:xfrm>
          <a:prstGeom prst="rect">
            <a:avLst/>
          </a:prstGeom>
          <a:noFill/>
          <a:ln/>
        </p:spPr>
        <p:txBody>
          <a:bodyPr wrap="square" lIns="0" tIns="0" rIns="0" bIns="0" rtlCol="0" anchor="t"/>
          <a:lstStyle/>
          <a:p>
            <a:pPr indent="0" marL="0">
              <a:buNone/>
            </a:pPr>
            <a:r>
              <a:rPr lang="en-US" sz="1600" b="1" dirty="0">
                <a:solidFill>
                  <a:schemeClr val="tx1"/>
                </a:solidFill>
              </a:rPr>
              <a:t>WSTRB and WLAST unused</a:t>
            </a:r>
            <a:endParaRPr lang="en-US" sz="1600" dirty="0"/>
          </a:p>
        </p:txBody>
      </p:sp>
      <p:sp>
        <p:nvSpPr>
          <p:cNvPr id="17" name="Text 12"/>
          <p:cNvSpPr txBox="1"/>
          <p:nvPr/>
        </p:nvSpPr>
        <p:spPr>
          <a:xfrm>
            <a:off x="1691640" y="3703320"/>
            <a:ext cx="3977640" cy="914400"/>
          </a:xfrm>
          <a:prstGeom prst="rect">
            <a:avLst/>
          </a:prstGeom>
          <a:noFill/>
          <a:ln/>
        </p:spPr>
        <p:txBody>
          <a:bodyPr wrap="square" lIns="0" tIns="0" rIns="0" bIns="0" rtlCol="0" anchor="t"/>
          <a:lstStyle/>
          <a:p>
            <a:pPr indent="0" marL="0">
              <a:buNone/>
            </a:pPr>
            <a:r>
              <a:rPr lang="en-US" sz="1400" dirty="0">
                <a:solidFill>
                  <a:schemeClr val="accent4"/>
                </a:solidFill>
              </a:rPr>
              <a:t>The full WDATA word goes out on PWDATA, with no byte masking.</a:t>
            </a:r>
            <a:endParaRPr lang="en-US" sz="1400" dirty="0"/>
          </a:p>
        </p:txBody>
      </p:sp>
      <p:sp>
        <p:nvSpPr>
          <p:cNvPr id="18" name="behaviour-card"/>
          <p:cNvSpPr/>
          <p:nvPr/>
        </p:nvSpPr>
        <p:spPr>
          <a:xfrm>
            <a:off x="6217920" y="3063240"/>
            <a:ext cx="5394960" cy="1371600"/>
          </a:xfrm>
          <a:prstGeom prst="roundRect">
            <a:avLst>
              <a:gd name="adj" fmla="val 8000"/>
            </a:avLst>
          </a:prstGeom>
          <a:solidFill>
            <a:schemeClr val="bg2"/>
          </a:solidFill>
          <a:ln/>
        </p:spPr>
      </p:sp>
      <p:sp>
        <p:nvSpPr>
          <p:cNvPr id="19" name="icon-circle"/>
          <p:cNvSpPr/>
          <p:nvPr/>
        </p:nvSpPr>
        <p:spPr>
          <a:xfrm>
            <a:off x="6492240" y="3337560"/>
            <a:ext cx="640080" cy="640080"/>
          </a:xfrm>
          <a:prstGeom prst="ellipse">
            <a:avLst/>
          </a:prstGeom>
          <a:solidFill>
            <a:schemeClr val="accent1"/>
          </a:solidFill>
          <a:ln/>
        </p:spPr>
      </p:sp>
      <p:pic>
        <p:nvPicPr>
          <p:cNvPr id="20" name="icon FaBolt" descr="preencoded.png">    </p:cNvPr>
          <p:cNvPicPr>
            <a:picLocks noChangeAspect="1"/>
          </p:cNvPicPr>
          <p:nvPr/>
        </p:nvPicPr>
        <p:blipFill>
          <a:blip r:embed="rId4"/>
          <a:stretch>
            <a:fillRect/>
          </a:stretch>
        </p:blipFill>
        <p:spPr>
          <a:xfrm>
            <a:off x="6652260" y="3497580"/>
            <a:ext cx="320040" cy="320040"/>
          </a:xfrm>
          <a:prstGeom prst="rect">
            <a:avLst/>
          </a:prstGeom>
        </p:spPr>
      </p:pic>
      <p:sp>
        <p:nvSpPr>
          <p:cNvPr id="21" name="Text 15"/>
          <p:cNvSpPr txBox="1"/>
          <p:nvPr/>
        </p:nvSpPr>
        <p:spPr>
          <a:xfrm>
            <a:off x="7360920" y="3337560"/>
            <a:ext cx="3977640" cy="320040"/>
          </a:xfrm>
          <a:prstGeom prst="rect">
            <a:avLst/>
          </a:prstGeom>
          <a:noFill/>
          <a:ln/>
        </p:spPr>
        <p:txBody>
          <a:bodyPr wrap="square" lIns="0" tIns="0" rIns="0" bIns="0" rtlCol="0" anchor="t"/>
          <a:lstStyle/>
          <a:p>
            <a:pPr indent="0" marL="0">
              <a:buNone/>
            </a:pPr>
            <a:r>
              <a:rPr lang="en-US" sz="1600" b="1" dirty="0">
                <a:solidFill>
                  <a:schemeClr val="tx1"/>
                </a:solidFill>
              </a:rPr>
              <a:t>Read priority</a:t>
            </a:r>
            <a:endParaRPr lang="en-US" sz="1600" dirty="0"/>
          </a:p>
        </p:txBody>
      </p:sp>
      <p:sp>
        <p:nvSpPr>
          <p:cNvPr id="22" name="Text 16"/>
          <p:cNvSpPr txBox="1"/>
          <p:nvPr/>
        </p:nvSpPr>
        <p:spPr>
          <a:xfrm>
            <a:off x="7360920" y="3703320"/>
            <a:ext cx="3977640" cy="914400"/>
          </a:xfrm>
          <a:prstGeom prst="rect">
            <a:avLst/>
          </a:prstGeom>
          <a:noFill/>
          <a:ln/>
        </p:spPr>
        <p:txBody>
          <a:bodyPr wrap="square" lIns="0" tIns="0" rIns="0" bIns="0" rtlCol="0" anchor="t"/>
          <a:lstStyle/>
          <a:p>
            <a:pPr indent="0" marL="0">
              <a:buNone/>
            </a:pPr>
            <a:r>
              <a:rPr lang="en-US" sz="1400" dirty="0">
                <a:solidFill>
                  <a:schemeClr val="accent4"/>
                </a:solidFill>
              </a:rPr>
              <a:t>If a read and a write are both pending, the read is served first.</a:t>
            </a:r>
            <a:endParaRPr lang="en-US" sz="1400" dirty="0"/>
          </a:p>
        </p:txBody>
      </p:sp>
      <p:sp>
        <p:nvSpPr>
          <p:cNvPr id="23" name="behaviour-card"/>
          <p:cNvSpPr/>
          <p:nvPr/>
        </p:nvSpPr>
        <p:spPr>
          <a:xfrm>
            <a:off x="548640" y="4709160"/>
            <a:ext cx="5394960" cy="1371600"/>
          </a:xfrm>
          <a:prstGeom prst="roundRect">
            <a:avLst>
              <a:gd name="adj" fmla="val 8000"/>
            </a:avLst>
          </a:prstGeom>
          <a:solidFill>
            <a:schemeClr val="bg2"/>
          </a:solidFill>
          <a:ln/>
        </p:spPr>
      </p:sp>
      <p:sp>
        <p:nvSpPr>
          <p:cNvPr id="24" name="icon-circle"/>
          <p:cNvSpPr/>
          <p:nvPr/>
        </p:nvSpPr>
        <p:spPr>
          <a:xfrm>
            <a:off x="822960" y="4983480"/>
            <a:ext cx="640080" cy="640080"/>
          </a:xfrm>
          <a:prstGeom prst="ellipse">
            <a:avLst/>
          </a:prstGeom>
          <a:solidFill>
            <a:schemeClr val="accent1"/>
          </a:solidFill>
          <a:ln/>
        </p:spPr>
      </p:sp>
      <p:pic>
        <p:nvPicPr>
          <p:cNvPr id="25" name="icon FaArrowRight" descr="preencoded.png">    </p:cNvPr>
          <p:cNvPicPr>
            <a:picLocks noChangeAspect="1"/>
          </p:cNvPicPr>
          <p:nvPr/>
        </p:nvPicPr>
        <p:blipFill>
          <a:blip r:embed="rId5"/>
          <a:stretch>
            <a:fillRect/>
          </a:stretch>
        </p:blipFill>
        <p:spPr>
          <a:xfrm>
            <a:off x="982980" y="5143500"/>
            <a:ext cx="320040" cy="320040"/>
          </a:xfrm>
          <a:prstGeom prst="rect">
            <a:avLst/>
          </a:prstGeom>
        </p:spPr>
      </p:pic>
      <p:sp>
        <p:nvSpPr>
          <p:cNvPr id="26" name="Text 19"/>
          <p:cNvSpPr txBox="1"/>
          <p:nvPr/>
        </p:nvSpPr>
        <p:spPr>
          <a:xfrm>
            <a:off x="1691640" y="4983480"/>
            <a:ext cx="3977640" cy="320040"/>
          </a:xfrm>
          <a:prstGeom prst="rect">
            <a:avLst/>
          </a:prstGeom>
          <a:noFill/>
          <a:ln/>
        </p:spPr>
        <p:txBody>
          <a:bodyPr wrap="square" lIns="0" tIns="0" rIns="0" bIns="0" rtlCol="0" anchor="t"/>
          <a:lstStyle/>
          <a:p>
            <a:pPr indent="0" marL="0">
              <a:buNone/>
            </a:pPr>
            <a:r>
              <a:rPr lang="en-US" sz="1600" b="1" dirty="0">
                <a:solidFill>
                  <a:schemeClr val="tx1"/>
                </a:solidFill>
              </a:rPr>
              <a:t>Single beat only</a:t>
            </a:r>
            <a:endParaRPr lang="en-US" sz="1600" dirty="0"/>
          </a:p>
        </p:txBody>
      </p:sp>
      <p:sp>
        <p:nvSpPr>
          <p:cNvPr id="27" name="Text 20"/>
          <p:cNvSpPr txBox="1"/>
          <p:nvPr/>
        </p:nvSpPr>
        <p:spPr>
          <a:xfrm>
            <a:off x="1691640" y="5349240"/>
            <a:ext cx="3977640" cy="914400"/>
          </a:xfrm>
          <a:prstGeom prst="rect">
            <a:avLst/>
          </a:prstGeom>
          <a:noFill/>
          <a:ln/>
        </p:spPr>
        <p:txBody>
          <a:bodyPr wrap="square" lIns="0" tIns="0" rIns="0" bIns="0" rtlCol="0" anchor="t"/>
          <a:lstStyle/>
          <a:p>
            <a:pPr indent="0" marL="0">
              <a:buNone/>
            </a:pPr>
            <a:r>
              <a:rPr lang="en-US" sz="1400" dirty="0">
                <a:solidFill>
                  <a:schemeClr val="accent4"/>
                </a:solidFill>
              </a:rPr>
              <a:t>AWLEN and ARLEN are not used, so bursts are not implemented.</a:t>
            </a:r>
            <a:endParaRPr lang="en-US" sz="1400" dirty="0"/>
          </a:p>
        </p:txBody>
      </p:sp>
      <p:sp>
        <p:nvSpPr>
          <p:cNvPr id="28" name="behaviour-card"/>
          <p:cNvSpPr/>
          <p:nvPr/>
        </p:nvSpPr>
        <p:spPr>
          <a:xfrm>
            <a:off x="6217920" y="4709160"/>
            <a:ext cx="5394960" cy="1371600"/>
          </a:xfrm>
          <a:prstGeom prst="roundRect">
            <a:avLst>
              <a:gd name="adj" fmla="val 8000"/>
            </a:avLst>
          </a:prstGeom>
          <a:solidFill>
            <a:schemeClr val="bg2"/>
          </a:solidFill>
          <a:ln/>
        </p:spPr>
      </p:sp>
      <p:sp>
        <p:nvSpPr>
          <p:cNvPr id="29" name="icon-circle"/>
          <p:cNvSpPr/>
          <p:nvPr/>
        </p:nvSpPr>
        <p:spPr>
          <a:xfrm>
            <a:off x="6492240" y="4983480"/>
            <a:ext cx="640080" cy="640080"/>
          </a:xfrm>
          <a:prstGeom prst="ellipse">
            <a:avLst/>
          </a:prstGeom>
          <a:solidFill>
            <a:schemeClr val="accent2"/>
          </a:solidFill>
          <a:ln/>
        </p:spPr>
      </p:sp>
      <p:pic>
        <p:nvPicPr>
          <p:cNvPr id="30" name="icon FaExclamationTriangle" descr="preencoded.png">    </p:cNvPr>
          <p:cNvPicPr>
            <a:picLocks noChangeAspect="1"/>
          </p:cNvPicPr>
          <p:nvPr/>
        </p:nvPicPr>
        <p:blipFill>
          <a:blip r:embed="rId6"/>
          <a:stretch>
            <a:fillRect/>
          </a:stretch>
        </p:blipFill>
        <p:spPr>
          <a:xfrm>
            <a:off x="6652260" y="5143500"/>
            <a:ext cx="320040" cy="320040"/>
          </a:xfrm>
          <a:prstGeom prst="rect">
            <a:avLst/>
          </a:prstGeom>
        </p:spPr>
      </p:pic>
      <p:sp>
        <p:nvSpPr>
          <p:cNvPr id="31" name="Text 23"/>
          <p:cNvSpPr txBox="1"/>
          <p:nvPr/>
        </p:nvSpPr>
        <p:spPr>
          <a:xfrm>
            <a:off x="7360920" y="4983480"/>
            <a:ext cx="3977640" cy="320040"/>
          </a:xfrm>
          <a:prstGeom prst="rect">
            <a:avLst/>
          </a:prstGeom>
          <a:noFill/>
          <a:ln/>
        </p:spPr>
        <p:txBody>
          <a:bodyPr wrap="square" lIns="0" tIns="0" rIns="0" bIns="0" rtlCol="0" anchor="t"/>
          <a:lstStyle/>
          <a:p>
            <a:pPr indent="0" marL="0">
              <a:buNone/>
            </a:pPr>
            <a:r>
              <a:rPr lang="en-US" sz="1600" b="1" dirty="0">
                <a:solidFill>
                  <a:schemeClr val="tx1"/>
                </a:solidFill>
              </a:rPr>
              <a:t>Latch in the FSM</a:t>
            </a:r>
            <a:endParaRPr lang="en-US" sz="1600" dirty="0"/>
          </a:p>
        </p:txBody>
      </p:sp>
      <p:sp>
        <p:nvSpPr>
          <p:cNvPr id="32" name="Text 24"/>
          <p:cNvSpPr txBox="1"/>
          <p:nvPr/>
        </p:nvSpPr>
        <p:spPr>
          <a:xfrm>
            <a:off x="7360920" y="5349240"/>
            <a:ext cx="3977640" cy="914400"/>
          </a:xfrm>
          <a:prstGeom prst="rect">
            <a:avLst/>
          </a:prstGeom>
          <a:noFill/>
          <a:ln/>
        </p:spPr>
        <p:txBody>
          <a:bodyPr wrap="square" lIns="0" tIns="0" rIns="0" bIns="0" rtlCol="0" anchor="t"/>
          <a:lstStyle/>
          <a:p>
            <a:pPr indent="0" marL="0">
              <a:buNone/>
            </a:pPr>
            <a:r>
              <a:rPr lang="en-US" sz="1400" dirty="0">
                <a:solidFill>
                  <a:schemeClr val="accent4"/>
                </a:solidFill>
              </a:rPr>
              <a:t>The always_comb block leaves NS unassigned in some branches.</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FSM: one transfer at a time</a:t>
            </a:r>
            <a:endParaRPr lang="en-US" sz="3400" dirty="0"/>
          </a:p>
        </p:txBody>
      </p:sp>
      <p:sp>
        <p:nvSpPr>
          <p:cNvPr id="3" name="lane"/>
          <p:cNvSpPr/>
          <p:nvPr/>
        </p:nvSpPr>
        <p:spPr>
          <a:xfrm>
            <a:off x="548640" y="1371600"/>
            <a:ext cx="11064240" cy="2240280"/>
          </a:xfrm>
          <a:prstGeom prst="roundRect">
            <a:avLst>
              <a:gd name="adj" fmla="val 4898"/>
            </a:avLst>
          </a:prstGeom>
          <a:solidFill>
            <a:schemeClr val="bg2"/>
          </a:solidFill>
          <a:ln/>
        </p:spPr>
      </p:sp>
      <p:sp>
        <p:nvSpPr>
          <p:cNvPr id="4" name="Text 2"/>
          <p:cNvSpPr txBox="1"/>
          <p:nvPr/>
        </p:nvSpPr>
        <p:spPr>
          <a:xfrm>
            <a:off x="822960" y="1554480"/>
            <a:ext cx="2743200" cy="365760"/>
          </a:xfrm>
          <a:prstGeom prst="rect">
            <a:avLst/>
          </a:prstGeom>
          <a:noFill/>
          <a:ln/>
        </p:spPr>
        <p:txBody>
          <a:bodyPr wrap="square" lIns="0" tIns="0" rIns="0" bIns="0" rtlCol="0" anchor="t"/>
          <a:lstStyle/>
          <a:p>
            <a:pPr indent="0" marL="0">
              <a:buNone/>
            </a:pPr>
            <a:r>
              <a:rPr lang="en-US" sz="1800" b="1" dirty="0">
                <a:solidFill>
                  <a:schemeClr val="accent1"/>
                </a:solidFill>
              </a:rPr>
              <a:t>Read path</a:t>
            </a:r>
            <a:endParaRPr lang="en-US" sz="1800" dirty="0"/>
          </a:p>
        </p:txBody>
      </p:sp>
      <p:sp>
        <p:nvSpPr>
          <p:cNvPr id="5" name="Text 3"/>
          <p:cNvSpPr txBox="1"/>
          <p:nvPr/>
        </p:nvSpPr>
        <p:spPr>
          <a:xfrm>
            <a:off x="6583680" y="1600200"/>
            <a:ext cx="4754880" cy="274320"/>
          </a:xfrm>
          <a:prstGeom prst="rect">
            <a:avLst/>
          </a:prstGeom>
          <a:noFill/>
          <a:ln/>
        </p:spPr>
        <p:txBody>
          <a:bodyPr wrap="square" lIns="0" tIns="0" rIns="0" bIns="0" rtlCol="0" anchor="t"/>
          <a:lstStyle/>
          <a:p>
            <a:pPr algn="r" indent="0" marL="0">
              <a:buNone/>
            </a:pPr>
            <a:r>
              <a:rPr lang="en-US" sz="1200" dirty="0">
                <a:solidFill>
                  <a:schemeClr val="accent4"/>
                </a:solidFill>
              </a:rPr>
              <a:t>Dashed state: visited only when PREADY is low</a:t>
            </a:r>
            <a:endParaRPr lang="en-US" sz="1200" dirty="0"/>
          </a:p>
        </p:txBody>
      </p:sp>
      <p:sp>
        <p:nvSpPr>
          <p:cNvPr id="6" name="state"/>
          <p:cNvSpPr txBox="1"/>
          <p:nvPr/>
        </p:nvSpPr>
        <p:spPr>
          <a:xfrm>
            <a:off x="822960" y="2011680"/>
            <a:ext cx="1828800" cy="731520"/>
          </a:xfrm>
          <a:prstGeom prst="roundRect">
            <a:avLst>
              <a:gd name="adj" fmla="val 12500"/>
            </a:avLst>
          </a:prstGeom>
          <a:solidFill>
            <a:schemeClr val="accent1"/>
          </a:solidFill>
          <a:ln/>
        </p:spPr>
        <p:txBody>
          <a:bodyPr wrap="square" lIns="635" tIns="635" rIns="635" bIns="635" rtlCol="0" anchor="ctr"/>
          <a:lstStyle/>
          <a:p>
            <a:pPr algn="ctr" indent="0" marL="0">
              <a:buNone/>
            </a:pPr>
            <a:r>
              <a:rPr lang="en-US" sz="1500" b="1" dirty="0">
                <a:solidFill>
                  <a:schemeClr val="bg1"/>
                </a:solidFill>
              </a:rPr>
              <a:t>IDLE</a:t>
            </a:r>
            <a:endParaRPr lang="en-US" sz="1500" dirty="0"/>
          </a:p>
        </p:txBody>
      </p:sp>
      <p:sp>
        <p:nvSpPr>
          <p:cNvPr id="7" name="Text 5"/>
          <p:cNvSpPr txBox="1"/>
          <p:nvPr/>
        </p:nvSpPr>
        <p:spPr>
          <a:xfrm>
            <a:off x="822960" y="288036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ARVALID wins and PENABLE rises</a:t>
            </a:r>
            <a:endParaRPr lang="en-US" sz="1400" dirty="0"/>
          </a:p>
        </p:txBody>
      </p:sp>
      <p:sp>
        <p:nvSpPr>
          <p:cNvPr id="8" name="arrow"/>
          <p:cNvSpPr/>
          <p:nvPr/>
        </p:nvSpPr>
        <p:spPr>
          <a:xfrm>
            <a:off x="2651760" y="2377440"/>
            <a:ext cx="822960" cy="0"/>
          </a:xfrm>
          <a:prstGeom prst="line">
            <a:avLst/>
          </a:prstGeom>
          <a:noFill/>
          <a:ln w="19050">
            <a:solidFill>
              <a:schemeClr val="accent4"/>
            </a:solidFill>
            <a:prstDash val="solid"/>
            <a:tailEnd type="triangle"/>
          </a:ln>
        </p:spPr>
      </p:sp>
      <p:sp>
        <p:nvSpPr>
          <p:cNvPr id="9" name="state-optional"/>
          <p:cNvSpPr txBox="1"/>
          <p:nvPr/>
        </p:nvSpPr>
        <p:spPr>
          <a:xfrm>
            <a:off x="3474720" y="2011680"/>
            <a:ext cx="1828800" cy="731520"/>
          </a:xfrm>
          <a:prstGeom prst="roundRect">
            <a:avLst>
              <a:gd name="adj" fmla="val 12500"/>
            </a:avLst>
          </a:prstGeom>
          <a:solidFill>
            <a:schemeClr val="bg1"/>
          </a:solidFill>
          <a:ln w="19050">
            <a:solidFill>
              <a:schemeClr val="accent1"/>
            </a:solidFill>
            <a:prstDash val="dash"/>
          </a:ln>
        </p:spPr>
        <p:txBody>
          <a:bodyPr wrap="square" lIns="635" tIns="635" rIns="635" bIns="635" rtlCol="0" anchor="ctr"/>
          <a:lstStyle/>
          <a:p>
            <a:pPr algn="ctr" indent="0" marL="0">
              <a:buNone/>
            </a:pPr>
            <a:r>
              <a:rPr lang="en-US" sz="1500" b="1" dirty="0">
                <a:solidFill>
                  <a:schemeClr val="accent1"/>
                </a:solidFill>
              </a:rPr>
              <a:t>WAIT_R_PREADY</a:t>
            </a:r>
            <a:endParaRPr lang="en-US" sz="1500" dirty="0"/>
          </a:p>
        </p:txBody>
      </p:sp>
      <p:sp>
        <p:nvSpPr>
          <p:cNvPr id="10" name="Text 8"/>
          <p:cNvSpPr txBox="1"/>
          <p:nvPr/>
        </p:nvSpPr>
        <p:spPr>
          <a:xfrm>
            <a:off x="3474720" y="288036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Only when PREADY is low</a:t>
            </a:r>
            <a:endParaRPr lang="en-US" sz="1400" dirty="0"/>
          </a:p>
        </p:txBody>
      </p:sp>
      <p:sp>
        <p:nvSpPr>
          <p:cNvPr id="11" name="arrow"/>
          <p:cNvSpPr/>
          <p:nvPr/>
        </p:nvSpPr>
        <p:spPr>
          <a:xfrm>
            <a:off x="5303520" y="2377440"/>
            <a:ext cx="822960" cy="0"/>
          </a:xfrm>
          <a:prstGeom prst="line">
            <a:avLst/>
          </a:prstGeom>
          <a:noFill/>
          <a:ln w="19050">
            <a:solidFill>
              <a:schemeClr val="accent4"/>
            </a:solidFill>
            <a:prstDash val="solid"/>
            <a:tailEnd type="triangle"/>
          </a:ln>
        </p:spPr>
      </p:sp>
      <p:sp>
        <p:nvSpPr>
          <p:cNvPr id="12" name="state"/>
          <p:cNvSpPr txBox="1"/>
          <p:nvPr/>
        </p:nvSpPr>
        <p:spPr>
          <a:xfrm>
            <a:off x="6126480" y="2011680"/>
            <a:ext cx="1828800" cy="731520"/>
          </a:xfrm>
          <a:prstGeom prst="roundRect">
            <a:avLst>
              <a:gd name="adj" fmla="val 12500"/>
            </a:avLst>
          </a:prstGeom>
          <a:solidFill>
            <a:schemeClr val="accent1"/>
          </a:solidFill>
          <a:ln/>
        </p:spPr>
        <p:txBody>
          <a:bodyPr wrap="square" lIns="635" tIns="635" rIns="635" bIns="635" rtlCol="0" anchor="ctr"/>
          <a:lstStyle/>
          <a:p>
            <a:pPr algn="ctr" indent="0" marL="0">
              <a:buNone/>
            </a:pPr>
            <a:r>
              <a:rPr lang="en-US" sz="1500" b="1" dirty="0">
                <a:solidFill>
                  <a:schemeClr val="bg1"/>
                </a:solidFill>
              </a:rPr>
              <a:t>DONE_SINGLE_RD</a:t>
            </a:r>
            <a:endParaRPr lang="en-US" sz="1500" dirty="0"/>
          </a:p>
        </p:txBody>
      </p:sp>
      <p:sp>
        <p:nvSpPr>
          <p:cNvPr id="13" name="Text 11"/>
          <p:cNvSpPr txBox="1"/>
          <p:nvPr/>
        </p:nvSpPr>
        <p:spPr>
          <a:xfrm>
            <a:off x="6126480" y="288036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RVALID into the R buffer</a:t>
            </a:r>
            <a:endParaRPr lang="en-US" sz="1400" dirty="0"/>
          </a:p>
        </p:txBody>
      </p:sp>
      <p:sp>
        <p:nvSpPr>
          <p:cNvPr id="14" name="arrow"/>
          <p:cNvSpPr/>
          <p:nvPr/>
        </p:nvSpPr>
        <p:spPr>
          <a:xfrm>
            <a:off x="7955280" y="2377440"/>
            <a:ext cx="822960" cy="0"/>
          </a:xfrm>
          <a:prstGeom prst="line">
            <a:avLst/>
          </a:prstGeom>
          <a:noFill/>
          <a:ln w="19050">
            <a:solidFill>
              <a:schemeClr val="accent4"/>
            </a:solidFill>
            <a:prstDash val="solid"/>
            <a:tailEnd type="triangle"/>
          </a:ln>
        </p:spPr>
      </p:sp>
      <p:sp>
        <p:nvSpPr>
          <p:cNvPr id="15" name="state"/>
          <p:cNvSpPr txBox="1"/>
          <p:nvPr/>
        </p:nvSpPr>
        <p:spPr>
          <a:xfrm>
            <a:off x="8778240" y="2011680"/>
            <a:ext cx="1828800" cy="731520"/>
          </a:xfrm>
          <a:prstGeom prst="roundRect">
            <a:avLst>
              <a:gd name="adj" fmla="val 12500"/>
            </a:avLst>
          </a:prstGeom>
          <a:solidFill>
            <a:schemeClr val="accent1"/>
          </a:solidFill>
          <a:ln/>
        </p:spPr>
        <p:txBody>
          <a:bodyPr wrap="square" lIns="635" tIns="635" rIns="635" bIns="635" rtlCol="0" anchor="ctr"/>
          <a:lstStyle/>
          <a:p>
            <a:pPr algn="ctr" indent="0" marL="0">
              <a:buNone/>
            </a:pPr>
            <a:r>
              <a:rPr lang="en-US" sz="1500" b="1" dirty="0">
                <a:solidFill>
                  <a:schemeClr val="bg1"/>
                </a:solidFill>
              </a:rPr>
              <a:t>IDLE</a:t>
            </a:r>
            <a:endParaRPr lang="en-US" sz="1500" dirty="0"/>
          </a:p>
        </p:txBody>
      </p:sp>
      <p:sp>
        <p:nvSpPr>
          <p:cNvPr id="16" name="Text 14"/>
          <p:cNvSpPr txBox="1"/>
          <p:nvPr/>
        </p:nvSpPr>
        <p:spPr>
          <a:xfrm>
            <a:off x="8778240" y="288036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Ready for the next request</a:t>
            </a:r>
            <a:endParaRPr lang="en-US" sz="1400" dirty="0"/>
          </a:p>
        </p:txBody>
      </p:sp>
      <p:sp>
        <p:nvSpPr>
          <p:cNvPr id="17" name="lane"/>
          <p:cNvSpPr/>
          <p:nvPr/>
        </p:nvSpPr>
        <p:spPr>
          <a:xfrm>
            <a:off x="548640" y="3840480"/>
            <a:ext cx="11064240" cy="2240280"/>
          </a:xfrm>
          <a:prstGeom prst="roundRect">
            <a:avLst>
              <a:gd name="adj" fmla="val 4898"/>
            </a:avLst>
          </a:prstGeom>
          <a:solidFill>
            <a:schemeClr val="bg2"/>
          </a:solidFill>
          <a:ln/>
        </p:spPr>
      </p:sp>
      <p:sp>
        <p:nvSpPr>
          <p:cNvPr id="18" name="Text 16"/>
          <p:cNvSpPr txBox="1"/>
          <p:nvPr/>
        </p:nvSpPr>
        <p:spPr>
          <a:xfrm>
            <a:off x="822960" y="4023360"/>
            <a:ext cx="2743200" cy="365760"/>
          </a:xfrm>
          <a:prstGeom prst="rect">
            <a:avLst/>
          </a:prstGeom>
          <a:noFill/>
          <a:ln/>
        </p:spPr>
        <p:txBody>
          <a:bodyPr wrap="square" lIns="0" tIns="0" rIns="0" bIns="0" rtlCol="0" anchor="t"/>
          <a:lstStyle/>
          <a:p>
            <a:pPr indent="0" marL="0">
              <a:buNone/>
            </a:pPr>
            <a:r>
              <a:rPr lang="en-US" sz="1800" b="1" dirty="0">
                <a:solidFill>
                  <a:schemeClr val="accent2"/>
                </a:solidFill>
              </a:rPr>
              <a:t>Write path</a:t>
            </a:r>
            <a:endParaRPr lang="en-US" sz="1800" dirty="0"/>
          </a:p>
        </p:txBody>
      </p:sp>
      <p:sp>
        <p:nvSpPr>
          <p:cNvPr id="19" name="state"/>
          <p:cNvSpPr txBox="1"/>
          <p:nvPr/>
        </p:nvSpPr>
        <p:spPr>
          <a:xfrm>
            <a:off x="822960" y="4480560"/>
            <a:ext cx="1828800" cy="731520"/>
          </a:xfrm>
          <a:prstGeom prst="roundRect">
            <a:avLst>
              <a:gd name="adj" fmla="val 12500"/>
            </a:avLst>
          </a:prstGeom>
          <a:solidFill>
            <a:schemeClr val="accent2"/>
          </a:solidFill>
          <a:ln/>
        </p:spPr>
        <p:txBody>
          <a:bodyPr wrap="square" lIns="635" tIns="635" rIns="635" bIns="635" rtlCol="0" anchor="ctr"/>
          <a:lstStyle/>
          <a:p>
            <a:pPr algn="ctr" indent="0" marL="0">
              <a:buNone/>
            </a:pPr>
            <a:r>
              <a:rPr lang="en-US" sz="1500" b="1" dirty="0">
                <a:solidFill>
                  <a:schemeClr val="bg1"/>
                </a:solidFill>
              </a:rPr>
              <a:t>IDLE</a:t>
            </a:r>
            <a:endParaRPr lang="en-US" sz="1500" dirty="0"/>
          </a:p>
        </p:txBody>
      </p:sp>
      <p:sp>
        <p:nvSpPr>
          <p:cNvPr id="20" name="Text 18"/>
          <p:cNvSpPr txBox="1"/>
          <p:nvPr/>
        </p:nvSpPr>
        <p:spPr>
          <a:xfrm>
            <a:off x="822960" y="534924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Needs AWVALID and WVALID</a:t>
            </a:r>
            <a:endParaRPr lang="en-US" sz="1400" dirty="0"/>
          </a:p>
        </p:txBody>
      </p:sp>
      <p:sp>
        <p:nvSpPr>
          <p:cNvPr id="21" name="arrow"/>
          <p:cNvSpPr/>
          <p:nvPr/>
        </p:nvSpPr>
        <p:spPr>
          <a:xfrm>
            <a:off x="2651760" y="4846320"/>
            <a:ext cx="822960" cy="0"/>
          </a:xfrm>
          <a:prstGeom prst="line">
            <a:avLst/>
          </a:prstGeom>
          <a:noFill/>
          <a:ln w="19050">
            <a:solidFill>
              <a:schemeClr val="accent4"/>
            </a:solidFill>
            <a:prstDash val="solid"/>
            <a:tailEnd type="triangle"/>
          </a:ln>
        </p:spPr>
      </p:sp>
      <p:sp>
        <p:nvSpPr>
          <p:cNvPr id="22" name="state-optional"/>
          <p:cNvSpPr txBox="1"/>
          <p:nvPr/>
        </p:nvSpPr>
        <p:spPr>
          <a:xfrm>
            <a:off x="3474720" y="4480560"/>
            <a:ext cx="1828800" cy="731520"/>
          </a:xfrm>
          <a:prstGeom prst="roundRect">
            <a:avLst>
              <a:gd name="adj" fmla="val 12500"/>
            </a:avLst>
          </a:prstGeom>
          <a:solidFill>
            <a:schemeClr val="bg1"/>
          </a:solidFill>
          <a:ln w="19050">
            <a:solidFill>
              <a:schemeClr val="accent2"/>
            </a:solidFill>
            <a:prstDash val="dash"/>
          </a:ln>
        </p:spPr>
        <p:txBody>
          <a:bodyPr wrap="square" lIns="635" tIns="635" rIns="635" bIns="635" rtlCol="0" anchor="ctr"/>
          <a:lstStyle/>
          <a:p>
            <a:pPr algn="ctr" indent="0" marL="0">
              <a:buNone/>
            </a:pPr>
            <a:r>
              <a:rPr lang="en-US" sz="1500" b="1" dirty="0">
                <a:solidFill>
                  <a:schemeClr val="accent2"/>
                </a:solidFill>
              </a:rPr>
              <a:t>WAIT_W_PREADY</a:t>
            </a:r>
            <a:endParaRPr lang="en-US" sz="1500" dirty="0"/>
          </a:p>
        </p:txBody>
      </p:sp>
      <p:sp>
        <p:nvSpPr>
          <p:cNvPr id="23" name="Text 21"/>
          <p:cNvSpPr txBox="1"/>
          <p:nvPr/>
        </p:nvSpPr>
        <p:spPr>
          <a:xfrm>
            <a:off x="3474720" y="534924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Only when PREADY is low</a:t>
            </a:r>
            <a:endParaRPr lang="en-US" sz="1400" dirty="0"/>
          </a:p>
        </p:txBody>
      </p:sp>
      <p:sp>
        <p:nvSpPr>
          <p:cNvPr id="24" name="arrow"/>
          <p:cNvSpPr/>
          <p:nvPr/>
        </p:nvSpPr>
        <p:spPr>
          <a:xfrm>
            <a:off x="5303520" y="4846320"/>
            <a:ext cx="822960" cy="0"/>
          </a:xfrm>
          <a:prstGeom prst="line">
            <a:avLst/>
          </a:prstGeom>
          <a:noFill/>
          <a:ln w="19050">
            <a:solidFill>
              <a:schemeClr val="accent4"/>
            </a:solidFill>
            <a:prstDash val="solid"/>
            <a:tailEnd type="triangle"/>
          </a:ln>
        </p:spPr>
      </p:sp>
      <p:sp>
        <p:nvSpPr>
          <p:cNvPr id="25" name="state"/>
          <p:cNvSpPr txBox="1"/>
          <p:nvPr/>
        </p:nvSpPr>
        <p:spPr>
          <a:xfrm>
            <a:off x="6126480" y="4480560"/>
            <a:ext cx="1828800" cy="731520"/>
          </a:xfrm>
          <a:prstGeom prst="roundRect">
            <a:avLst>
              <a:gd name="adj" fmla="val 12500"/>
            </a:avLst>
          </a:prstGeom>
          <a:solidFill>
            <a:schemeClr val="accent2"/>
          </a:solidFill>
          <a:ln/>
        </p:spPr>
        <p:txBody>
          <a:bodyPr wrap="square" lIns="635" tIns="635" rIns="635" bIns="635" rtlCol="0" anchor="ctr"/>
          <a:lstStyle/>
          <a:p>
            <a:pPr algn="ctr" indent="0" marL="0">
              <a:buNone/>
            </a:pPr>
            <a:r>
              <a:rPr lang="en-US" sz="1500" b="1" dirty="0">
                <a:solidFill>
                  <a:schemeClr val="bg1"/>
                </a:solidFill>
              </a:rPr>
              <a:t>SEND_B_RESP</a:t>
            </a:r>
            <a:endParaRPr lang="en-US" sz="1500" dirty="0"/>
          </a:p>
        </p:txBody>
      </p:sp>
      <p:sp>
        <p:nvSpPr>
          <p:cNvPr id="26" name="Text 24"/>
          <p:cNvSpPr txBox="1"/>
          <p:nvPr/>
        </p:nvSpPr>
        <p:spPr>
          <a:xfrm>
            <a:off x="6126480" y="534924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BVALID into the B buffer</a:t>
            </a:r>
            <a:endParaRPr lang="en-US" sz="1400" dirty="0"/>
          </a:p>
        </p:txBody>
      </p:sp>
      <p:sp>
        <p:nvSpPr>
          <p:cNvPr id="27" name="arrow"/>
          <p:cNvSpPr/>
          <p:nvPr/>
        </p:nvSpPr>
        <p:spPr>
          <a:xfrm>
            <a:off x="7955280" y="4846320"/>
            <a:ext cx="822960" cy="0"/>
          </a:xfrm>
          <a:prstGeom prst="line">
            <a:avLst/>
          </a:prstGeom>
          <a:noFill/>
          <a:ln w="19050">
            <a:solidFill>
              <a:schemeClr val="accent4"/>
            </a:solidFill>
            <a:prstDash val="solid"/>
            <a:tailEnd type="triangle"/>
          </a:ln>
        </p:spPr>
      </p:sp>
      <p:sp>
        <p:nvSpPr>
          <p:cNvPr id="28" name="state"/>
          <p:cNvSpPr txBox="1"/>
          <p:nvPr/>
        </p:nvSpPr>
        <p:spPr>
          <a:xfrm>
            <a:off x="8778240" y="4480560"/>
            <a:ext cx="1828800" cy="731520"/>
          </a:xfrm>
          <a:prstGeom prst="roundRect">
            <a:avLst>
              <a:gd name="adj" fmla="val 12500"/>
            </a:avLst>
          </a:prstGeom>
          <a:solidFill>
            <a:schemeClr val="accent2"/>
          </a:solidFill>
          <a:ln/>
        </p:spPr>
        <p:txBody>
          <a:bodyPr wrap="square" lIns="635" tIns="635" rIns="635" bIns="635" rtlCol="0" anchor="ctr"/>
          <a:lstStyle/>
          <a:p>
            <a:pPr algn="ctr" indent="0" marL="0">
              <a:buNone/>
            </a:pPr>
            <a:r>
              <a:rPr lang="en-US" sz="1500" b="1" dirty="0">
                <a:solidFill>
                  <a:schemeClr val="bg1"/>
                </a:solidFill>
              </a:rPr>
              <a:t>IDLE</a:t>
            </a:r>
            <a:endParaRPr lang="en-US" sz="1500" dirty="0"/>
          </a:p>
        </p:txBody>
      </p:sp>
      <p:sp>
        <p:nvSpPr>
          <p:cNvPr id="29" name="Text 27"/>
          <p:cNvSpPr txBox="1"/>
          <p:nvPr/>
        </p:nvSpPr>
        <p:spPr>
          <a:xfrm>
            <a:off x="8778240" y="534924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Ready for the next request</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UVM environment architecture</a:t>
            </a:r>
            <a:endParaRPr lang="en-US" sz="3400" dirty="0"/>
          </a:p>
        </p:txBody>
      </p:sp>
      <p:sp>
        <p:nvSpPr>
          <p:cNvPr id="3" name="test-box"/>
          <p:cNvSpPr txBox="1"/>
          <p:nvPr/>
        </p:nvSpPr>
        <p:spPr>
          <a:xfrm>
            <a:off x="4480560" y="1325880"/>
            <a:ext cx="3200400" cy="548640"/>
          </a:xfrm>
          <a:prstGeom prst="roundRect">
            <a:avLst>
              <a:gd name="adj" fmla="val 16667"/>
            </a:avLst>
          </a:prstGeom>
          <a:solidFill>
            <a:schemeClr val="tx1"/>
          </a:solidFill>
          <a:ln/>
        </p:spPr>
        <p:txBody>
          <a:bodyPr wrap="square" lIns="635" tIns="635" rIns="635" bIns="635" rtlCol="0" anchor="ctr"/>
          <a:lstStyle/>
          <a:p>
            <a:pPr algn="ctr" indent="0" marL="0">
              <a:buNone/>
            </a:pPr>
            <a:r>
              <a:rPr lang="en-US" sz="1500" b="1" dirty="0">
                <a:solidFill>
                  <a:schemeClr val="bg1"/>
                </a:solidFill>
              </a:rPr>
              <a:t>Test + virtual sequence</a:t>
            </a:r>
            <a:endParaRPr lang="en-US" sz="1500" dirty="0"/>
          </a:p>
        </p:txBody>
      </p:sp>
      <p:sp>
        <p:nvSpPr>
          <p:cNvPr id="4" name="connector"/>
          <p:cNvSpPr/>
          <p:nvPr/>
        </p:nvSpPr>
        <p:spPr>
          <a:xfrm>
            <a:off x="2331720" y="1600200"/>
            <a:ext cx="2148840" cy="0"/>
          </a:xfrm>
          <a:prstGeom prst="line">
            <a:avLst/>
          </a:prstGeom>
          <a:noFill/>
          <a:ln w="19050">
            <a:solidFill>
              <a:schemeClr val="accent4"/>
            </a:solidFill>
            <a:prstDash val="solid"/>
          </a:ln>
        </p:spPr>
      </p:sp>
      <p:sp>
        <p:nvSpPr>
          <p:cNvPr id="5" name="arrow"/>
          <p:cNvSpPr/>
          <p:nvPr/>
        </p:nvSpPr>
        <p:spPr>
          <a:xfrm>
            <a:off x="2331720" y="1600200"/>
            <a:ext cx="0" cy="777240"/>
          </a:xfrm>
          <a:prstGeom prst="line">
            <a:avLst/>
          </a:prstGeom>
          <a:noFill/>
          <a:ln w="19050">
            <a:solidFill>
              <a:schemeClr val="accent4"/>
            </a:solidFill>
            <a:prstDash val="solid"/>
            <a:tailEnd type="triangle"/>
          </a:ln>
        </p:spPr>
      </p:sp>
      <p:sp>
        <p:nvSpPr>
          <p:cNvPr id="6" name="connector"/>
          <p:cNvSpPr/>
          <p:nvPr/>
        </p:nvSpPr>
        <p:spPr>
          <a:xfrm>
            <a:off x="7680960" y="1600200"/>
            <a:ext cx="2148840" cy="0"/>
          </a:xfrm>
          <a:prstGeom prst="line">
            <a:avLst/>
          </a:prstGeom>
          <a:noFill/>
          <a:ln w="19050">
            <a:solidFill>
              <a:schemeClr val="accent4"/>
            </a:solidFill>
            <a:prstDash val="solid"/>
          </a:ln>
        </p:spPr>
      </p:sp>
      <p:sp>
        <p:nvSpPr>
          <p:cNvPr id="7" name="arrow"/>
          <p:cNvSpPr/>
          <p:nvPr/>
        </p:nvSpPr>
        <p:spPr>
          <a:xfrm>
            <a:off x="9829800" y="1600200"/>
            <a:ext cx="0" cy="777240"/>
          </a:xfrm>
          <a:prstGeom prst="line">
            <a:avLst/>
          </a:prstGeom>
          <a:noFill/>
          <a:ln w="19050">
            <a:solidFill>
              <a:schemeClr val="accent4"/>
            </a:solidFill>
            <a:prstDash val="solid"/>
            <a:tailEnd type="triangle"/>
          </a:ln>
        </p:spPr>
      </p:sp>
      <p:sp>
        <p:nvSpPr>
          <p:cNvPr id="8" name="env-box"/>
          <p:cNvSpPr/>
          <p:nvPr/>
        </p:nvSpPr>
        <p:spPr>
          <a:xfrm>
            <a:off x="548640" y="2103120"/>
            <a:ext cx="11064240" cy="4023360"/>
          </a:xfrm>
          <a:prstGeom prst="roundRect">
            <a:avLst>
              <a:gd name="adj" fmla="val 2727"/>
            </a:avLst>
          </a:prstGeom>
          <a:solidFill>
            <a:schemeClr val="bg2"/>
          </a:solidFill>
          <a:ln/>
        </p:spPr>
      </p:sp>
      <p:sp>
        <p:nvSpPr>
          <p:cNvPr id="9" name="Text 7"/>
          <p:cNvSpPr txBox="1"/>
          <p:nvPr/>
        </p:nvSpPr>
        <p:spPr>
          <a:xfrm>
            <a:off x="822960" y="2176272"/>
            <a:ext cx="2743200" cy="228600"/>
          </a:xfrm>
          <a:prstGeom prst="rect">
            <a:avLst/>
          </a:prstGeom>
          <a:noFill/>
          <a:ln/>
        </p:spPr>
        <p:txBody>
          <a:bodyPr wrap="square" lIns="0" tIns="0" rIns="0" bIns="0" rtlCol="0" anchor="t"/>
          <a:lstStyle/>
          <a:p>
            <a:pPr indent="0" marL="0">
              <a:buNone/>
            </a:pPr>
            <a:r>
              <a:rPr lang="en-US" sz="1200" dirty="0">
                <a:solidFill>
                  <a:schemeClr val="accent4"/>
                </a:solidFill>
              </a:rPr>
              <a:t>UVM environment</a:t>
            </a:r>
            <a:endParaRPr lang="en-US" sz="1200" dirty="0"/>
          </a:p>
        </p:txBody>
      </p:sp>
      <p:sp>
        <p:nvSpPr>
          <p:cNvPr id="10" name="agent-card"/>
          <p:cNvSpPr/>
          <p:nvPr/>
        </p:nvSpPr>
        <p:spPr>
          <a:xfrm>
            <a:off x="822960" y="2468880"/>
            <a:ext cx="3017520" cy="1920240"/>
          </a:xfrm>
          <a:prstGeom prst="roundRect">
            <a:avLst>
              <a:gd name="adj" fmla="val 5714"/>
            </a:avLst>
          </a:prstGeom>
          <a:solidFill>
            <a:schemeClr val="bg1"/>
          </a:solidFill>
          <a:ln/>
        </p:spPr>
      </p:sp>
      <p:sp>
        <p:nvSpPr>
          <p:cNvPr id="11" name="Text 9"/>
          <p:cNvSpPr txBox="1"/>
          <p:nvPr/>
        </p:nvSpPr>
        <p:spPr>
          <a:xfrm>
            <a:off x="1051560" y="2606040"/>
            <a:ext cx="2651760" cy="365760"/>
          </a:xfrm>
          <a:prstGeom prst="rect">
            <a:avLst/>
          </a:prstGeom>
          <a:noFill/>
          <a:ln/>
        </p:spPr>
        <p:txBody>
          <a:bodyPr wrap="square" lIns="0" tIns="0" rIns="0" bIns="0" rtlCol="0" anchor="t"/>
          <a:lstStyle/>
          <a:p>
            <a:pPr indent="0" marL="0">
              <a:buNone/>
            </a:pPr>
            <a:r>
              <a:rPr lang="en-US" sz="1600" b="1" dirty="0">
                <a:solidFill>
                  <a:schemeClr val="accent1"/>
                </a:solidFill>
              </a:rPr>
              <a:t>AXI master agent</a:t>
            </a:r>
            <a:endParaRPr lang="en-US" sz="1600" dirty="0"/>
          </a:p>
        </p:txBody>
      </p:sp>
      <p:sp>
        <p:nvSpPr>
          <p:cNvPr id="12" name="Text 10"/>
          <p:cNvSpPr txBox="1"/>
          <p:nvPr/>
        </p:nvSpPr>
        <p:spPr>
          <a:xfrm>
            <a:off x="1051560" y="3063240"/>
            <a:ext cx="265176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Sequencer</a:t>
            </a:r>
            <a:endParaRPr lang="en-US" sz="1400" dirty="0"/>
          </a:p>
          <a:p>
            <a:pPr marL="342900" indent="-342900">
              <a:spcAft>
                <a:spcPts val="400"/>
              </a:spcAft>
              <a:buSzPct val="100000"/>
              <a:buChar char="•"/>
            </a:pPr>
            <a:r>
              <a:rPr lang="en-US" sz="1400" dirty="0">
                <a:solidFill>
                  <a:schemeClr val="tx1"/>
                </a:solidFill>
              </a:rPr>
              <a:t>Driver with 5 channel engines</a:t>
            </a:r>
            <a:endParaRPr lang="en-US" sz="1400" dirty="0"/>
          </a:p>
          <a:p>
            <a:pPr marL="342900" indent="-342900">
              <a:spcAft>
                <a:spcPts val="400"/>
              </a:spcAft>
              <a:buSzPct val="100000"/>
              <a:buChar char="•"/>
            </a:pPr>
            <a:r>
              <a:rPr lang="en-US" sz="1400" dirty="0">
                <a:solidFill>
                  <a:schemeClr val="tx1"/>
                </a:solidFill>
              </a:rPr>
              <a:t>Monitor</a:t>
            </a:r>
            <a:endParaRPr lang="en-US" sz="1400" dirty="0"/>
          </a:p>
        </p:txBody>
      </p:sp>
      <p:sp>
        <p:nvSpPr>
          <p:cNvPr id="13" name="agent-card"/>
          <p:cNvSpPr/>
          <p:nvPr/>
        </p:nvSpPr>
        <p:spPr>
          <a:xfrm>
            <a:off x="8321040" y="2468880"/>
            <a:ext cx="3017520" cy="1920240"/>
          </a:xfrm>
          <a:prstGeom prst="roundRect">
            <a:avLst>
              <a:gd name="adj" fmla="val 5714"/>
            </a:avLst>
          </a:prstGeom>
          <a:solidFill>
            <a:schemeClr val="bg1"/>
          </a:solidFill>
          <a:ln/>
        </p:spPr>
      </p:sp>
      <p:sp>
        <p:nvSpPr>
          <p:cNvPr id="14" name="Text 12"/>
          <p:cNvSpPr txBox="1"/>
          <p:nvPr/>
        </p:nvSpPr>
        <p:spPr>
          <a:xfrm>
            <a:off x="8549640" y="2606040"/>
            <a:ext cx="2651760" cy="365760"/>
          </a:xfrm>
          <a:prstGeom prst="rect">
            <a:avLst/>
          </a:prstGeom>
          <a:noFill/>
          <a:ln/>
        </p:spPr>
        <p:txBody>
          <a:bodyPr wrap="square" lIns="0" tIns="0" rIns="0" bIns="0" rtlCol="0" anchor="t"/>
          <a:lstStyle/>
          <a:p>
            <a:pPr indent="0" marL="0">
              <a:buNone/>
            </a:pPr>
            <a:r>
              <a:rPr lang="en-US" sz="1600" b="1" dirty="0">
                <a:solidFill>
                  <a:schemeClr val="accent2"/>
                </a:solidFill>
              </a:rPr>
              <a:t>APB slave agent</a:t>
            </a:r>
            <a:endParaRPr lang="en-US" sz="1600" dirty="0"/>
          </a:p>
        </p:txBody>
      </p:sp>
      <p:sp>
        <p:nvSpPr>
          <p:cNvPr id="15" name="Text 13"/>
          <p:cNvSpPr txBox="1"/>
          <p:nvPr/>
        </p:nvSpPr>
        <p:spPr>
          <a:xfrm>
            <a:off x="8549640" y="3063240"/>
            <a:ext cx="265176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Sequencer for responses</a:t>
            </a:r>
            <a:endParaRPr lang="en-US" sz="1400" dirty="0"/>
          </a:p>
          <a:p>
            <a:pPr marL="342900" indent="-342900">
              <a:spcAft>
                <a:spcPts val="400"/>
              </a:spcAft>
              <a:buSzPct val="100000"/>
              <a:buChar char="•"/>
            </a:pPr>
            <a:r>
              <a:rPr lang="en-US" sz="1400" dirty="0">
                <a:solidFill>
                  <a:schemeClr val="tx1"/>
                </a:solidFill>
              </a:rPr>
              <a:t>Reactive driver</a:t>
            </a:r>
            <a:endParaRPr lang="en-US" sz="1400" dirty="0"/>
          </a:p>
          <a:p>
            <a:pPr marL="342900" indent="-342900">
              <a:spcAft>
                <a:spcPts val="400"/>
              </a:spcAft>
              <a:buSzPct val="100000"/>
              <a:buChar char="•"/>
            </a:pPr>
            <a:r>
              <a:rPr lang="en-US" sz="1400" dirty="0">
                <a:solidFill>
                  <a:schemeClr val="tx1"/>
                </a:solidFill>
              </a:rPr>
              <a:t>Monitor</a:t>
            </a:r>
            <a:endParaRPr lang="en-US" sz="1400" dirty="0"/>
          </a:p>
        </p:txBody>
      </p:sp>
      <p:sp>
        <p:nvSpPr>
          <p:cNvPr id="16" name="env-dut"/>
          <p:cNvSpPr txBox="1"/>
          <p:nvPr/>
        </p:nvSpPr>
        <p:spPr>
          <a:xfrm>
            <a:off x="4572000" y="2743200"/>
            <a:ext cx="3017520" cy="1188720"/>
          </a:xfrm>
          <a:prstGeom prst="roundRect">
            <a:avLst>
              <a:gd name="adj" fmla="val 7692"/>
            </a:avLst>
          </a:prstGeom>
          <a:solidFill>
            <a:schemeClr val="tx2"/>
          </a:solidFill>
          <a:ln/>
        </p:spPr>
        <p:txBody>
          <a:bodyPr wrap="square" lIns="635" tIns="635" rIns="635" bIns="635" rtlCol="0" anchor="ctr"/>
          <a:lstStyle/>
          <a:p>
            <a:pPr algn="ctr" indent="0" marL="0">
              <a:buNone/>
            </a:pPr>
            <a:r>
              <a:rPr lang="en-US" sz="1500" b="1" dirty="0">
                <a:solidFill>
                  <a:schemeClr val="bg1"/>
                </a:solidFill>
              </a:rPr>
              <a:t>DUT</a:t>
            </a:r>
            <a:endParaRPr lang="en-US" sz="1500" dirty="0"/>
          </a:p>
          <a:p>
            <a:pPr algn="ctr" indent="0" marL="0">
              <a:buNone/>
            </a:pPr>
            <a:r>
              <a:rPr lang="en-US" sz="1500" b="1" dirty="0">
                <a:solidFill>
                  <a:schemeClr val="bg1"/>
                </a:solidFill>
              </a:rPr>
              <a:t>axi2apb</a:t>
            </a:r>
            <a:endParaRPr lang="en-US" sz="1500" dirty="0"/>
          </a:p>
        </p:txBody>
      </p:sp>
      <p:sp>
        <p:nvSpPr>
          <p:cNvPr id="17" name="arrow"/>
          <p:cNvSpPr/>
          <p:nvPr/>
        </p:nvSpPr>
        <p:spPr>
          <a:xfrm>
            <a:off x="3840480" y="3337560"/>
            <a:ext cx="731520" cy="0"/>
          </a:xfrm>
          <a:prstGeom prst="line">
            <a:avLst/>
          </a:prstGeom>
          <a:noFill/>
          <a:ln w="19050">
            <a:solidFill>
              <a:schemeClr val="accent4"/>
            </a:solidFill>
            <a:prstDash val="solid"/>
            <a:headEnd type="triangle"/>
            <a:tailEnd type="triangle"/>
          </a:ln>
        </p:spPr>
      </p:sp>
      <p:sp>
        <p:nvSpPr>
          <p:cNvPr id="18" name="arrow"/>
          <p:cNvSpPr/>
          <p:nvPr/>
        </p:nvSpPr>
        <p:spPr>
          <a:xfrm>
            <a:off x="7589520" y="3337560"/>
            <a:ext cx="731520" cy="0"/>
          </a:xfrm>
          <a:prstGeom prst="line">
            <a:avLst/>
          </a:prstGeom>
          <a:noFill/>
          <a:ln w="19050">
            <a:solidFill>
              <a:schemeClr val="accent4"/>
            </a:solidFill>
            <a:prstDash val="solid"/>
            <a:headEnd type="triangle"/>
            <a:tailEnd type="triangle"/>
          </a:ln>
        </p:spPr>
      </p:sp>
      <p:sp>
        <p:nvSpPr>
          <p:cNvPr id="19" name="scoreboard-box"/>
          <p:cNvSpPr txBox="1"/>
          <p:nvPr/>
        </p:nvSpPr>
        <p:spPr>
          <a:xfrm>
            <a:off x="4206240" y="4526280"/>
            <a:ext cx="3749040" cy="640080"/>
          </a:xfrm>
          <a:prstGeom prst="roundRect">
            <a:avLst>
              <a:gd name="adj" fmla="val 14286"/>
            </a:avLst>
          </a:prstGeom>
          <a:solidFill>
            <a:schemeClr val="accent5"/>
          </a:solidFill>
          <a:ln/>
        </p:spPr>
        <p:txBody>
          <a:bodyPr wrap="square" lIns="635" tIns="635" rIns="635" bIns="635" rtlCol="0" anchor="ctr"/>
          <a:lstStyle/>
          <a:p>
            <a:pPr algn="ctr" indent="0" marL="0">
              <a:buNone/>
            </a:pPr>
            <a:r>
              <a:rPr lang="en-US" sz="1400" b="1" dirty="0">
                <a:solidFill>
                  <a:schemeClr val="bg1"/>
                </a:solidFill>
              </a:rPr>
              <a:t>Scoreboard: expected vs actual</a:t>
            </a:r>
            <a:endParaRPr lang="en-US" sz="1400" dirty="0"/>
          </a:p>
        </p:txBody>
      </p:sp>
      <p:sp>
        <p:nvSpPr>
          <p:cNvPr id="20" name="coverage-box"/>
          <p:cNvSpPr txBox="1"/>
          <p:nvPr/>
        </p:nvSpPr>
        <p:spPr>
          <a:xfrm>
            <a:off x="4206240" y="5349240"/>
            <a:ext cx="3749040" cy="594360"/>
          </a:xfrm>
          <a:prstGeom prst="roundRect">
            <a:avLst>
              <a:gd name="adj" fmla="val 15385"/>
            </a:avLst>
          </a:prstGeom>
          <a:solidFill>
            <a:schemeClr val="accent3"/>
          </a:solidFill>
          <a:ln/>
        </p:spPr>
        <p:txBody>
          <a:bodyPr wrap="square" lIns="635" tIns="635" rIns="635" bIns="635" rtlCol="0" anchor="ctr"/>
          <a:lstStyle/>
          <a:p>
            <a:pPr algn="ctr" indent="0" marL="0">
              <a:buNone/>
            </a:pPr>
            <a:r>
              <a:rPr lang="en-US" sz="1400" b="1" dirty="0">
                <a:solidFill>
                  <a:schemeClr val="tx1"/>
                </a:solidFill>
              </a:rPr>
              <a:t>Functional coverage</a:t>
            </a:r>
            <a:endParaRPr lang="en-US" sz="1400" dirty="0"/>
          </a:p>
        </p:txBody>
      </p:sp>
      <p:sp>
        <p:nvSpPr>
          <p:cNvPr id="21" name="arrow"/>
          <p:cNvSpPr/>
          <p:nvPr/>
        </p:nvSpPr>
        <p:spPr>
          <a:xfrm>
            <a:off x="3840480" y="4114800"/>
            <a:ext cx="365760" cy="731520"/>
          </a:xfrm>
          <a:prstGeom prst="line">
            <a:avLst/>
          </a:prstGeom>
          <a:noFill/>
          <a:ln w="19050">
            <a:solidFill>
              <a:schemeClr val="accent4"/>
            </a:solidFill>
            <a:prstDash val="solid"/>
            <a:tailEnd type="triangle"/>
          </a:ln>
        </p:spPr>
      </p:sp>
      <p:sp>
        <p:nvSpPr>
          <p:cNvPr id="22" name="arrow"/>
          <p:cNvSpPr/>
          <p:nvPr/>
        </p:nvSpPr>
        <p:spPr>
          <a:xfrm>
            <a:off x="8321040" y="4114800"/>
            <a:ext cx="-365760" cy="731520"/>
          </a:xfrm>
          <a:prstGeom prst="line">
            <a:avLst/>
          </a:prstGeom>
          <a:noFill/>
          <a:ln w="19050">
            <a:solidFill>
              <a:schemeClr val="accent4"/>
            </a:solidFill>
            <a:prstDash val="solid"/>
            <a:tailEnd type="triangle"/>
          </a:ln>
        </p:spPr>
      </p:sp>
      <p:sp>
        <p:nvSpPr>
          <p:cNvPr id="23" name="Text 21"/>
          <p:cNvSpPr txBox="1"/>
          <p:nvPr/>
        </p:nvSpPr>
        <p:spPr>
          <a:xfrm>
            <a:off x="822960" y="4754880"/>
            <a:ext cx="3017520" cy="457200"/>
          </a:xfrm>
          <a:prstGeom prst="rect">
            <a:avLst/>
          </a:prstGeom>
          <a:noFill/>
          <a:ln/>
        </p:spPr>
        <p:txBody>
          <a:bodyPr wrap="square" lIns="0" tIns="0" rIns="0" bIns="0" rtlCol="0" anchor="t"/>
          <a:lstStyle/>
          <a:p>
            <a:pPr indent="0" marL="0">
              <a:buNone/>
            </a:pPr>
            <a:r>
              <a:rPr lang="en-US" sz="1200" dirty="0">
                <a:solidFill>
                  <a:schemeClr val="accent4"/>
                </a:solidFill>
              </a:rPr>
              <a:t>Monitors feed both</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Project structure</a:t>
            </a:r>
            <a:endParaRPr lang="en-US" sz="3400" dirty="0"/>
          </a:p>
        </p:txBody>
      </p:sp>
      <p:sp>
        <p:nvSpPr>
          <p:cNvPr id="3" name="tree-card"/>
          <p:cNvSpPr/>
          <p:nvPr/>
        </p:nvSpPr>
        <p:spPr>
          <a:xfrm>
            <a:off x="548640" y="1371600"/>
            <a:ext cx="6035040" cy="4663440"/>
          </a:xfrm>
          <a:prstGeom prst="roundRect">
            <a:avLst>
              <a:gd name="adj" fmla="val 2353"/>
            </a:avLst>
          </a:prstGeom>
          <a:solidFill>
            <a:schemeClr val="tx1"/>
          </a:solidFill>
          <a:ln/>
        </p:spPr>
      </p:sp>
      <p:sp>
        <p:nvSpPr>
          <p:cNvPr id="4" name="Text 2"/>
          <p:cNvSpPr txBox="1"/>
          <p:nvPr/>
        </p:nvSpPr>
        <p:spPr>
          <a:xfrm>
            <a:off x="868680" y="1691640"/>
            <a:ext cx="5486400" cy="4023360"/>
          </a:xfrm>
          <a:prstGeom prst="rect">
            <a:avLst/>
          </a:prstGeom>
          <a:noFill/>
          <a:ln/>
        </p:spPr>
        <p:txBody>
          <a:bodyPr wrap="square" lIns="0" tIns="0" rIns="0" bIns="0" rtlCol="0" anchor="t"/>
          <a:lstStyle/>
          <a:p>
            <a:pPr indent="0" marL="0">
              <a:spcAft>
                <a:spcPts val="600"/>
              </a:spcAft>
              <a:buNone/>
            </a:pPr>
            <a:r>
              <a:rPr lang="en-US" sz="1400" dirty="0">
                <a:solidFill>
                  <a:schemeClr val="bg2"/>
                </a:solidFill>
                <a:latin typeface="Courier New" pitchFamily="34" charset="0"/>
                <a:ea typeface="Courier New" pitchFamily="34" charset="-122"/>
                <a:cs typeface="Courier New" pitchFamily="34" charset="-120"/>
              </a:rPr>
              <a:t>axi2apb_uvm/</a:t>
            </a:r>
            <a:endParaRPr lang="en-US" sz="1400" dirty="0"/>
          </a:p>
          <a:p>
            <a:pPr indent="0" marL="0">
              <a:spcAft>
                <a:spcPts val="600"/>
              </a:spcAft>
              <a:buNone/>
            </a:pPr>
            <a:r>
              <a:rPr lang="en-US" sz="1400" dirty="0">
                <a:solidFill>
                  <a:schemeClr val="bg2"/>
                </a:solidFill>
                <a:latin typeface="Courier New" pitchFamily="34" charset="0"/>
                <a:ea typeface="Courier New" pitchFamily="34" charset="-122"/>
                <a:cs typeface="Courier New" pitchFamily="34" charset="-120"/>
              </a:rPr>
              <a:t>|-- build.flist</a:t>
            </a:r>
            <a:endParaRPr lang="en-US" sz="1400" dirty="0"/>
          </a:p>
          <a:p>
            <a:pPr indent="0" marL="0">
              <a:spcAft>
                <a:spcPts val="600"/>
              </a:spcAft>
              <a:buNone/>
            </a:pPr>
            <a:r>
              <a:rPr lang="en-US" sz="1400" dirty="0">
                <a:solidFill>
                  <a:schemeClr val="bg2"/>
                </a:solidFill>
                <a:latin typeface="Courier New" pitchFamily="34" charset="0"/>
                <a:ea typeface="Courier New" pitchFamily="34" charset="-122"/>
                <a:cs typeface="Courier New" pitchFamily="34" charset="-120"/>
              </a:rPr>
              <a:t>|-- Makefile</a:t>
            </a:r>
            <a:endParaRPr lang="en-US" sz="1400" dirty="0"/>
          </a:p>
          <a:p>
            <a:pPr indent="0" marL="0">
              <a:spcAft>
                <a:spcPts val="600"/>
              </a:spcAft>
              <a:buNone/>
            </a:pPr>
            <a:r>
              <a:rPr lang="en-US" sz="1400" dirty="0">
                <a:solidFill>
                  <a:schemeClr val="bg2"/>
                </a:solidFill>
                <a:latin typeface="Courier New" pitchFamily="34" charset="0"/>
                <a:ea typeface="Courier New" pitchFamily="34" charset="-122"/>
                <a:cs typeface="Courier New" pitchFamily="34" charset="-120"/>
              </a:rPr>
              <a:t>|-- rtl/         DUT + fifo model</a:t>
            </a:r>
            <a:endParaRPr lang="en-US" sz="1400" dirty="0"/>
          </a:p>
          <a:p>
            <a:pPr indent="0" marL="0">
              <a:spcAft>
                <a:spcPts val="600"/>
              </a:spcAft>
              <a:buNone/>
            </a:pPr>
            <a:r>
              <a:rPr lang="en-US" sz="1400" dirty="0">
                <a:solidFill>
                  <a:schemeClr val="bg2"/>
                </a:solidFill>
                <a:latin typeface="Courier New" pitchFamily="34" charset="0"/>
                <a:ea typeface="Courier New" pitchFamily="34" charset="-122"/>
                <a:cs typeface="Courier New" pitchFamily="34" charset="-120"/>
              </a:rPr>
              <a:t>|-- tb/          interfaces, tb_top</a:t>
            </a:r>
            <a:endParaRPr lang="en-US" sz="1400" dirty="0"/>
          </a:p>
          <a:p>
            <a:pPr indent="0" marL="0">
              <a:spcAft>
                <a:spcPts val="600"/>
              </a:spcAft>
              <a:buNone/>
            </a:pPr>
            <a:r>
              <a:rPr lang="en-US" sz="1400" dirty="0">
                <a:solidFill>
                  <a:schemeClr val="bg2"/>
                </a:solidFill>
                <a:latin typeface="Courier New" pitchFamily="34" charset="0"/>
                <a:ea typeface="Courier New" pitchFamily="34" charset="-122"/>
                <a:cs typeface="Courier New" pitchFamily="34" charset="-120"/>
              </a:rPr>
              <a:t>|-- uvm/         agents, env, scoreboard,</a:t>
            </a:r>
            <a:endParaRPr lang="en-US" sz="1400" dirty="0"/>
          </a:p>
          <a:p>
            <a:pPr indent="0" marL="0">
              <a:spcAft>
                <a:spcPts val="600"/>
              </a:spcAft>
              <a:buNone/>
            </a:pPr>
            <a:r>
              <a:rPr lang="en-US" sz="1400" dirty="0">
                <a:solidFill>
                  <a:schemeClr val="bg2"/>
                </a:solidFill>
                <a:latin typeface="Courier New" pitchFamily="34" charset="0"/>
                <a:ea typeface="Courier New" pitchFamily="34" charset="-122"/>
                <a:cs typeface="Courier New" pitchFamily="34" charset="-120"/>
              </a:rPr>
              <a:t>|                coverage</a:t>
            </a:r>
            <a:endParaRPr lang="en-US" sz="1400" dirty="0"/>
          </a:p>
          <a:p>
            <a:pPr indent="0" marL="0">
              <a:spcAft>
                <a:spcPts val="600"/>
              </a:spcAft>
              <a:buNone/>
            </a:pPr>
            <a:r>
              <a:rPr lang="en-US" sz="1400" dirty="0">
                <a:solidFill>
                  <a:schemeClr val="bg2"/>
                </a:solidFill>
                <a:latin typeface="Courier New" pitchFamily="34" charset="0"/>
                <a:ea typeface="Courier New" pitchFamily="34" charset="-122"/>
                <a:cs typeface="Courier New" pitchFamily="34" charset="-120"/>
              </a:rPr>
              <a:t>|-- sequences/   AXI, APB, virtual</a:t>
            </a:r>
            <a:endParaRPr lang="en-US" sz="1400" dirty="0"/>
          </a:p>
          <a:p>
            <a:pPr indent="0" marL="0">
              <a:spcAft>
                <a:spcPts val="600"/>
              </a:spcAft>
              <a:buNone/>
            </a:pPr>
            <a:r>
              <a:rPr lang="en-US" sz="1400" dirty="0">
                <a:solidFill>
                  <a:schemeClr val="bg2"/>
                </a:solidFill>
                <a:latin typeface="Courier New" pitchFamily="34" charset="0"/>
                <a:ea typeface="Courier New" pitchFamily="34" charset="-122"/>
                <a:cs typeface="Courier New" pitchFamily="34" charset="-120"/>
              </a:rPr>
              <a:t>`-- tests/       14 directed tests</a:t>
            </a:r>
            <a:endParaRPr lang="en-US" sz="1400" dirty="0"/>
          </a:p>
        </p:txBody>
      </p:sp>
      <p:sp>
        <p:nvSpPr>
          <p:cNvPr id="5" name="icon-circle"/>
          <p:cNvSpPr/>
          <p:nvPr/>
        </p:nvSpPr>
        <p:spPr>
          <a:xfrm>
            <a:off x="6949440" y="1417320"/>
            <a:ext cx="640080" cy="640080"/>
          </a:xfrm>
          <a:prstGeom prst="ellipse">
            <a:avLst/>
          </a:prstGeom>
          <a:solidFill>
            <a:schemeClr val="accent1"/>
          </a:solidFill>
          <a:ln/>
        </p:spPr>
      </p:sp>
      <p:pic>
        <p:nvPicPr>
          <p:cNvPr id="6" name="icon FaFolderOpen" descr="preencoded.png">    </p:cNvPr>
          <p:cNvPicPr>
            <a:picLocks noChangeAspect="1"/>
          </p:cNvPicPr>
          <p:nvPr/>
        </p:nvPicPr>
        <p:blipFill>
          <a:blip r:embed="rId1"/>
          <a:stretch>
            <a:fillRect/>
          </a:stretch>
        </p:blipFill>
        <p:spPr>
          <a:xfrm>
            <a:off x="7109460" y="1577340"/>
            <a:ext cx="320040" cy="320040"/>
          </a:xfrm>
          <a:prstGeom prst="rect">
            <a:avLst/>
          </a:prstGeom>
        </p:spPr>
      </p:pic>
      <p:sp>
        <p:nvSpPr>
          <p:cNvPr id="7" name="Text 4"/>
          <p:cNvSpPr txBox="1"/>
          <p:nvPr/>
        </p:nvSpPr>
        <p:spPr>
          <a:xfrm>
            <a:off x="7818120" y="1417320"/>
            <a:ext cx="3794760" cy="320040"/>
          </a:xfrm>
          <a:prstGeom prst="rect">
            <a:avLst/>
          </a:prstGeom>
          <a:noFill/>
          <a:ln/>
        </p:spPr>
        <p:txBody>
          <a:bodyPr wrap="square" lIns="0" tIns="0" rIns="0" bIns="0" rtlCol="0" anchor="t"/>
          <a:lstStyle/>
          <a:p>
            <a:pPr indent="0" marL="0">
              <a:buNone/>
            </a:pPr>
            <a:r>
              <a:rPr lang="en-US" sz="1600" b="1" dirty="0">
                <a:solidFill>
                  <a:schemeClr val="tx1"/>
                </a:solidFill>
              </a:rPr>
              <a:t>One package</a:t>
            </a:r>
            <a:endParaRPr lang="en-US" sz="1600" dirty="0"/>
          </a:p>
        </p:txBody>
      </p:sp>
      <p:sp>
        <p:nvSpPr>
          <p:cNvPr id="8" name="Text 5"/>
          <p:cNvSpPr txBox="1"/>
          <p:nvPr/>
        </p:nvSpPr>
        <p:spPr>
          <a:xfrm>
            <a:off x="7818120" y="1783080"/>
            <a:ext cx="3794760" cy="914400"/>
          </a:xfrm>
          <a:prstGeom prst="rect">
            <a:avLst/>
          </a:prstGeom>
          <a:noFill/>
          <a:ln/>
        </p:spPr>
        <p:txBody>
          <a:bodyPr wrap="square" lIns="0" tIns="0" rIns="0" bIns="0" rtlCol="0" anchor="t"/>
          <a:lstStyle/>
          <a:p>
            <a:pPr indent="0" marL="0">
              <a:buNone/>
            </a:pPr>
            <a:r>
              <a:rPr lang="en-US" sz="1400" dirty="0">
                <a:solidFill>
                  <a:schemeClr val="accent4"/>
                </a:solidFill>
              </a:rPr>
              <a:t>All UVM classes live in axi2apb_pkg and are included in a fixed order.</a:t>
            </a:r>
            <a:endParaRPr lang="en-US" sz="1400" dirty="0"/>
          </a:p>
        </p:txBody>
      </p:sp>
      <p:sp>
        <p:nvSpPr>
          <p:cNvPr id="9" name="icon-circle"/>
          <p:cNvSpPr/>
          <p:nvPr/>
        </p:nvSpPr>
        <p:spPr>
          <a:xfrm>
            <a:off x="6949440" y="2971800"/>
            <a:ext cx="640080" cy="640080"/>
          </a:xfrm>
          <a:prstGeom prst="ellipse">
            <a:avLst/>
          </a:prstGeom>
          <a:solidFill>
            <a:schemeClr val="accent2"/>
          </a:solidFill>
          <a:ln/>
        </p:spPr>
      </p:sp>
      <p:pic>
        <p:nvPicPr>
          <p:cNvPr id="10" name="icon FaLayerGroup" descr="preencoded.png">    </p:cNvPr>
          <p:cNvPicPr>
            <a:picLocks noChangeAspect="1"/>
          </p:cNvPicPr>
          <p:nvPr/>
        </p:nvPicPr>
        <p:blipFill>
          <a:blip r:embed="rId2"/>
          <a:stretch>
            <a:fillRect/>
          </a:stretch>
        </p:blipFill>
        <p:spPr>
          <a:xfrm>
            <a:off x="7109460" y="3131820"/>
            <a:ext cx="320040" cy="320040"/>
          </a:xfrm>
          <a:prstGeom prst="rect">
            <a:avLst/>
          </a:prstGeom>
        </p:spPr>
      </p:pic>
      <p:sp>
        <p:nvSpPr>
          <p:cNvPr id="11" name="Text 7"/>
          <p:cNvSpPr txBox="1"/>
          <p:nvPr/>
        </p:nvSpPr>
        <p:spPr>
          <a:xfrm>
            <a:off x="7818120" y="2971800"/>
            <a:ext cx="3794760" cy="320040"/>
          </a:xfrm>
          <a:prstGeom prst="rect">
            <a:avLst/>
          </a:prstGeom>
          <a:noFill/>
          <a:ln/>
        </p:spPr>
        <p:txBody>
          <a:bodyPr wrap="square" lIns="0" tIns="0" rIns="0" bIns="0" rtlCol="0" anchor="t"/>
          <a:lstStyle/>
          <a:p>
            <a:pPr indent="0" marL="0">
              <a:buNone/>
            </a:pPr>
            <a:r>
              <a:rPr lang="en-US" sz="1600" b="1" dirty="0">
                <a:solidFill>
                  <a:schemeClr val="tx1"/>
                </a:solidFill>
              </a:rPr>
              <a:t>Plain interfaces</a:t>
            </a:r>
            <a:endParaRPr lang="en-US" sz="1600" dirty="0"/>
          </a:p>
        </p:txBody>
      </p:sp>
      <p:sp>
        <p:nvSpPr>
          <p:cNvPr id="12" name="Text 8"/>
          <p:cNvSpPr txBox="1"/>
          <p:nvPr/>
        </p:nvSpPr>
        <p:spPr>
          <a:xfrm>
            <a:off x="7818120" y="3337560"/>
            <a:ext cx="3794760" cy="914400"/>
          </a:xfrm>
          <a:prstGeom prst="rect">
            <a:avLst/>
          </a:prstGeom>
          <a:noFill/>
          <a:ln/>
        </p:spPr>
        <p:txBody>
          <a:bodyPr wrap="square" lIns="0" tIns="0" rIns="0" bIns="0" rtlCol="0" anchor="t"/>
          <a:lstStyle/>
          <a:p>
            <a:pPr indent="0" marL="0">
              <a:buNone/>
            </a:pPr>
            <a:r>
              <a:rPr lang="en-US" sz="1400" dirty="0">
                <a:solidFill>
                  <a:schemeClr val="accent4"/>
                </a:solidFill>
              </a:rPr>
              <a:t>axi_if and apb_if use no clocking blocks or modports. Drivers use the negedge and monitors the posedge.</a:t>
            </a:r>
            <a:endParaRPr lang="en-US" sz="1400" dirty="0"/>
          </a:p>
        </p:txBody>
      </p:sp>
      <p:sp>
        <p:nvSpPr>
          <p:cNvPr id="13" name="icon-circle"/>
          <p:cNvSpPr/>
          <p:nvPr/>
        </p:nvSpPr>
        <p:spPr>
          <a:xfrm>
            <a:off x="6949440" y="4526280"/>
            <a:ext cx="640080" cy="640080"/>
          </a:xfrm>
          <a:prstGeom prst="ellipse">
            <a:avLst/>
          </a:prstGeom>
          <a:solidFill>
            <a:schemeClr val="accent5"/>
          </a:solidFill>
          <a:ln/>
        </p:spPr>
      </p:sp>
      <p:pic>
        <p:nvPicPr>
          <p:cNvPr id="14" name="icon FaListUl" descr="preencoded.png">    </p:cNvPr>
          <p:cNvPicPr>
            <a:picLocks noChangeAspect="1"/>
          </p:cNvPicPr>
          <p:nvPr/>
        </p:nvPicPr>
        <p:blipFill>
          <a:blip r:embed="rId3"/>
          <a:stretch>
            <a:fillRect/>
          </a:stretch>
        </p:blipFill>
        <p:spPr>
          <a:xfrm>
            <a:off x="7109460" y="4686300"/>
            <a:ext cx="320040" cy="320040"/>
          </a:xfrm>
          <a:prstGeom prst="rect">
            <a:avLst/>
          </a:prstGeom>
        </p:spPr>
      </p:pic>
      <p:sp>
        <p:nvSpPr>
          <p:cNvPr id="15" name="Text 10"/>
          <p:cNvSpPr txBox="1"/>
          <p:nvPr/>
        </p:nvSpPr>
        <p:spPr>
          <a:xfrm>
            <a:off x="7818120" y="4526280"/>
            <a:ext cx="3794760" cy="320040"/>
          </a:xfrm>
          <a:prstGeom prst="rect">
            <a:avLst/>
          </a:prstGeom>
          <a:noFill/>
          <a:ln/>
        </p:spPr>
        <p:txBody>
          <a:bodyPr wrap="square" lIns="0" tIns="0" rIns="0" bIns="0" rtlCol="0" anchor="t"/>
          <a:lstStyle/>
          <a:p>
            <a:pPr indent="0" marL="0">
              <a:buNone/>
            </a:pPr>
            <a:r>
              <a:rPr lang="en-US" sz="1600" b="1" dirty="0">
                <a:solidFill>
                  <a:schemeClr val="tx1"/>
                </a:solidFill>
              </a:rPr>
              <a:t>One build list</a:t>
            </a:r>
            <a:endParaRPr lang="en-US" sz="1600" dirty="0"/>
          </a:p>
        </p:txBody>
      </p:sp>
      <p:sp>
        <p:nvSpPr>
          <p:cNvPr id="16" name="Text 11"/>
          <p:cNvSpPr txBox="1"/>
          <p:nvPr/>
        </p:nvSpPr>
        <p:spPr>
          <a:xfrm>
            <a:off x="7818120" y="4892040"/>
            <a:ext cx="3794760" cy="914400"/>
          </a:xfrm>
          <a:prstGeom prst="rect">
            <a:avLst/>
          </a:prstGeom>
          <a:noFill/>
          <a:ln/>
        </p:spPr>
        <p:txBody>
          <a:bodyPr wrap="square" lIns="0" tIns="0" rIns="0" bIns="0" rtlCol="0" anchor="t"/>
          <a:lstStyle/>
          <a:p>
            <a:pPr indent="0" marL="0">
              <a:buNone/>
            </a:pPr>
            <a:r>
              <a:rPr lang="en-US" sz="1400" dirty="0">
                <a:solidFill>
                  <a:schemeClr val="accent4"/>
                </a:solidFill>
              </a:rPr>
              <a:t>build.flist fixes the compile order: RTL, interfaces, package, then tb_top.</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AXI agent: the master driver</a:t>
            </a:r>
            <a:endParaRPr lang="en-US" sz="3400" dirty="0"/>
          </a:p>
        </p:txBody>
      </p:sp>
      <p:sp>
        <p:nvSpPr>
          <p:cNvPr id="3" name="sqr"/>
          <p:cNvSpPr txBox="1"/>
          <p:nvPr/>
        </p:nvSpPr>
        <p:spPr>
          <a:xfrm>
            <a:off x="548640" y="1463040"/>
            <a:ext cx="2103120" cy="822960"/>
          </a:xfrm>
          <a:prstGeom prst="roundRect">
            <a:avLst>
              <a:gd name="adj" fmla="val 11111"/>
            </a:avLst>
          </a:prstGeom>
          <a:solidFill>
            <a:schemeClr val="accent1"/>
          </a:solidFill>
          <a:ln/>
        </p:spPr>
        <p:txBody>
          <a:bodyPr wrap="square" lIns="635" tIns="635" rIns="635" bIns="635" rtlCol="0" anchor="ctr"/>
          <a:lstStyle/>
          <a:p>
            <a:pPr algn="ctr" indent="0" marL="0">
              <a:buNone/>
            </a:pPr>
            <a:r>
              <a:rPr lang="en-US" sz="1500" b="1" dirty="0">
                <a:solidFill>
                  <a:schemeClr val="bg1"/>
                </a:solidFill>
              </a:rPr>
              <a:t>axi_sequencer</a:t>
            </a:r>
            <a:endParaRPr lang="en-US" sz="1500" dirty="0"/>
          </a:p>
        </p:txBody>
      </p:sp>
      <p:sp>
        <p:nvSpPr>
          <p:cNvPr id="4" name="arrow"/>
          <p:cNvSpPr/>
          <p:nvPr/>
        </p:nvSpPr>
        <p:spPr>
          <a:xfrm>
            <a:off x="2651760" y="1874520"/>
            <a:ext cx="365760" cy="0"/>
          </a:xfrm>
          <a:prstGeom prst="line">
            <a:avLst/>
          </a:prstGeom>
          <a:noFill/>
          <a:ln w="19050">
            <a:solidFill>
              <a:schemeClr val="accent4"/>
            </a:solidFill>
            <a:prstDash val="solid"/>
            <a:tailEnd type="triangle"/>
          </a:ln>
        </p:spPr>
      </p:sp>
      <p:sp>
        <p:nvSpPr>
          <p:cNvPr id="5" name="drv"/>
          <p:cNvSpPr txBox="1"/>
          <p:nvPr/>
        </p:nvSpPr>
        <p:spPr>
          <a:xfrm>
            <a:off x="3017520" y="1463040"/>
            <a:ext cx="2286000" cy="822960"/>
          </a:xfrm>
          <a:prstGeom prst="roundRect">
            <a:avLst>
              <a:gd name="adj" fmla="val 11111"/>
            </a:avLst>
          </a:prstGeom>
          <a:solidFill>
            <a:schemeClr val="tx2"/>
          </a:solidFill>
          <a:ln/>
        </p:spPr>
        <p:txBody>
          <a:bodyPr wrap="square" lIns="635" tIns="635" rIns="635" bIns="635" rtlCol="0" anchor="ctr"/>
          <a:lstStyle/>
          <a:p>
            <a:pPr algn="ctr" indent="0" marL="0">
              <a:buNone/>
            </a:pPr>
            <a:r>
              <a:rPr lang="en-US" sz="1500" b="1" dirty="0">
                <a:solidFill>
                  <a:schemeClr val="bg1"/>
                </a:solidFill>
              </a:rPr>
              <a:t>axi_driver</a:t>
            </a:r>
            <a:endParaRPr lang="en-US" sz="1500" dirty="0"/>
          </a:p>
          <a:p>
            <a:pPr algn="ctr" indent="0" marL="0">
              <a:buNone/>
            </a:pPr>
            <a:r>
              <a:rPr lang="en-US" sz="1500" b="1" dirty="0">
                <a:solidFill>
                  <a:schemeClr val="bg1"/>
                </a:solidFill>
              </a:rPr>
              <a:t>dispatch</a:t>
            </a:r>
            <a:endParaRPr lang="en-US" sz="1500" dirty="0"/>
          </a:p>
        </p:txBody>
      </p:sp>
      <p:sp>
        <p:nvSpPr>
          <p:cNvPr id="6" name="arrow"/>
          <p:cNvSpPr/>
          <p:nvPr/>
        </p:nvSpPr>
        <p:spPr>
          <a:xfrm>
            <a:off x="5303520" y="1874520"/>
            <a:ext cx="548640" cy="0"/>
          </a:xfrm>
          <a:prstGeom prst="line">
            <a:avLst/>
          </a:prstGeom>
          <a:noFill/>
          <a:ln w="19050">
            <a:solidFill>
              <a:schemeClr val="accent4"/>
            </a:solidFill>
            <a:prstDash val="solid"/>
            <a:tailEnd type="triangle"/>
          </a:ln>
        </p:spPr>
      </p:sp>
      <p:sp>
        <p:nvSpPr>
          <p:cNvPr id="7" name="engines-card"/>
          <p:cNvSpPr/>
          <p:nvPr/>
        </p:nvSpPr>
        <p:spPr>
          <a:xfrm>
            <a:off x="5852160" y="1371600"/>
            <a:ext cx="5760720" cy="1371600"/>
          </a:xfrm>
          <a:prstGeom prst="roundRect">
            <a:avLst>
              <a:gd name="adj" fmla="val 8000"/>
            </a:avLst>
          </a:prstGeom>
          <a:solidFill>
            <a:schemeClr val="bg2"/>
          </a:solidFill>
          <a:ln/>
        </p:spPr>
      </p:sp>
      <p:sp>
        <p:nvSpPr>
          <p:cNvPr id="8" name="engine"/>
          <p:cNvSpPr txBox="1"/>
          <p:nvPr/>
        </p:nvSpPr>
        <p:spPr>
          <a:xfrm>
            <a:off x="6080760" y="1554480"/>
            <a:ext cx="914400" cy="548640"/>
          </a:xfrm>
          <a:prstGeom prst="roundRect">
            <a:avLst>
              <a:gd name="adj" fmla="val 16667"/>
            </a:avLst>
          </a:prstGeom>
          <a:solidFill>
            <a:schemeClr val="accent1"/>
          </a:solidFill>
          <a:ln/>
        </p:spPr>
        <p:txBody>
          <a:bodyPr wrap="square" lIns="635" tIns="635" rIns="635" bIns="635" rtlCol="0" anchor="ctr"/>
          <a:lstStyle/>
          <a:p>
            <a:pPr algn="ctr" indent="0" marL="0">
              <a:buNone/>
            </a:pPr>
            <a:r>
              <a:rPr lang="en-US" sz="1500" b="1" dirty="0">
                <a:solidFill>
                  <a:schemeClr val="bg1"/>
                </a:solidFill>
              </a:rPr>
              <a:t>AW</a:t>
            </a:r>
            <a:endParaRPr lang="en-US" sz="1500" dirty="0"/>
          </a:p>
        </p:txBody>
      </p:sp>
      <p:sp>
        <p:nvSpPr>
          <p:cNvPr id="9" name="engine"/>
          <p:cNvSpPr txBox="1"/>
          <p:nvPr/>
        </p:nvSpPr>
        <p:spPr>
          <a:xfrm>
            <a:off x="7132320" y="1554480"/>
            <a:ext cx="914400" cy="548640"/>
          </a:xfrm>
          <a:prstGeom prst="roundRect">
            <a:avLst>
              <a:gd name="adj" fmla="val 16667"/>
            </a:avLst>
          </a:prstGeom>
          <a:solidFill>
            <a:schemeClr val="accent1"/>
          </a:solidFill>
          <a:ln/>
        </p:spPr>
        <p:txBody>
          <a:bodyPr wrap="square" lIns="635" tIns="635" rIns="635" bIns="635" rtlCol="0" anchor="ctr"/>
          <a:lstStyle/>
          <a:p>
            <a:pPr algn="ctr" indent="0" marL="0">
              <a:buNone/>
            </a:pPr>
            <a:r>
              <a:rPr lang="en-US" sz="1500" b="1" dirty="0">
                <a:solidFill>
                  <a:schemeClr val="bg1"/>
                </a:solidFill>
              </a:rPr>
              <a:t>W</a:t>
            </a:r>
            <a:endParaRPr lang="en-US" sz="1500" dirty="0"/>
          </a:p>
        </p:txBody>
      </p:sp>
      <p:sp>
        <p:nvSpPr>
          <p:cNvPr id="10" name="engine"/>
          <p:cNvSpPr txBox="1"/>
          <p:nvPr/>
        </p:nvSpPr>
        <p:spPr>
          <a:xfrm>
            <a:off x="8183880" y="1554480"/>
            <a:ext cx="914400" cy="548640"/>
          </a:xfrm>
          <a:prstGeom prst="roundRect">
            <a:avLst>
              <a:gd name="adj" fmla="val 16667"/>
            </a:avLst>
          </a:prstGeom>
          <a:solidFill>
            <a:schemeClr val="accent1"/>
          </a:solidFill>
          <a:ln/>
        </p:spPr>
        <p:txBody>
          <a:bodyPr wrap="square" lIns="635" tIns="635" rIns="635" bIns="635" rtlCol="0" anchor="ctr"/>
          <a:lstStyle/>
          <a:p>
            <a:pPr algn="ctr" indent="0" marL="0">
              <a:buNone/>
            </a:pPr>
            <a:r>
              <a:rPr lang="en-US" sz="1500" b="1" dirty="0">
                <a:solidFill>
                  <a:schemeClr val="bg1"/>
                </a:solidFill>
              </a:rPr>
              <a:t>AR</a:t>
            </a:r>
            <a:endParaRPr lang="en-US" sz="1500" dirty="0"/>
          </a:p>
        </p:txBody>
      </p:sp>
      <p:sp>
        <p:nvSpPr>
          <p:cNvPr id="11" name="engine"/>
          <p:cNvSpPr txBox="1"/>
          <p:nvPr/>
        </p:nvSpPr>
        <p:spPr>
          <a:xfrm>
            <a:off x="9235440" y="1554480"/>
            <a:ext cx="914400" cy="548640"/>
          </a:xfrm>
          <a:prstGeom prst="roundRect">
            <a:avLst>
              <a:gd name="adj" fmla="val 16667"/>
            </a:avLst>
          </a:prstGeom>
          <a:solidFill>
            <a:schemeClr val="tx2"/>
          </a:solidFill>
          <a:ln/>
        </p:spPr>
        <p:txBody>
          <a:bodyPr wrap="square" lIns="635" tIns="635" rIns="635" bIns="635" rtlCol="0" anchor="ctr"/>
          <a:lstStyle/>
          <a:p>
            <a:pPr algn="ctr" indent="0" marL="0">
              <a:buNone/>
            </a:pPr>
            <a:r>
              <a:rPr lang="en-US" sz="1500" b="1" dirty="0">
                <a:solidFill>
                  <a:schemeClr val="bg1"/>
                </a:solidFill>
              </a:rPr>
              <a:t>B</a:t>
            </a:r>
            <a:endParaRPr lang="en-US" sz="1500" dirty="0"/>
          </a:p>
        </p:txBody>
      </p:sp>
      <p:sp>
        <p:nvSpPr>
          <p:cNvPr id="12" name="engine"/>
          <p:cNvSpPr txBox="1"/>
          <p:nvPr/>
        </p:nvSpPr>
        <p:spPr>
          <a:xfrm>
            <a:off x="10287000" y="1554480"/>
            <a:ext cx="914400" cy="548640"/>
          </a:xfrm>
          <a:prstGeom prst="roundRect">
            <a:avLst>
              <a:gd name="adj" fmla="val 16667"/>
            </a:avLst>
          </a:prstGeom>
          <a:solidFill>
            <a:schemeClr val="tx2"/>
          </a:solidFill>
          <a:ln/>
        </p:spPr>
        <p:txBody>
          <a:bodyPr wrap="square" lIns="635" tIns="635" rIns="635" bIns="635" rtlCol="0" anchor="ctr"/>
          <a:lstStyle/>
          <a:p>
            <a:pPr algn="ctr" indent="0" marL="0">
              <a:buNone/>
            </a:pPr>
            <a:r>
              <a:rPr lang="en-US" sz="1500" b="1" dirty="0">
                <a:solidFill>
                  <a:schemeClr val="bg1"/>
                </a:solidFill>
              </a:rPr>
              <a:t>R</a:t>
            </a:r>
            <a:endParaRPr lang="en-US" sz="1500" dirty="0"/>
          </a:p>
        </p:txBody>
      </p:sp>
      <p:sp>
        <p:nvSpPr>
          <p:cNvPr id="13" name="Text 11"/>
          <p:cNvSpPr txBox="1"/>
          <p:nvPr/>
        </p:nvSpPr>
        <p:spPr>
          <a:xfrm>
            <a:off x="6080760" y="2240280"/>
            <a:ext cx="3108960" cy="320040"/>
          </a:xfrm>
          <a:prstGeom prst="rect">
            <a:avLst/>
          </a:prstGeom>
          <a:noFill/>
          <a:ln/>
        </p:spPr>
        <p:txBody>
          <a:bodyPr wrap="square" lIns="0" tIns="0" rIns="0" bIns="0" rtlCol="0" anchor="t"/>
          <a:lstStyle/>
          <a:p>
            <a:pPr indent="0" marL="0">
              <a:buNone/>
            </a:pPr>
            <a:r>
              <a:rPr lang="en-US" sz="1200" dirty="0">
                <a:solidFill>
                  <a:schemeClr val="accent4"/>
                </a:solidFill>
              </a:rPr>
              <a:t>drive requests</a:t>
            </a:r>
            <a:endParaRPr lang="en-US" sz="1200" dirty="0"/>
          </a:p>
        </p:txBody>
      </p:sp>
      <p:sp>
        <p:nvSpPr>
          <p:cNvPr id="14" name="Text 12"/>
          <p:cNvSpPr txBox="1"/>
          <p:nvPr/>
        </p:nvSpPr>
        <p:spPr>
          <a:xfrm>
            <a:off x="9235440" y="2240280"/>
            <a:ext cx="2194560" cy="320040"/>
          </a:xfrm>
          <a:prstGeom prst="rect">
            <a:avLst/>
          </a:prstGeom>
          <a:noFill/>
          <a:ln/>
        </p:spPr>
        <p:txBody>
          <a:bodyPr wrap="square" lIns="0" tIns="0" rIns="0" bIns="0" rtlCol="0" anchor="t"/>
          <a:lstStyle/>
          <a:p>
            <a:pPr indent="0" marL="0">
              <a:buNone/>
            </a:pPr>
            <a:r>
              <a:rPr lang="en-US" sz="1200" dirty="0">
                <a:solidFill>
                  <a:schemeClr val="accent4"/>
                </a:solidFill>
              </a:rPr>
              <a:t>collect responses</a:t>
            </a:r>
            <a:endParaRPr lang="en-US" sz="1200" dirty="0"/>
          </a:p>
        </p:txBody>
      </p:sp>
      <p:sp>
        <p:nvSpPr>
          <p:cNvPr id="15" name="principle-card"/>
          <p:cNvSpPr/>
          <p:nvPr/>
        </p:nvSpPr>
        <p:spPr>
          <a:xfrm>
            <a:off x="548640" y="3154680"/>
            <a:ext cx="3566160" cy="2926080"/>
          </a:xfrm>
          <a:prstGeom prst="roundRect">
            <a:avLst>
              <a:gd name="adj" fmla="val 3750"/>
            </a:avLst>
          </a:prstGeom>
          <a:solidFill>
            <a:schemeClr val="bg2"/>
          </a:solidFill>
          <a:ln/>
        </p:spPr>
      </p:sp>
      <p:sp>
        <p:nvSpPr>
          <p:cNvPr id="16" name="icon-circle"/>
          <p:cNvSpPr/>
          <p:nvPr/>
        </p:nvSpPr>
        <p:spPr>
          <a:xfrm>
            <a:off x="822960" y="3429000"/>
            <a:ext cx="640080" cy="640080"/>
          </a:xfrm>
          <a:prstGeom prst="ellipse">
            <a:avLst/>
          </a:prstGeom>
          <a:solidFill>
            <a:schemeClr val="accent1"/>
          </a:solidFill>
          <a:ln/>
        </p:spPr>
      </p:sp>
      <p:pic>
        <p:nvPicPr>
          <p:cNvPr id="17" name="icon FaClock" descr="preencoded.png">    </p:cNvPr>
          <p:cNvPicPr>
            <a:picLocks noChangeAspect="1"/>
          </p:cNvPicPr>
          <p:nvPr/>
        </p:nvPicPr>
        <p:blipFill>
          <a:blip r:embed="rId1"/>
          <a:stretch>
            <a:fillRect/>
          </a:stretch>
        </p:blipFill>
        <p:spPr>
          <a:xfrm>
            <a:off x="982980" y="3589020"/>
            <a:ext cx="320040" cy="320040"/>
          </a:xfrm>
          <a:prstGeom prst="rect">
            <a:avLst/>
          </a:prstGeom>
        </p:spPr>
      </p:pic>
      <p:sp>
        <p:nvSpPr>
          <p:cNvPr id="18" name="Text 15"/>
          <p:cNvSpPr txBox="1"/>
          <p:nvPr/>
        </p:nvSpPr>
        <p:spPr>
          <a:xfrm>
            <a:off x="822960" y="4251960"/>
            <a:ext cx="3017520" cy="640080"/>
          </a:xfrm>
          <a:prstGeom prst="rect">
            <a:avLst/>
          </a:prstGeom>
          <a:noFill/>
          <a:ln/>
        </p:spPr>
        <p:txBody>
          <a:bodyPr wrap="square" lIns="0" tIns="0" rIns="0" bIns="0" rtlCol="0" anchor="t"/>
          <a:lstStyle/>
          <a:p>
            <a:pPr indent="0" marL="0">
              <a:buNone/>
            </a:pPr>
            <a:r>
              <a:rPr lang="en-US" sz="1600" b="1" dirty="0">
                <a:solidFill>
                  <a:schemeClr val="tx1"/>
                </a:solidFill>
              </a:rPr>
              <a:t>Negedge drive, posedge sample</a:t>
            </a:r>
            <a:endParaRPr lang="en-US" sz="1600" dirty="0"/>
          </a:p>
        </p:txBody>
      </p:sp>
      <p:sp>
        <p:nvSpPr>
          <p:cNvPr id="19" name="Text 16"/>
          <p:cNvSpPr txBox="1"/>
          <p:nvPr/>
        </p:nvSpPr>
        <p:spPr>
          <a:xfrm>
            <a:off x="822960" y="4937760"/>
            <a:ext cx="3017520" cy="1005840"/>
          </a:xfrm>
          <a:prstGeom prst="rect">
            <a:avLst/>
          </a:prstGeom>
          <a:noFill/>
          <a:ln/>
        </p:spPr>
        <p:txBody>
          <a:bodyPr wrap="square" lIns="0" tIns="0" rIns="0" bIns="0" rtlCol="0" anchor="t"/>
          <a:lstStyle/>
          <a:p>
            <a:pPr indent="0" marL="0">
              <a:buNone/>
            </a:pPr>
            <a:r>
              <a:rPr lang="en-US" sz="1400" dirty="0">
                <a:solidFill>
                  <a:schemeClr val="accent4"/>
                </a:solidFill>
              </a:rPr>
              <a:t>Handshakes are detected on the rising edge, so no transfer is ever counted twice.</a:t>
            </a:r>
            <a:endParaRPr lang="en-US" sz="1400" dirty="0"/>
          </a:p>
        </p:txBody>
      </p:sp>
      <p:sp>
        <p:nvSpPr>
          <p:cNvPr id="20" name="principle-card"/>
          <p:cNvSpPr/>
          <p:nvPr/>
        </p:nvSpPr>
        <p:spPr>
          <a:xfrm>
            <a:off x="4297680" y="3154680"/>
            <a:ext cx="3566160" cy="2926080"/>
          </a:xfrm>
          <a:prstGeom prst="roundRect">
            <a:avLst>
              <a:gd name="adj" fmla="val 3750"/>
            </a:avLst>
          </a:prstGeom>
          <a:solidFill>
            <a:schemeClr val="bg2"/>
          </a:solidFill>
          <a:ln/>
        </p:spPr>
      </p:sp>
      <p:sp>
        <p:nvSpPr>
          <p:cNvPr id="21" name="icon-circle"/>
          <p:cNvSpPr/>
          <p:nvPr/>
        </p:nvSpPr>
        <p:spPr>
          <a:xfrm>
            <a:off x="4572000" y="3429000"/>
            <a:ext cx="640080" cy="640080"/>
          </a:xfrm>
          <a:prstGeom prst="ellipse">
            <a:avLst/>
          </a:prstGeom>
          <a:solidFill>
            <a:schemeClr val="accent5"/>
          </a:solidFill>
          <a:ln/>
        </p:spPr>
      </p:sp>
      <p:pic>
        <p:nvPicPr>
          <p:cNvPr id="22" name="icon FaCodeBranch" descr="preencoded.png">    </p:cNvPr>
          <p:cNvPicPr>
            <a:picLocks noChangeAspect="1"/>
          </p:cNvPicPr>
          <p:nvPr/>
        </p:nvPicPr>
        <p:blipFill>
          <a:blip r:embed="rId2"/>
          <a:stretch>
            <a:fillRect/>
          </a:stretch>
        </p:blipFill>
        <p:spPr>
          <a:xfrm>
            <a:off x="4732020" y="3589020"/>
            <a:ext cx="320040" cy="320040"/>
          </a:xfrm>
          <a:prstGeom prst="rect">
            <a:avLst/>
          </a:prstGeom>
        </p:spPr>
      </p:pic>
      <p:sp>
        <p:nvSpPr>
          <p:cNvPr id="23" name="Text 19"/>
          <p:cNvSpPr txBox="1"/>
          <p:nvPr/>
        </p:nvSpPr>
        <p:spPr>
          <a:xfrm>
            <a:off x="4572000" y="4251960"/>
            <a:ext cx="3017520" cy="640080"/>
          </a:xfrm>
          <a:prstGeom prst="rect">
            <a:avLst/>
          </a:prstGeom>
          <a:noFill/>
          <a:ln/>
        </p:spPr>
        <p:txBody>
          <a:bodyPr wrap="square" lIns="0" tIns="0" rIns="0" bIns="0" rtlCol="0" anchor="t"/>
          <a:lstStyle/>
          <a:p>
            <a:pPr indent="0" marL="0">
              <a:buNone/>
            </a:pPr>
            <a:r>
              <a:rPr lang="en-US" sz="1600" b="1" dirty="0">
                <a:solidFill>
                  <a:schemeClr val="tx1"/>
                </a:solidFill>
              </a:rPr>
              <a:t>Channels run in parallel</a:t>
            </a:r>
            <a:endParaRPr lang="en-US" sz="1600" dirty="0"/>
          </a:p>
        </p:txBody>
      </p:sp>
      <p:sp>
        <p:nvSpPr>
          <p:cNvPr id="24" name="Text 20"/>
          <p:cNvSpPr txBox="1"/>
          <p:nvPr/>
        </p:nvSpPr>
        <p:spPr>
          <a:xfrm>
            <a:off x="4572000" y="4937760"/>
            <a:ext cx="3017520" cy="1005840"/>
          </a:xfrm>
          <a:prstGeom prst="rect">
            <a:avLst/>
          </a:prstGeom>
          <a:noFill/>
          <a:ln/>
        </p:spPr>
        <p:txBody>
          <a:bodyPr wrap="square" lIns="0" tIns="0" rIns="0" bIns="0" rtlCol="0" anchor="t"/>
          <a:lstStyle/>
          <a:p>
            <a:pPr indent="0" marL="0">
              <a:buNone/>
            </a:pPr>
            <a:r>
              <a:rPr lang="en-US" sz="1400" dirty="0">
                <a:solidFill>
                  <a:schemeClr val="accent4"/>
                </a:solidFill>
              </a:rPr>
              <a:t>AW, W and AR can be valid in the same cycle. The priority test depends on this.</a:t>
            </a:r>
            <a:endParaRPr lang="en-US" sz="1400" dirty="0"/>
          </a:p>
        </p:txBody>
      </p:sp>
      <p:sp>
        <p:nvSpPr>
          <p:cNvPr id="25" name="principle-card"/>
          <p:cNvSpPr/>
          <p:nvPr/>
        </p:nvSpPr>
        <p:spPr>
          <a:xfrm>
            <a:off x="8046720" y="3154680"/>
            <a:ext cx="3566160" cy="2926080"/>
          </a:xfrm>
          <a:prstGeom prst="roundRect">
            <a:avLst>
              <a:gd name="adj" fmla="val 3750"/>
            </a:avLst>
          </a:prstGeom>
          <a:solidFill>
            <a:schemeClr val="bg2"/>
          </a:solidFill>
          <a:ln/>
        </p:spPr>
      </p:sp>
      <p:sp>
        <p:nvSpPr>
          <p:cNvPr id="26" name="icon-circle"/>
          <p:cNvSpPr/>
          <p:nvPr/>
        </p:nvSpPr>
        <p:spPr>
          <a:xfrm>
            <a:off x="8321040" y="3429000"/>
            <a:ext cx="640080" cy="640080"/>
          </a:xfrm>
          <a:prstGeom prst="ellipse">
            <a:avLst/>
          </a:prstGeom>
          <a:solidFill>
            <a:schemeClr val="accent2"/>
          </a:solidFill>
          <a:ln/>
        </p:spPr>
      </p:sp>
      <p:pic>
        <p:nvPicPr>
          <p:cNvPr id="27" name="icon FaHourglassHalf" descr="preencoded.png">    </p:cNvPr>
          <p:cNvPicPr>
            <a:picLocks noChangeAspect="1"/>
          </p:cNvPicPr>
          <p:nvPr/>
        </p:nvPicPr>
        <p:blipFill>
          <a:blip r:embed="rId3"/>
          <a:stretch>
            <a:fillRect/>
          </a:stretch>
        </p:blipFill>
        <p:spPr>
          <a:xfrm>
            <a:off x="8481060" y="3589020"/>
            <a:ext cx="320040" cy="320040"/>
          </a:xfrm>
          <a:prstGeom prst="rect">
            <a:avLst/>
          </a:prstGeom>
        </p:spPr>
      </p:pic>
      <p:sp>
        <p:nvSpPr>
          <p:cNvPr id="28" name="Text 23"/>
          <p:cNvSpPr txBox="1"/>
          <p:nvPr/>
        </p:nvSpPr>
        <p:spPr>
          <a:xfrm>
            <a:off x="8321040" y="4251960"/>
            <a:ext cx="3017520" cy="640080"/>
          </a:xfrm>
          <a:prstGeom prst="rect">
            <a:avLst/>
          </a:prstGeom>
          <a:noFill/>
          <a:ln/>
        </p:spPr>
        <p:txBody>
          <a:bodyPr wrap="square" lIns="0" tIns="0" rIns="0" bIns="0" rtlCol="0" anchor="t"/>
          <a:lstStyle/>
          <a:p>
            <a:pPr indent="0" marL="0">
              <a:buNone/>
            </a:pPr>
            <a:r>
              <a:rPr lang="en-US" sz="1600" b="1" dirty="0">
                <a:solidFill>
                  <a:schemeClr val="tx1"/>
                </a:solidFill>
              </a:rPr>
              <a:t>One objection per item</a:t>
            </a:r>
            <a:endParaRPr lang="en-US" sz="1600" dirty="0"/>
          </a:p>
        </p:txBody>
      </p:sp>
      <p:sp>
        <p:nvSpPr>
          <p:cNvPr id="29" name="Text 24"/>
          <p:cNvSpPr txBox="1"/>
          <p:nvPr/>
        </p:nvSpPr>
        <p:spPr>
          <a:xfrm>
            <a:off x="8321040" y="4937760"/>
            <a:ext cx="3017520" cy="1005840"/>
          </a:xfrm>
          <a:prstGeom prst="rect">
            <a:avLst/>
          </a:prstGeom>
          <a:noFill/>
          <a:ln/>
        </p:spPr>
        <p:txBody>
          <a:bodyPr wrap="square" lIns="0" tIns="0" rIns="0" bIns="0" rtlCol="0" anchor="t"/>
          <a:lstStyle/>
          <a:p>
            <a:pPr indent="0" marL="0">
              <a:buNone/>
            </a:pPr>
            <a:r>
              <a:rPr lang="en-US" sz="1400" dirty="0">
                <a:solidFill>
                  <a:schemeClr val="accent4"/>
                </a:solidFill>
              </a:rPr>
              <a:t>Each item holds the phase open until its B or R response arrives, so a test never ends early.</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APB agent: a reactive slave</a:t>
            </a:r>
            <a:endParaRPr lang="en-US" sz="34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chemeClr val="tx1"/>
                </a:solidFill>
              </a:rPr>
              <a:t>Example with two wait states</a:t>
            </a:r>
            <a:endParaRPr lang="en-US" sz="1400" dirty="0"/>
          </a:p>
        </p:txBody>
      </p:sp>
      <p:sp>
        <p:nvSpPr>
          <p:cNvPr id="4" name="Text 2"/>
          <p:cNvSpPr txBox="1"/>
          <p:nvPr/>
        </p:nvSpPr>
        <p:spPr>
          <a:xfrm>
            <a:off x="2011680" y="1783080"/>
            <a:ext cx="914400" cy="274320"/>
          </a:xfrm>
          <a:prstGeom prst="rect">
            <a:avLst/>
          </a:prstGeom>
          <a:noFill/>
          <a:ln/>
        </p:spPr>
        <p:txBody>
          <a:bodyPr wrap="square" lIns="0" tIns="0" rIns="0" bIns="0" rtlCol="0" anchor="t"/>
          <a:lstStyle/>
          <a:p>
            <a:pPr algn="ctr" indent="0" marL="0">
              <a:buNone/>
            </a:pPr>
            <a:r>
              <a:rPr lang="en-US" sz="1200" dirty="0">
                <a:solidFill>
                  <a:schemeClr val="accent4"/>
                </a:solidFill>
              </a:rPr>
              <a:t>cycle 1</a:t>
            </a:r>
            <a:endParaRPr lang="en-US" sz="1200" dirty="0"/>
          </a:p>
        </p:txBody>
      </p:sp>
      <p:sp>
        <p:nvSpPr>
          <p:cNvPr id="5" name="Text 3"/>
          <p:cNvSpPr txBox="1"/>
          <p:nvPr/>
        </p:nvSpPr>
        <p:spPr>
          <a:xfrm>
            <a:off x="3017520" y="1783080"/>
            <a:ext cx="914400" cy="274320"/>
          </a:xfrm>
          <a:prstGeom prst="rect">
            <a:avLst/>
          </a:prstGeom>
          <a:noFill/>
          <a:ln/>
        </p:spPr>
        <p:txBody>
          <a:bodyPr wrap="square" lIns="0" tIns="0" rIns="0" bIns="0" rtlCol="0" anchor="t"/>
          <a:lstStyle/>
          <a:p>
            <a:pPr algn="ctr" indent="0" marL="0">
              <a:buNone/>
            </a:pPr>
            <a:r>
              <a:rPr lang="en-US" sz="1200" dirty="0">
                <a:solidFill>
                  <a:schemeClr val="accent4"/>
                </a:solidFill>
              </a:rPr>
              <a:t>cycle 2</a:t>
            </a:r>
            <a:endParaRPr lang="en-US" sz="1200" dirty="0"/>
          </a:p>
        </p:txBody>
      </p:sp>
      <p:sp>
        <p:nvSpPr>
          <p:cNvPr id="6" name="Text 4"/>
          <p:cNvSpPr txBox="1"/>
          <p:nvPr/>
        </p:nvSpPr>
        <p:spPr>
          <a:xfrm>
            <a:off x="4023360" y="1783080"/>
            <a:ext cx="914400" cy="274320"/>
          </a:xfrm>
          <a:prstGeom prst="rect">
            <a:avLst/>
          </a:prstGeom>
          <a:noFill/>
          <a:ln/>
        </p:spPr>
        <p:txBody>
          <a:bodyPr wrap="square" lIns="0" tIns="0" rIns="0" bIns="0" rtlCol="0" anchor="t"/>
          <a:lstStyle/>
          <a:p>
            <a:pPr algn="ctr" indent="0" marL="0">
              <a:buNone/>
            </a:pPr>
            <a:r>
              <a:rPr lang="en-US" sz="1200" dirty="0">
                <a:solidFill>
                  <a:schemeClr val="accent4"/>
                </a:solidFill>
              </a:rPr>
              <a:t>cycle 3</a:t>
            </a:r>
            <a:endParaRPr lang="en-US" sz="1200" dirty="0"/>
          </a:p>
        </p:txBody>
      </p:sp>
      <p:sp>
        <p:nvSpPr>
          <p:cNvPr id="7" name="Text 5"/>
          <p:cNvSpPr txBox="1"/>
          <p:nvPr/>
        </p:nvSpPr>
        <p:spPr>
          <a:xfrm>
            <a:off x="5029200" y="1783080"/>
            <a:ext cx="914400" cy="274320"/>
          </a:xfrm>
          <a:prstGeom prst="rect">
            <a:avLst/>
          </a:prstGeom>
          <a:noFill/>
          <a:ln/>
        </p:spPr>
        <p:txBody>
          <a:bodyPr wrap="square" lIns="0" tIns="0" rIns="0" bIns="0" rtlCol="0" anchor="t"/>
          <a:lstStyle/>
          <a:p>
            <a:pPr algn="ctr" indent="0" marL="0">
              <a:buNone/>
            </a:pPr>
            <a:r>
              <a:rPr lang="en-US" sz="1200" dirty="0">
                <a:solidFill>
                  <a:schemeClr val="accent4"/>
                </a:solidFill>
              </a:rPr>
              <a:t>cycle 4</a:t>
            </a:r>
            <a:endParaRPr lang="en-US" sz="1200" dirty="0"/>
          </a:p>
        </p:txBody>
      </p:sp>
      <p:sp>
        <p:nvSpPr>
          <p:cNvPr id="8" name="Text 6"/>
          <p:cNvSpPr txBox="1"/>
          <p:nvPr/>
        </p:nvSpPr>
        <p:spPr>
          <a:xfrm>
            <a:off x="548640" y="2240280"/>
            <a:ext cx="1371600" cy="457200"/>
          </a:xfrm>
          <a:prstGeom prst="rect">
            <a:avLst/>
          </a:prstGeom>
          <a:noFill/>
          <a:ln/>
        </p:spPr>
        <p:txBody>
          <a:bodyPr wrap="square" lIns="0" tIns="0" rIns="0" bIns="0" rtlCol="0" anchor="ctr"/>
          <a:lstStyle/>
          <a:p>
            <a:pPr indent="0" marL="0">
              <a:buNone/>
            </a:pPr>
            <a:r>
              <a:rPr lang="en-US" sz="1400" b="1" dirty="0">
                <a:solidFill>
                  <a:schemeClr val="tx1"/>
                </a:solidFill>
              </a:rPr>
              <a:t>PENABLE</a:t>
            </a:r>
            <a:endParaRPr lang="en-US" sz="1400" dirty="0"/>
          </a:p>
        </p:txBody>
      </p:sp>
      <p:sp>
        <p:nvSpPr>
          <p:cNvPr id="9" name="Text 7"/>
          <p:cNvSpPr txBox="1"/>
          <p:nvPr/>
        </p:nvSpPr>
        <p:spPr>
          <a:xfrm>
            <a:off x="548640" y="2971800"/>
            <a:ext cx="1371600" cy="457200"/>
          </a:xfrm>
          <a:prstGeom prst="rect">
            <a:avLst/>
          </a:prstGeom>
          <a:noFill/>
          <a:ln/>
        </p:spPr>
        <p:txBody>
          <a:bodyPr wrap="square" lIns="0" tIns="0" rIns="0" bIns="0" rtlCol="0" anchor="ctr"/>
          <a:lstStyle/>
          <a:p>
            <a:pPr indent="0" marL="0">
              <a:buNone/>
            </a:pPr>
            <a:r>
              <a:rPr lang="en-US" sz="1400" b="1" dirty="0">
                <a:solidFill>
                  <a:schemeClr val="tx1"/>
                </a:solidFill>
              </a:rPr>
              <a:t>PREADY</a:t>
            </a:r>
            <a:endParaRPr lang="en-US" sz="1400" dirty="0"/>
          </a:p>
        </p:txBody>
      </p:sp>
      <p:sp>
        <p:nvSpPr>
          <p:cNvPr id="10" name="penable-cell"/>
          <p:cNvSpPr/>
          <p:nvPr/>
        </p:nvSpPr>
        <p:spPr>
          <a:xfrm>
            <a:off x="2011680" y="2194560"/>
            <a:ext cx="914400" cy="548640"/>
          </a:xfrm>
          <a:prstGeom prst="roundRect">
            <a:avLst>
              <a:gd name="adj" fmla="val 20000"/>
            </a:avLst>
          </a:prstGeom>
          <a:solidFill>
            <a:schemeClr val="accent2"/>
          </a:solidFill>
          <a:ln/>
        </p:spPr>
      </p:sp>
      <p:sp>
        <p:nvSpPr>
          <p:cNvPr id="11" name="penable-cell"/>
          <p:cNvSpPr/>
          <p:nvPr/>
        </p:nvSpPr>
        <p:spPr>
          <a:xfrm>
            <a:off x="3017520" y="2194560"/>
            <a:ext cx="914400" cy="548640"/>
          </a:xfrm>
          <a:prstGeom prst="roundRect">
            <a:avLst>
              <a:gd name="adj" fmla="val 20000"/>
            </a:avLst>
          </a:prstGeom>
          <a:solidFill>
            <a:schemeClr val="accent2"/>
          </a:solidFill>
          <a:ln/>
        </p:spPr>
      </p:sp>
      <p:sp>
        <p:nvSpPr>
          <p:cNvPr id="12" name="penable-cell"/>
          <p:cNvSpPr/>
          <p:nvPr/>
        </p:nvSpPr>
        <p:spPr>
          <a:xfrm>
            <a:off x="4023360" y="2194560"/>
            <a:ext cx="914400" cy="548640"/>
          </a:xfrm>
          <a:prstGeom prst="roundRect">
            <a:avLst>
              <a:gd name="adj" fmla="val 20000"/>
            </a:avLst>
          </a:prstGeom>
          <a:solidFill>
            <a:schemeClr val="accent2"/>
          </a:solidFill>
          <a:ln/>
        </p:spPr>
      </p:sp>
      <p:sp>
        <p:nvSpPr>
          <p:cNvPr id="13" name="penable-cell"/>
          <p:cNvSpPr/>
          <p:nvPr/>
        </p:nvSpPr>
        <p:spPr>
          <a:xfrm>
            <a:off x="5029200" y="2194560"/>
            <a:ext cx="914400" cy="548640"/>
          </a:xfrm>
          <a:prstGeom prst="roundRect">
            <a:avLst>
              <a:gd name="adj" fmla="val 20000"/>
            </a:avLst>
          </a:prstGeom>
          <a:solidFill>
            <a:schemeClr val="bg2"/>
          </a:solidFill>
          <a:ln/>
        </p:spPr>
      </p:sp>
      <p:sp>
        <p:nvSpPr>
          <p:cNvPr id="14" name="pready-cell"/>
          <p:cNvSpPr/>
          <p:nvPr/>
        </p:nvSpPr>
        <p:spPr>
          <a:xfrm>
            <a:off x="2011680" y="2926080"/>
            <a:ext cx="914400" cy="548640"/>
          </a:xfrm>
          <a:prstGeom prst="roundRect">
            <a:avLst>
              <a:gd name="adj" fmla="val 20000"/>
            </a:avLst>
          </a:prstGeom>
          <a:solidFill>
            <a:schemeClr val="bg2"/>
          </a:solidFill>
          <a:ln/>
        </p:spPr>
      </p:sp>
      <p:sp>
        <p:nvSpPr>
          <p:cNvPr id="15" name="pready-cell"/>
          <p:cNvSpPr/>
          <p:nvPr/>
        </p:nvSpPr>
        <p:spPr>
          <a:xfrm>
            <a:off x="3017520" y="2926080"/>
            <a:ext cx="914400" cy="548640"/>
          </a:xfrm>
          <a:prstGeom prst="roundRect">
            <a:avLst>
              <a:gd name="adj" fmla="val 20000"/>
            </a:avLst>
          </a:prstGeom>
          <a:solidFill>
            <a:schemeClr val="bg2"/>
          </a:solidFill>
          <a:ln/>
        </p:spPr>
      </p:sp>
      <p:sp>
        <p:nvSpPr>
          <p:cNvPr id="16" name="pready-cell"/>
          <p:cNvSpPr/>
          <p:nvPr/>
        </p:nvSpPr>
        <p:spPr>
          <a:xfrm>
            <a:off x="4023360" y="2926080"/>
            <a:ext cx="914400" cy="548640"/>
          </a:xfrm>
          <a:prstGeom prst="roundRect">
            <a:avLst>
              <a:gd name="adj" fmla="val 20000"/>
            </a:avLst>
          </a:prstGeom>
          <a:solidFill>
            <a:schemeClr val="accent1"/>
          </a:solidFill>
          <a:ln/>
        </p:spPr>
      </p:sp>
      <p:sp>
        <p:nvSpPr>
          <p:cNvPr id="17" name="pready-cell"/>
          <p:cNvSpPr/>
          <p:nvPr/>
        </p:nvSpPr>
        <p:spPr>
          <a:xfrm>
            <a:off x="5029200" y="2926080"/>
            <a:ext cx="914400" cy="548640"/>
          </a:xfrm>
          <a:prstGeom prst="roundRect">
            <a:avLst>
              <a:gd name="adj" fmla="val 20000"/>
            </a:avLst>
          </a:prstGeom>
          <a:solidFill>
            <a:schemeClr val="bg2"/>
          </a:solidFill>
          <a:ln/>
        </p:spPr>
      </p:sp>
      <p:sp>
        <p:nvSpPr>
          <p:cNvPr id="18" name="Text 16"/>
          <p:cNvSpPr txBox="1"/>
          <p:nvPr/>
        </p:nvSpPr>
        <p:spPr>
          <a:xfrm>
            <a:off x="3566160" y="3566160"/>
            <a:ext cx="1463040" cy="274320"/>
          </a:xfrm>
          <a:prstGeom prst="rect">
            <a:avLst/>
          </a:prstGeom>
          <a:noFill/>
          <a:ln/>
        </p:spPr>
        <p:txBody>
          <a:bodyPr wrap="square" lIns="0" tIns="0" rIns="0" bIns="0" rtlCol="0" anchor="t"/>
          <a:lstStyle/>
          <a:p>
            <a:pPr algn="ctr" indent="0" marL="0">
              <a:buNone/>
            </a:pPr>
            <a:r>
              <a:rPr lang="en-US" sz="1200" dirty="0">
                <a:solidFill>
                  <a:schemeClr val="accent4"/>
                </a:solidFill>
              </a:rPr>
              <a:t>transfer completes</a:t>
            </a:r>
            <a:endParaRPr lang="en-US" sz="1200" dirty="0"/>
          </a:p>
        </p:txBody>
      </p:sp>
      <p:sp>
        <p:nvSpPr>
          <p:cNvPr id="19" name="waits-card"/>
          <p:cNvSpPr/>
          <p:nvPr/>
        </p:nvSpPr>
        <p:spPr>
          <a:xfrm>
            <a:off x="548640" y="4114800"/>
            <a:ext cx="6035040" cy="1920240"/>
          </a:xfrm>
          <a:prstGeom prst="roundRect">
            <a:avLst>
              <a:gd name="adj" fmla="val 5714"/>
            </a:avLst>
          </a:prstGeom>
          <a:solidFill>
            <a:schemeClr val="bg2"/>
          </a:solidFill>
          <a:ln/>
        </p:spPr>
      </p:sp>
      <p:sp>
        <p:nvSpPr>
          <p:cNvPr id="20" name="Text 18"/>
          <p:cNvSpPr txBox="1"/>
          <p:nvPr/>
        </p:nvSpPr>
        <p:spPr>
          <a:xfrm>
            <a:off x="822960" y="4297680"/>
            <a:ext cx="5486400" cy="320040"/>
          </a:xfrm>
          <a:prstGeom prst="rect">
            <a:avLst/>
          </a:prstGeom>
          <a:noFill/>
          <a:ln/>
        </p:spPr>
        <p:txBody>
          <a:bodyPr wrap="square" lIns="0" tIns="0" rIns="0" bIns="0" rtlCol="0" anchor="t"/>
          <a:lstStyle/>
          <a:p>
            <a:pPr indent="0" marL="0">
              <a:buNone/>
            </a:pPr>
            <a:r>
              <a:rPr lang="en-US" sz="1600" b="1" dirty="0">
                <a:solidFill>
                  <a:schemeClr val="tx1"/>
                </a:solidFill>
              </a:rPr>
              <a:t>PREADY low, then high</a:t>
            </a:r>
            <a:endParaRPr lang="en-US" sz="1600" dirty="0"/>
          </a:p>
        </p:txBody>
      </p:sp>
      <p:sp>
        <p:nvSpPr>
          <p:cNvPr id="21" name="Text 19"/>
          <p:cNvSpPr txBox="1"/>
          <p:nvPr/>
        </p:nvSpPr>
        <p:spPr>
          <a:xfrm>
            <a:off x="822960" y="4709160"/>
            <a:ext cx="5486400" cy="1188720"/>
          </a:xfrm>
          <a:prstGeom prst="rect">
            <a:avLst/>
          </a:prstGeom>
          <a:noFill/>
          <a:ln/>
        </p:spPr>
        <p:txBody>
          <a:bodyPr wrap="square" lIns="0" tIns="0" rIns="0" bIns="0" rtlCol="0" anchor="t"/>
          <a:lstStyle/>
          <a:p>
            <a:pPr indent="0" marL="0">
              <a:buNone/>
            </a:pPr>
            <a:r>
              <a:rPr lang="en-US" sz="1400" dirty="0">
                <a:solidFill>
                  <a:schemeClr val="accent4"/>
                </a:solidFill>
              </a:rPr>
              <a:t>PREADY stays low for two cycles while PENABLE is high, then goes high. The driver reacts on the negedge of the first PENABLE cycle, so zero wait states completes in one cycle.</a:t>
            </a:r>
            <a:endParaRPr lang="en-US" sz="1400" dirty="0"/>
          </a:p>
        </p:txBody>
      </p:sp>
      <p:sp>
        <p:nvSpPr>
          <p:cNvPr id="22" name="icon-circle"/>
          <p:cNvSpPr/>
          <p:nvPr/>
        </p:nvSpPr>
        <p:spPr>
          <a:xfrm>
            <a:off x="6949440" y="1417320"/>
            <a:ext cx="640080" cy="640080"/>
          </a:xfrm>
          <a:prstGeom prst="ellipse">
            <a:avLst/>
          </a:prstGeom>
          <a:solidFill>
            <a:schemeClr val="accent2"/>
          </a:solidFill>
          <a:ln/>
        </p:spPr>
      </p:sp>
      <p:pic>
        <p:nvPicPr>
          <p:cNvPr id="23" name="icon FaExchangeAlt" descr="preencoded.png">    </p:cNvPr>
          <p:cNvPicPr>
            <a:picLocks noChangeAspect="1"/>
          </p:cNvPicPr>
          <p:nvPr/>
        </p:nvPicPr>
        <p:blipFill>
          <a:blip r:embed="rId1"/>
          <a:stretch>
            <a:fillRect/>
          </a:stretch>
        </p:blipFill>
        <p:spPr>
          <a:xfrm>
            <a:off x="7109460" y="1577340"/>
            <a:ext cx="320040" cy="320040"/>
          </a:xfrm>
          <a:prstGeom prst="rect">
            <a:avLst/>
          </a:prstGeom>
        </p:spPr>
      </p:pic>
      <p:sp>
        <p:nvSpPr>
          <p:cNvPr id="24" name="Text 21"/>
          <p:cNvSpPr txBox="1"/>
          <p:nvPr/>
        </p:nvSpPr>
        <p:spPr>
          <a:xfrm>
            <a:off x="7818120" y="1417320"/>
            <a:ext cx="3794760" cy="320040"/>
          </a:xfrm>
          <a:prstGeom prst="rect">
            <a:avLst/>
          </a:prstGeom>
          <a:noFill/>
          <a:ln/>
        </p:spPr>
        <p:txBody>
          <a:bodyPr wrap="square" lIns="0" tIns="0" rIns="0" bIns="0" rtlCol="0" anchor="t"/>
          <a:lstStyle/>
          <a:p>
            <a:pPr indent="0" marL="0">
              <a:buNone/>
            </a:pPr>
            <a:r>
              <a:rPr lang="en-US" sz="1600" b="1" dirty="0">
                <a:solidFill>
                  <a:schemeClr val="tx1"/>
                </a:solidFill>
              </a:rPr>
              <a:t>Response items</a:t>
            </a:r>
            <a:endParaRPr lang="en-US" sz="1600" dirty="0"/>
          </a:p>
        </p:txBody>
      </p:sp>
      <p:sp>
        <p:nvSpPr>
          <p:cNvPr id="25" name="Text 22"/>
          <p:cNvSpPr txBox="1"/>
          <p:nvPr/>
        </p:nvSpPr>
        <p:spPr>
          <a:xfrm>
            <a:off x="7818120" y="1783080"/>
            <a:ext cx="3794760" cy="914400"/>
          </a:xfrm>
          <a:prstGeom prst="rect">
            <a:avLst/>
          </a:prstGeom>
          <a:noFill/>
          <a:ln/>
        </p:spPr>
        <p:txBody>
          <a:bodyPr wrap="square" lIns="0" tIns="0" rIns="0" bIns="0" rtlCol="0" anchor="t"/>
          <a:lstStyle/>
          <a:p>
            <a:pPr indent="0" marL="0">
              <a:buNone/>
            </a:pPr>
            <a:r>
              <a:rPr lang="en-US" sz="1400" dirty="0">
                <a:solidFill>
                  <a:schemeClr val="accent4"/>
                </a:solidFill>
              </a:rPr>
              <a:t>The sequencer supplies wait cycles, PSLVERR and PRDATA for each transfer through try_next_item().</a:t>
            </a:r>
            <a:endParaRPr lang="en-US" sz="1400" dirty="0"/>
          </a:p>
        </p:txBody>
      </p:sp>
      <p:sp>
        <p:nvSpPr>
          <p:cNvPr id="26" name="icon-circle"/>
          <p:cNvSpPr/>
          <p:nvPr/>
        </p:nvSpPr>
        <p:spPr>
          <a:xfrm>
            <a:off x="6949440" y="2971800"/>
            <a:ext cx="640080" cy="640080"/>
          </a:xfrm>
          <a:prstGeom prst="ellipse">
            <a:avLst/>
          </a:prstGeom>
          <a:solidFill>
            <a:schemeClr val="accent1"/>
          </a:solidFill>
          <a:ln/>
        </p:spPr>
      </p:sp>
      <p:pic>
        <p:nvPicPr>
          <p:cNvPr id="27" name="icon FaDatabase" descr="preencoded.png">    </p:cNvPr>
          <p:cNvPicPr>
            <a:picLocks noChangeAspect="1"/>
          </p:cNvPicPr>
          <p:nvPr/>
        </p:nvPicPr>
        <p:blipFill>
          <a:blip r:embed="rId2"/>
          <a:stretch>
            <a:fillRect/>
          </a:stretch>
        </p:blipFill>
        <p:spPr>
          <a:xfrm>
            <a:off x="7109460" y="3131820"/>
            <a:ext cx="320040" cy="320040"/>
          </a:xfrm>
          <a:prstGeom prst="rect">
            <a:avLst/>
          </a:prstGeom>
        </p:spPr>
      </p:pic>
      <p:sp>
        <p:nvSpPr>
          <p:cNvPr id="28" name="Text 24"/>
          <p:cNvSpPr txBox="1"/>
          <p:nvPr/>
        </p:nvSpPr>
        <p:spPr>
          <a:xfrm>
            <a:off x="7818120" y="2971800"/>
            <a:ext cx="3794760" cy="320040"/>
          </a:xfrm>
          <a:prstGeom prst="rect">
            <a:avLst/>
          </a:prstGeom>
          <a:noFill/>
          <a:ln/>
        </p:spPr>
        <p:txBody>
          <a:bodyPr wrap="square" lIns="0" tIns="0" rIns="0" bIns="0" rtlCol="0" anchor="t"/>
          <a:lstStyle/>
          <a:p>
            <a:pPr indent="0" marL="0">
              <a:buNone/>
            </a:pPr>
            <a:r>
              <a:rPr lang="en-US" sz="1600" b="1" dirty="0">
                <a:solidFill>
                  <a:schemeClr val="tx1"/>
                </a:solidFill>
              </a:rPr>
              <a:t>Memory model fallback</a:t>
            </a:r>
            <a:endParaRPr lang="en-US" sz="1600" dirty="0"/>
          </a:p>
        </p:txBody>
      </p:sp>
      <p:sp>
        <p:nvSpPr>
          <p:cNvPr id="29" name="Text 25"/>
          <p:cNvSpPr txBox="1"/>
          <p:nvPr/>
        </p:nvSpPr>
        <p:spPr>
          <a:xfrm>
            <a:off x="7818120" y="3337560"/>
            <a:ext cx="3794760" cy="914400"/>
          </a:xfrm>
          <a:prstGeom prst="rect">
            <a:avLst/>
          </a:prstGeom>
          <a:noFill/>
          <a:ln/>
        </p:spPr>
        <p:txBody>
          <a:bodyPr wrap="square" lIns="0" tIns="0" rIns="0" bIns="0" rtlCol="0" anchor="t"/>
          <a:lstStyle/>
          <a:p>
            <a:pPr indent="0" marL="0">
              <a:buNone/>
            </a:pPr>
            <a:r>
              <a:rPr lang="en-US" sz="1400" dirty="0">
                <a:solidFill>
                  <a:schemeClr val="accent4"/>
                </a:solidFill>
              </a:rPr>
              <a:t>With no item queued, defaults and a memory model answer. Writes are stored and reads return the stored word.</a:t>
            </a:r>
            <a:endParaRPr lang="en-US" sz="1400" dirty="0"/>
          </a:p>
        </p:txBody>
      </p:sp>
      <p:sp>
        <p:nvSpPr>
          <p:cNvPr id="30" name="icon-circle"/>
          <p:cNvSpPr/>
          <p:nvPr/>
        </p:nvSpPr>
        <p:spPr>
          <a:xfrm>
            <a:off x="6949440" y="4526280"/>
            <a:ext cx="640080" cy="640080"/>
          </a:xfrm>
          <a:prstGeom prst="ellipse">
            <a:avLst/>
          </a:prstGeom>
          <a:solidFill>
            <a:schemeClr val="accent5"/>
          </a:solidFill>
          <a:ln/>
        </p:spPr>
      </p:sp>
      <p:pic>
        <p:nvPicPr>
          <p:cNvPr id="31" name="icon FaSearch" descr="preencoded.png">    </p:cNvPr>
          <p:cNvPicPr>
            <a:picLocks noChangeAspect="1"/>
          </p:cNvPicPr>
          <p:nvPr/>
        </p:nvPicPr>
        <p:blipFill>
          <a:blip r:embed="rId3"/>
          <a:stretch>
            <a:fillRect/>
          </a:stretch>
        </p:blipFill>
        <p:spPr>
          <a:xfrm>
            <a:off x="7109460" y="4686300"/>
            <a:ext cx="320040" cy="320040"/>
          </a:xfrm>
          <a:prstGeom prst="rect">
            <a:avLst/>
          </a:prstGeom>
        </p:spPr>
      </p:pic>
      <p:sp>
        <p:nvSpPr>
          <p:cNvPr id="32" name="Text 27"/>
          <p:cNvSpPr txBox="1"/>
          <p:nvPr/>
        </p:nvSpPr>
        <p:spPr>
          <a:xfrm>
            <a:off x="7818120" y="4526280"/>
            <a:ext cx="3794760" cy="320040"/>
          </a:xfrm>
          <a:prstGeom prst="rect">
            <a:avLst/>
          </a:prstGeom>
          <a:noFill/>
          <a:ln/>
        </p:spPr>
        <p:txBody>
          <a:bodyPr wrap="square" lIns="0" tIns="0" rIns="0" bIns="0" rtlCol="0" anchor="t"/>
          <a:lstStyle/>
          <a:p>
            <a:pPr indent="0" marL="0">
              <a:buNone/>
            </a:pPr>
            <a:r>
              <a:rPr lang="en-US" sz="1600" b="1" dirty="0">
                <a:solidFill>
                  <a:schemeClr val="tx1"/>
                </a:solidFill>
              </a:rPr>
              <a:t>End-to-end read-back</a:t>
            </a:r>
            <a:endParaRPr lang="en-US" sz="1600" dirty="0"/>
          </a:p>
        </p:txBody>
      </p:sp>
      <p:sp>
        <p:nvSpPr>
          <p:cNvPr id="33" name="Text 28"/>
          <p:cNvSpPr txBox="1"/>
          <p:nvPr/>
        </p:nvSpPr>
        <p:spPr>
          <a:xfrm>
            <a:off x="7818120" y="4892040"/>
            <a:ext cx="3794760" cy="914400"/>
          </a:xfrm>
          <a:prstGeom prst="rect">
            <a:avLst/>
          </a:prstGeom>
          <a:noFill/>
          <a:ln/>
        </p:spPr>
        <p:txBody>
          <a:bodyPr wrap="square" lIns="0" tIns="0" rIns="0" bIns="0" rtlCol="0" anchor="t"/>
          <a:lstStyle/>
          <a:p>
            <a:pPr indent="0" marL="0">
              <a:buNone/>
            </a:pPr>
            <a:r>
              <a:rPr lang="en-US" sz="1400" dirty="0">
                <a:solidFill>
                  <a:schemeClr val="accent4"/>
                </a:solidFill>
              </a:rPr>
              <a:t>Because PRDATA comes from memory, a write followed by a read checks the whole path.</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Scoreboard: expected vs actual</a:t>
            </a:r>
            <a:endParaRPr lang="en-US" sz="3400" dirty="0"/>
          </a:p>
        </p:txBody>
      </p:sp>
      <p:sp>
        <p:nvSpPr>
          <p:cNvPr id="3" name="Text 1"/>
          <p:cNvSpPr txBox="1"/>
          <p:nvPr/>
        </p:nvSpPr>
        <p:spPr>
          <a:xfrm>
            <a:off x="548640" y="1325880"/>
            <a:ext cx="5394960" cy="365760"/>
          </a:xfrm>
          <a:prstGeom prst="rect">
            <a:avLst/>
          </a:prstGeom>
          <a:noFill/>
          <a:ln/>
        </p:spPr>
        <p:txBody>
          <a:bodyPr wrap="square" lIns="0" tIns="0" rIns="0" bIns="0" rtlCol="0" anchor="t"/>
          <a:lstStyle/>
          <a:p>
            <a:pPr indent="0" marL="0">
              <a:buNone/>
            </a:pPr>
            <a:r>
              <a:rPr lang="en-US" sz="1800" b="1" dirty="0">
                <a:solidFill>
                  <a:schemeClr val="accent1"/>
                </a:solidFill>
              </a:rPr>
              <a:t>Write: AXI to APB</a:t>
            </a:r>
            <a:endParaRPr lang="en-US" sz="1800" dirty="0"/>
          </a:p>
        </p:txBody>
      </p:sp>
      <p:sp>
        <p:nvSpPr>
          <p:cNvPr id="4" name="Text 2"/>
          <p:cNvSpPr txBox="1"/>
          <p:nvPr/>
        </p:nvSpPr>
        <p:spPr>
          <a:xfrm>
            <a:off x="6217920" y="1325880"/>
            <a:ext cx="5394960" cy="365760"/>
          </a:xfrm>
          <a:prstGeom prst="rect">
            <a:avLst/>
          </a:prstGeom>
          <a:noFill/>
          <a:ln/>
        </p:spPr>
        <p:txBody>
          <a:bodyPr wrap="square" lIns="0" tIns="0" rIns="0" bIns="0" rtlCol="0" anchor="t"/>
          <a:lstStyle/>
          <a:p>
            <a:pPr indent="0" marL="0">
              <a:buNone/>
            </a:pPr>
            <a:r>
              <a:rPr lang="en-US" sz="1800" b="1" dirty="0">
                <a:solidFill>
                  <a:schemeClr val="accent2"/>
                </a:solidFill>
              </a:rPr>
              <a:t>Read: APB to AXI</a:t>
            </a:r>
            <a:endParaRPr lang="en-US" sz="1800" dirty="0"/>
          </a:p>
        </p:txBody>
      </p:sp>
      <p:graphicFrame>
        <p:nvGraphicFramePr>
          <p:cNvPr id="11" name="write-table"/>
          <p:cNvGraphicFramePr>
            <a:graphicFrameLocks noGrp="1"/>
          </p:cNvGraphicFramePr>
          <p:nvPr>
            <p:extLst>
              <p:ext uri="{D42A27DB-BD31-4B8C-83A1-F6EECF244321}">
                <p14:modId xmlns:p14="http://schemas.microsoft.com/office/powerpoint/2010/main" val="1579011935"/>
              </p:ext>
            </p:extLst>
          </p:nvPr>
        </p:nvGraphicFramePr>
        <p:xfrm>
          <a:off x="548640" y="1828800"/>
          <a:ext cx="5394960" cy="914400"/>
        </p:xfrm>
        <a:graphic>
          <a:graphicData uri="http://schemas.openxmlformats.org/drawingml/2006/table">
            <a:tbl>
              <a:tblPr/>
              <a:tblGrid>
                <a:gridCol w="1188720"/>
                <a:gridCol w="2103120"/>
                <a:gridCol w="2103120"/>
              </a:tblGrid>
              <a:tr h="502920">
                <a:tc>
                  <a:txBody>
                    <a:bodyPr/>
                    <a:lstStyle/>
                    <a:p>
                      <a:pPr indent="0" marL="0">
                        <a:buNone/>
                      </a:pPr>
                      <a:r>
                        <a:rPr lang="en-US" sz="1400" b="1" dirty="0">
                          <a:solidFill>
                            <a:schemeClr val="bg1"/>
                          </a:solidFill>
                        </a:rPr>
                        <a:t>Check</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Expected</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Actual</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tx2"/>
                    </a:solidFill>
                  </a:tcPr>
                </a:tc>
              </a:tr>
              <a:tr h="502920">
                <a:tc>
                  <a:txBody>
                    <a:bodyPr/>
                    <a:lstStyle/>
                    <a:p>
                      <a:pPr indent="0" marL="0">
                        <a:buNone/>
                      </a:pPr>
                      <a:r>
                        <a:rPr lang="en-US" sz="1400" b="1" dirty="0">
                          <a:solidFill>
                            <a:schemeClr val="tx1"/>
                          </a:solidFill>
                        </a:rPr>
                        <a:t>Address</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AWADDR (AXI monitor)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PADDR (APB monitor)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400" b="1" dirty="0">
                          <a:solidFill>
                            <a:schemeClr val="tx1"/>
                          </a:solidFill>
                        </a:rPr>
                        <a:t>Data</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WDATA (AXI monitor)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PWDATA (APB monitor)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400" b="1" dirty="0">
                          <a:solidFill>
                            <a:schemeClr val="tx1"/>
                          </a:solidFill>
                        </a:rPr>
                        <a:t>Response</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OKAY (RTL behaviour)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BRESP</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400" b="1" dirty="0">
                          <a:solidFill>
                            <a:schemeClr val="tx1"/>
                          </a:solidFill>
                        </a:rPr>
                        <a:t>ID / USER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AWID, AWUSER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BID, BUSER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graphicFrame>
        <p:nvGraphicFramePr>
          <p:cNvPr id="21" name="read-table"/>
          <p:cNvGraphicFramePr>
            <a:graphicFrameLocks noGrp="1"/>
          </p:cNvGraphicFramePr>
          <p:nvPr>
            <p:extLst>
              <p:ext uri="{D42A27DB-BD31-4B8C-83A1-F6EECF244321}">
                <p14:modId xmlns:p14="http://schemas.microsoft.com/office/powerpoint/2010/main" val="1579011935"/>
              </p:ext>
            </p:extLst>
          </p:nvPr>
        </p:nvGraphicFramePr>
        <p:xfrm>
          <a:off x="6217920" y="1828800"/>
          <a:ext cx="5394960" cy="914400"/>
        </p:xfrm>
        <a:graphic>
          <a:graphicData uri="http://schemas.openxmlformats.org/drawingml/2006/table">
            <a:tbl>
              <a:tblPr/>
              <a:tblGrid>
                <a:gridCol w="1188720"/>
                <a:gridCol w="2103120"/>
                <a:gridCol w="2103120"/>
              </a:tblGrid>
              <a:tr h="502920">
                <a:tc>
                  <a:txBody>
                    <a:bodyPr/>
                    <a:lstStyle/>
                    <a:p>
                      <a:pPr indent="0" marL="0">
                        <a:buNone/>
                      </a:pPr>
                      <a:r>
                        <a:rPr lang="en-US" sz="1400" b="1" dirty="0">
                          <a:solidFill>
                            <a:schemeClr val="bg1"/>
                          </a:solidFill>
                        </a:rPr>
                        <a:t>Check</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Expected</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Actual</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tx2"/>
                    </a:solidFill>
                  </a:tcPr>
                </a:tc>
              </a:tr>
              <a:tr h="502920">
                <a:tc>
                  <a:txBody>
                    <a:bodyPr/>
                    <a:lstStyle/>
                    <a:p>
                      <a:pPr indent="0" marL="0">
                        <a:buNone/>
                      </a:pPr>
                      <a:r>
                        <a:rPr lang="en-US" sz="1400" b="1" dirty="0">
                          <a:solidFill>
                            <a:schemeClr val="tx1"/>
                          </a:solidFill>
                        </a:rPr>
                        <a:t>Address</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ARADDR (AXI monitor)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PADDR (APB monitor)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400" b="1" dirty="0">
                          <a:solidFill>
                            <a:schemeClr val="tx1"/>
                          </a:solidFill>
                        </a:rPr>
                        <a:t>Data</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PRDATA (APB monitor)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RDATA (AXI monitor)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400" b="1" dirty="0">
                          <a:solidFill>
                            <a:schemeClr val="tx1"/>
                          </a:solidFill>
                        </a:rPr>
                        <a:t>Response</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OKAY, RLAST = 1</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RRESP, RLAST</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400" b="1" dirty="0">
                          <a:solidFill>
                            <a:schemeClr val="tx1"/>
                          </a:solidFill>
                        </a:rPr>
                        <a:t>ID / USER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ARID, ARUSER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RID, RUSER</a:t>
                      </a:r>
                      <a:endParaRPr lang="en-US" sz="1400" dirty="0"/>
                    </a:p>
                  </a:txBody>
                  <a:tcPr marL="91440" marR="91440" marT="45720" marB="4572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7" name="timing-card"/>
          <p:cNvSpPr/>
          <p:nvPr/>
        </p:nvSpPr>
        <p:spPr>
          <a:xfrm>
            <a:off x="548640" y="4617720"/>
            <a:ext cx="11064240" cy="1463040"/>
          </a:xfrm>
          <a:prstGeom prst="roundRect">
            <a:avLst>
              <a:gd name="adj" fmla="val 7500"/>
            </a:avLst>
          </a:prstGeom>
          <a:solidFill>
            <a:schemeClr val="bg2"/>
          </a:solidFill>
          <a:ln/>
        </p:spPr>
      </p:sp>
      <p:sp>
        <p:nvSpPr>
          <p:cNvPr id="8" name="icon-circle"/>
          <p:cNvSpPr/>
          <p:nvPr/>
        </p:nvSpPr>
        <p:spPr>
          <a:xfrm>
            <a:off x="822960" y="5029200"/>
            <a:ext cx="640080" cy="640080"/>
          </a:xfrm>
          <a:prstGeom prst="ellipse">
            <a:avLst/>
          </a:prstGeom>
          <a:solidFill>
            <a:schemeClr val="accent5"/>
          </a:solidFill>
          <a:ln/>
        </p:spPr>
      </p:sp>
      <p:pic>
        <p:nvPicPr>
          <p:cNvPr id="9" name="icon FaShieldAlt" descr="preencoded.png">    </p:cNvPr>
          <p:cNvPicPr>
            <a:picLocks noChangeAspect="1"/>
          </p:cNvPicPr>
          <p:nvPr/>
        </p:nvPicPr>
        <p:blipFill>
          <a:blip r:embed="rId1"/>
          <a:stretch>
            <a:fillRect/>
          </a:stretch>
        </p:blipFill>
        <p:spPr>
          <a:xfrm>
            <a:off x="982980" y="5189220"/>
            <a:ext cx="320040" cy="320040"/>
          </a:xfrm>
          <a:prstGeom prst="rect">
            <a:avLst/>
          </a:prstGeom>
        </p:spPr>
      </p:pic>
      <p:sp>
        <p:nvSpPr>
          <p:cNvPr id="10" name="Text 5"/>
          <p:cNvSpPr txBox="1"/>
          <p:nvPr/>
        </p:nvSpPr>
        <p:spPr>
          <a:xfrm>
            <a:off x="1783080" y="4846320"/>
            <a:ext cx="9509760" cy="1097280"/>
          </a:xfrm>
          <a:prstGeom prst="rect">
            <a:avLst/>
          </a:prstGeom>
          <a:noFill/>
          <a:ln/>
        </p:spPr>
        <p:txBody>
          <a:bodyPr wrap="square" lIns="0" tIns="0" rIns="0" bIns="0" rtlCol="0" anchor="t"/>
          <a:lstStyle/>
          <a:p>
            <a:pPr indent="0" marL="0">
              <a:buNone/>
            </a:pPr>
            <a:r>
              <a:rPr lang="en-US" sz="1400" b="1" dirty="0">
                <a:solidFill>
                  <a:schemeClr val="tx1"/>
                </a:solidFill>
              </a:rPr>
              <a:t>Timing checks too. </a:t>
            </a:r>
            <a:pPr indent="0" marL="0">
              <a:buNone/>
            </a:pPr>
            <a:r>
              <a:rPr lang="en-US" sz="1400" dirty="0">
                <a:solidFill>
                  <a:schemeClr val="tx1"/>
                </a:solidFill>
              </a:rPr>
              <a:t>The APB transfer must start after the AXI request was accepted, and the B or R response must come after the APB transfer completed. Expected values come from the other monitor or from documented RTL behaviour, never from the driver.</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14 directed tests</a:t>
            </a:r>
            <a:endParaRPr lang="en-US" sz="3400" dirty="0"/>
          </a:p>
        </p:txBody>
      </p:sp>
      <p:sp>
        <p:nvSpPr>
          <p:cNvPr id="3" name="test-number"/>
          <p:cNvSpPr/>
          <p:nvPr/>
        </p:nvSpPr>
        <p:spPr>
          <a:xfrm>
            <a:off x="548640" y="1444752"/>
            <a:ext cx="457200" cy="457200"/>
          </a:xfrm>
          <a:prstGeom prst="ellipse">
            <a:avLst/>
          </a:prstGeom>
          <a:solidFill>
            <a:schemeClr val="accent1"/>
          </a:solidFill>
          <a:ln/>
        </p:spPr>
      </p:sp>
      <p:sp>
        <p:nvSpPr>
          <p:cNvPr id="4" name="Text 2"/>
          <p:cNvSpPr txBox="1"/>
          <p:nvPr/>
        </p:nvSpPr>
        <p:spPr>
          <a:xfrm>
            <a:off x="548640" y="144475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188720" y="1371600"/>
            <a:ext cx="4572000" cy="603504"/>
          </a:xfrm>
          <a:prstGeom prst="rect">
            <a:avLst/>
          </a:prstGeom>
          <a:noFill/>
          <a:ln/>
        </p:spPr>
        <p:txBody>
          <a:bodyPr wrap="square" lIns="0" tIns="0" rIns="0" bIns="0" rtlCol="0" anchor="t"/>
          <a:lstStyle/>
          <a:p>
            <a:pPr indent="0" marL="0">
              <a:buNone/>
            </a:pPr>
            <a:r>
              <a:rPr lang="en-US" sz="1500" b="1" dirty="0">
                <a:solidFill>
                  <a:schemeClr val="tx1"/>
                </a:solidFill>
              </a:rPr>
              <a:t>Smoke</a:t>
            </a:r>
            <a:endParaRPr lang="en-US" sz="1400" dirty="0"/>
          </a:p>
          <a:p>
            <a:pPr indent="0" marL="0">
              <a:buNone/>
            </a:pPr>
            <a:r>
              <a:rPr lang="en-US" sz="1400" dirty="0">
                <a:solidFill>
                  <a:schemeClr val="accent4"/>
                </a:solidFill>
              </a:rPr>
              <a:t>Idle check after reset, write then read-back</a:t>
            </a:r>
            <a:endParaRPr lang="en-US" sz="1400" dirty="0"/>
          </a:p>
        </p:txBody>
      </p:sp>
      <p:sp>
        <p:nvSpPr>
          <p:cNvPr id="6" name="test-number"/>
          <p:cNvSpPr/>
          <p:nvPr/>
        </p:nvSpPr>
        <p:spPr>
          <a:xfrm>
            <a:off x="548640" y="2121408"/>
            <a:ext cx="457200" cy="457200"/>
          </a:xfrm>
          <a:prstGeom prst="ellipse">
            <a:avLst/>
          </a:prstGeom>
          <a:solidFill>
            <a:schemeClr val="accent1"/>
          </a:solidFill>
          <a:ln/>
        </p:spPr>
      </p:sp>
      <p:sp>
        <p:nvSpPr>
          <p:cNvPr id="7" name="Text 5"/>
          <p:cNvSpPr txBox="1"/>
          <p:nvPr/>
        </p:nvSpPr>
        <p:spPr>
          <a:xfrm>
            <a:off x="548640" y="21214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1188720" y="2048256"/>
            <a:ext cx="4572000" cy="603504"/>
          </a:xfrm>
          <a:prstGeom prst="rect">
            <a:avLst/>
          </a:prstGeom>
          <a:noFill/>
          <a:ln/>
        </p:spPr>
        <p:txBody>
          <a:bodyPr wrap="square" lIns="0" tIns="0" rIns="0" bIns="0" rtlCol="0" anchor="t"/>
          <a:lstStyle/>
          <a:p>
            <a:pPr indent="0" marL="0">
              <a:buNone/>
            </a:pPr>
            <a:r>
              <a:rPr lang="en-US" sz="1500" b="1" dirty="0">
                <a:solidFill>
                  <a:schemeClr val="tx1"/>
                </a:solidFill>
              </a:rPr>
              <a:t>Single write</a:t>
            </a:r>
            <a:endParaRPr lang="en-US" sz="1400" dirty="0"/>
          </a:p>
          <a:p>
            <a:pPr indent="0" marL="0">
              <a:buNone/>
            </a:pPr>
            <a:r>
              <a:rPr lang="en-US" sz="1400" dirty="0">
                <a:solidFill>
                  <a:schemeClr val="accent4"/>
                </a:solidFill>
              </a:rPr>
              <a:t>PREADY immediate, read-back check</a:t>
            </a:r>
            <a:endParaRPr lang="en-US" sz="1400" dirty="0"/>
          </a:p>
        </p:txBody>
      </p:sp>
      <p:sp>
        <p:nvSpPr>
          <p:cNvPr id="9" name="test-number"/>
          <p:cNvSpPr/>
          <p:nvPr/>
        </p:nvSpPr>
        <p:spPr>
          <a:xfrm>
            <a:off x="548640" y="2798064"/>
            <a:ext cx="457200" cy="457200"/>
          </a:xfrm>
          <a:prstGeom prst="ellipse">
            <a:avLst/>
          </a:prstGeom>
          <a:solidFill>
            <a:schemeClr val="accent1"/>
          </a:solidFill>
          <a:ln/>
        </p:spPr>
      </p:sp>
      <p:sp>
        <p:nvSpPr>
          <p:cNvPr id="10" name="Text 8"/>
          <p:cNvSpPr txBox="1"/>
          <p:nvPr/>
        </p:nvSpPr>
        <p:spPr>
          <a:xfrm>
            <a:off x="548640" y="27980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1188720" y="2724912"/>
            <a:ext cx="4572000" cy="603504"/>
          </a:xfrm>
          <a:prstGeom prst="rect">
            <a:avLst/>
          </a:prstGeom>
          <a:noFill/>
          <a:ln/>
        </p:spPr>
        <p:txBody>
          <a:bodyPr wrap="square" lIns="0" tIns="0" rIns="0" bIns="0" rtlCol="0" anchor="t"/>
          <a:lstStyle/>
          <a:p>
            <a:pPr indent="0" marL="0">
              <a:buNone/>
            </a:pPr>
            <a:r>
              <a:rPr lang="en-US" sz="1500" b="1" dirty="0">
                <a:solidFill>
                  <a:schemeClr val="tx1"/>
                </a:solidFill>
              </a:rPr>
              <a:t>Single read</a:t>
            </a:r>
            <a:endParaRPr lang="en-US" sz="1400" dirty="0"/>
          </a:p>
          <a:p>
            <a:pPr indent="0" marL="0">
              <a:buNone/>
            </a:pPr>
            <a:r>
              <a:rPr lang="en-US" sz="1400" dirty="0">
                <a:solidFill>
                  <a:schemeClr val="accent4"/>
                </a:solidFill>
              </a:rPr>
              <a:t>Preloaded and forced PRDATA</a:t>
            </a:r>
            <a:endParaRPr lang="en-US" sz="1400" dirty="0"/>
          </a:p>
        </p:txBody>
      </p:sp>
      <p:sp>
        <p:nvSpPr>
          <p:cNvPr id="12" name="test-number"/>
          <p:cNvSpPr/>
          <p:nvPr/>
        </p:nvSpPr>
        <p:spPr>
          <a:xfrm>
            <a:off x="548640" y="3474720"/>
            <a:ext cx="457200" cy="457200"/>
          </a:xfrm>
          <a:prstGeom prst="ellipse">
            <a:avLst/>
          </a:prstGeom>
          <a:solidFill>
            <a:schemeClr val="accent1"/>
          </a:solidFill>
          <a:ln/>
        </p:spPr>
      </p:sp>
      <p:sp>
        <p:nvSpPr>
          <p:cNvPr id="13" name="Text 11"/>
          <p:cNvSpPr txBox="1"/>
          <p:nvPr/>
        </p:nvSpPr>
        <p:spPr>
          <a:xfrm>
            <a:off x="54864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1188720" y="3401568"/>
            <a:ext cx="4572000" cy="603504"/>
          </a:xfrm>
          <a:prstGeom prst="rect">
            <a:avLst/>
          </a:prstGeom>
          <a:noFill/>
          <a:ln/>
        </p:spPr>
        <p:txBody>
          <a:bodyPr wrap="square" lIns="0" tIns="0" rIns="0" bIns="0" rtlCol="0" anchor="t"/>
          <a:lstStyle/>
          <a:p>
            <a:pPr indent="0" marL="0">
              <a:buNone/>
            </a:pPr>
            <a:r>
              <a:rPr lang="en-US" sz="1500" b="1" dirty="0">
                <a:solidFill>
                  <a:schemeClr val="tx1"/>
                </a:solidFill>
              </a:rPr>
              <a:t>Write wait states</a:t>
            </a:r>
            <a:endParaRPr lang="en-US" sz="1400" dirty="0"/>
          </a:p>
          <a:p>
            <a:pPr indent="0" marL="0">
              <a:buNone/>
            </a:pPr>
            <a:r>
              <a:rPr lang="en-US" sz="1400" dirty="0">
                <a:solidFill>
                  <a:schemeClr val="accent4"/>
                </a:solidFill>
              </a:rPr>
              <a:t>PREADY low for 0 to 10 cycles</a:t>
            </a:r>
            <a:endParaRPr lang="en-US" sz="1400" dirty="0"/>
          </a:p>
        </p:txBody>
      </p:sp>
      <p:sp>
        <p:nvSpPr>
          <p:cNvPr id="15" name="test-number"/>
          <p:cNvSpPr/>
          <p:nvPr/>
        </p:nvSpPr>
        <p:spPr>
          <a:xfrm>
            <a:off x="548640" y="4151376"/>
            <a:ext cx="457200" cy="457200"/>
          </a:xfrm>
          <a:prstGeom prst="ellipse">
            <a:avLst/>
          </a:prstGeom>
          <a:solidFill>
            <a:schemeClr val="accent1"/>
          </a:solidFill>
          <a:ln/>
        </p:spPr>
      </p:sp>
      <p:sp>
        <p:nvSpPr>
          <p:cNvPr id="16" name="Text 14"/>
          <p:cNvSpPr txBox="1"/>
          <p:nvPr/>
        </p:nvSpPr>
        <p:spPr>
          <a:xfrm>
            <a:off x="548640" y="41513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ext 15"/>
          <p:cNvSpPr txBox="1"/>
          <p:nvPr/>
        </p:nvSpPr>
        <p:spPr>
          <a:xfrm>
            <a:off x="1188720" y="4078224"/>
            <a:ext cx="4572000" cy="603504"/>
          </a:xfrm>
          <a:prstGeom prst="rect">
            <a:avLst/>
          </a:prstGeom>
          <a:noFill/>
          <a:ln/>
        </p:spPr>
        <p:txBody>
          <a:bodyPr wrap="square" lIns="0" tIns="0" rIns="0" bIns="0" rtlCol="0" anchor="t"/>
          <a:lstStyle/>
          <a:p>
            <a:pPr indent="0" marL="0">
              <a:buNone/>
            </a:pPr>
            <a:r>
              <a:rPr lang="en-US" sz="1500" b="1" dirty="0">
                <a:solidFill>
                  <a:schemeClr val="tx1"/>
                </a:solidFill>
              </a:rPr>
              <a:t>Read wait states</a:t>
            </a:r>
            <a:endParaRPr lang="en-US" sz="1400" dirty="0"/>
          </a:p>
          <a:p>
            <a:pPr indent="0" marL="0">
              <a:buNone/>
            </a:pPr>
            <a:r>
              <a:rPr lang="en-US" sz="1400" dirty="0">
                <a:solidFill>
                  <a:schemeClr val="accent4"/>
                </a:solidFill>
              </a:rPr>
              <a:t>Same sweep for reads</a:t>
            </a:r>
            <a:endParaRPr lang="en-US" sz="1400" dirty="0"/>
          </a:p>
        </p:txBody>
      </p:sp>
      <p:sp>
        <p:nvSpPr>
          <p:cNvPr id="18" name="test-number"/>
          <p:cNvSpPr/>
          <p:nvPr/>
        </p:nvSpPr>
        <p:spPr>
          <a:xfrm>
            <a:off x="548640" y="4828032"/>
            <a:ext cx="457200" cy="457200"/>
          </a:xfrm>
          <a:prstGeom prst="ellipse">
            <a:avLst/>
          </a:prstGeom>
          <a:solidFill>
            <a:schemeClr val="accent1"/>
          </a:solidFill>
          <a:ln/>
        </p:spPr>
      </p:sp>
      <p:sp>
        <p:nvSpPr>
          <p:cNvPr id="19" name="Text 17"/>
          <p:cNvSpPr txBox="1"/>
          <p:nvPr/>
        </p:nvSpPr>
        <p:spPr>
          <a:xfrm>
            <a:off x="548640" y="482803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ext 18"/>
          <p:cNvSpPr txBox="1"/>
          <p:nvPr/>
        </p:nvSpPr>
        <p:spPr>
          <a:xfrm>
            <a:off x="1188720" y="4754880"/>
            <a:ext cx="4572000" cy="603504"/>
          </a:xfrm>
          <a:prstGeom prst="rect">
            <a:avLst/>
          </a:prstGeom>
          <a:noFill/>
          <a:ln/>
        </p:spPr>
        <p:txBody>
          <a:bodyPr wrap="square" lIns="0" tIns="0" rIns="0" bIns="0" rtlCol="0" anchor="t"/>
          <a:lstStyle/>
          <a:p>
            <a:pPr indent="0" marL="0">
              <a:buNone/>
            </a:pPr>
            <a:r>
              <a:rPr lang="en-US" sz="1500" b="1" dirty="0">
                <a:solidFill>
                  <a:schemeClr val="tx1"/>
                </a:solidFill>
              </a:rPr>
              <a:t>RREADY delay</a:t>
            </a:r>
            <a:endParaRPr lang="en-US" sz="1400" dirty="0"/>
          </a:p>
          <a:p>
            <a:pPr indent="0" marL="0">
              <a:buNone/>
            </a:pPr>
            <a:r>
              <a:rPr lang="en-US" sz="1400" dirty="0">
                <a:solidFill>
                  <a:schemeClr val="accent4"/>
                </a:solidFill>
              </a:rPr>
              <a:t>Back-pressure on the R channel</a:t>
            </a:r>
            <a:endParaRPr lang="en-US" sz="1400" dirty="0"/>
          </a:p>
        </p:txBody>
      </p:sp>
      <p:sp>
        <p:nvSpPr>
          <p:cNvPr id="21" name="test-number"/>
          <p:cNvSpPr/>
          <p:nvPr/>
        </p:nvSpPr>
        <p:spPr>
          <a:xfrm>
            <a:off x="548640" y="5504688"/>
            <a:ext cx="457200" cy="457200"/>
          </a:xfrm>
          <a:prstGeom prst="ellipse">
            <a:avLst/>
          </a:prstGeom>
          <a:solidFill>
            <a:schemeClr val="accent1"/>
          </a:solidFill>
          <a:ln/>
        </p:spPr>
      </p:sp>
      <p:sp>
        <p:nvSpPr>
          <p:cNvPr id="22" name="Text 20"/>
          <p:cNvSpPr txBox="1"/>
          <p:nvPr/>
        </p:nvSpPr>
        <p:spPr>
          <a:xfrm>
            <a:off x="548640" y="550468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ext 21"/>
          <p:cNvSpPr txBox="1"/>
          <p:nvPr/>
        </p:nvSpPr>
        <p:spPr>
          <a:xfrm>
            <a:off x="1188720" y="5431536"/>
            <a:ext cx="4572000" cy="603504"/>
          </a:xfrm>
          <a:prstGeom prst="rect">
            <a:avLst/>
          </a:prstGeom>
          <a:noFill/>
          <a:ln/>
        </p:spPr>
        <p:txBody>
          <a:bodyPr wrap="square" lIns="0" tIns="0" rIns="0" bIns="0" rtlCol="0" anchor="t"/>
          <a:lstStyle/>
          <a:p>
            <a:pPr indent="0" marL="0">
              <a:buNone/>
            </a:pPr>
            <a:r>
              <a:rPr lang="en-US" sz="1500" b="1" dirty="0">
                <a:solidFill>
                  <a:schemeClr val="tx1"/>
                </a:solidFill>
              </a:rPr>
              <a:t>BREADY delay</a:t>
            </a:r>
            <a:endParaRPr lang="en-US" sz="1400" dirty="0"/>
          </a:p>
          <a:p>
            <a:pPr indent="0" marL="0">
              <a:buNone/>
            </a:pPr>
            <a:r>
              <a:rPr lang="en-US" sz="1400" dirty="0">
                <a:solidFill>
                  <a:schemeClr val="accent4"/>
                </a:solidFill>
              </a:rPr>
              <a:t>Back-pressure on the B channel</a:t>
            </a:r>
            <a:endParaRPr lang="en-US" sz="1400" dirty="0"/>
          </a:p>
        </p:txBody>
      </p:sp>
      <p:sp>
        <p:nvSpPr>
          <p:cNvPr id="24" name="test-number"/>
          <p:cNvSpPr/>
          <p:nvPr/>
        </p:nvSpPr>
        <p:spPr>
          <a:xfrm>
            <a:off x="6217920" y="1444752"/>
            <a:ext cx="457200" cy="457200"/>
          </a:xfrm>
          <a:prstGeom prst="ellipse">
            <a:avLst/>
          </a:prstGeom>
          <a:solidFill>
            <a:schemeClr val="accent2"/>
          </a:solidFill>
          <a:ln/>
        </p:spPr>
      </p:sp>
      <p:sp>
        <p:nvSpPr>
          <p:cNvPr id="25" name="Text 23"/>
          <p:cNvSpPr txBox="1"/>
          <p:nvPr/>
        </p:nvSpPr>
        <p:spPr>
          <a:xfrm>
            <a:off x="6217920" y="144475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26" name="Text 24"/>
          <p:cNvSpPr txBox="1"/>
          <p:nvPr/>
        </p:nvSpPr>
        <p:spPr>
          <a:xfrm>
            <a:off x="6858000" y="1371600"/>
            <a:ext cx="4572000" cy="603504"/>
          </a:xfrm>
          <a:prstGeom prst="rect">
            <a:avLst/>
          </a:prstGeom>
          <a:noFill/>
          <a:ln/>
        </p:spPr>
        <p:txBody>
          <a:bodyPr wrap="square" lIns="0" tIns="0" rIns="0" bIns="0" rtlCol="0" anchor="t"/>
          <a:lstStyle/>
          <a:p>
            <a:pPr indent="0" marL="0">
              <a:buNone/>
            </a:pPr>
            <a:r>
              <a:rPr lang="en-US" sz="1500" b="1" dirty="0">
                <a:solidFill>
                  <a:schemeClr val="tx1"/>
                </a:solidFill>
              </a:rPr>
              <a:t>Read/write priority</a:t>
            </a:r>
            <a:endParaRPr lang="en-US" sz="1400" dirty="0"/>
          </a:p>
          <a:p>
            <a:pPr indent="0" marL="0">
              <a:buNone/>
            </a:pPr>
            <a:r>
              <a:rPr lang="en-US" sz="1400" dirty="0">
                <a:solidFill>
                  <a:schemeClr val="accent4"/>
                </a:solidFill>
              </a:rPr>
              <a:t>Both pending, read must go first</a:t>
            </a:r>
            <a:endParaRPr lang="en-US" sz="1400" dirty="0"/>
          </a:p>
        </p:txBody>
      </p:sp>
      <p:sp>
        <p:nvSpPr>
          <p:cNvPr id="27" name="test-number"/>
          <p:cNvSpPr/>
          <p:nvPr/>
        </p:nvSpPr>
        <p:spPr>
          <a:xfrm>
            <a:off x="6217920" y="2121408"/>
            <a:ext cx="457200" cy="457200"/>
          </a:xfrm>
          <a:prstGeom prst="ellipse">
            <a:avLst/>
          </a:prstGeom>
          <a:solidFill>
            <a:schemeClr val="accent1"/>
          </a:solidFill>
          <a:ln/>
        </p:spPr>
      </p:sp>
      <p:sp>
        <p:nvSpPr>
          <p:cNvPr id="28" name="Text 26"/>
          <p:cNvSpPr txBox="1"/>
          <p:nvPr/>
        </p:nvSpPr>
        <p:spPr>
          <a:xfrm>
            <a:off x="6217920" y="21214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29" name="Text 27"/>
          <p:cNvSpPr txBox="1"/>
          <p:nvPr/>
        </p:nvSpPr>
        <p:spPr>
          <a:xfrm>
            <a:off x="6858000" y="2048256"/>
            <a:ext cx="4572000" cy="603504"/>
          </a:xfrm>
          <a:prstGeom prst="rect">
            <a:avLst/>
          </a:prstGeom>
          <a:noFill/>
          <a:ln/>
        </p:spPr>
        <p:txBody>
          <a:bodyPr wrap="square" lIns="0" tIns="0" rIns="0" bIns="0" rtlCol="0" anchor="t"/>
          <a:lstStyle/>
          <a:p>
            <a:pPr indent="0" marL="0">
              <a:buNone/>
            </a:pPr>
            <a:r>
              <a:rPr lang="en-US" sz="1500" b="1" dirty="0">
                <a:solidFill>
                  <a:schemeClr val="tx1"/>
                </a:solidFill>
              </a:rPr>
              <a:t>Back-to-back reads</a:t>
            </a:r>
            <a:endParaRPr lang="en-US" sz="1400" dirty="0"/>
          </a:p>
          <a:p>
            <a:pPr indent="0" marL="0">
              <a:buNone/>
            </a:pPr>
            <a:r>
              <a:rPr lang="en-US" sz="1400" dirty="0">
                <a:solidFill>
                  <a:schemeClr val="accent4"/>
                </a:solidFill>
              </a:rPr>
              <a:t>Eight pipelined reads</a:t>
            </a:r>
            <a:endParaRPr lang="en-US" sz="1400" dirty="0"/>
          </a:p>
        </p:txBody>
      </p:sp>
      <p:sp>
        <p:nvSpPr>
          <p:cNvPr id="30" name="test-number"/>
          <p:cNvSpPr/>
          <p:nvPr/>
        </p:nvSpPr>
        <p:spPr>
          <a:xfrm>
            <a:off x="6217920" y="2798064"/>
            <a:ext cx="457200" cy="457200"/>
          </a:xfrm>
          <a:prstGeom prst="ellipse">
            <a:avLst/>
          </a:prstGeom>
          <a:solidFill>
            <a:schemeClr val="accent1"/>
          </a:solidFill>
          <a:ln/>
        </p:spPr>
      </p:sp>
      <p:sp>
        <p:nvSpPr>
          <p:cNvPr id="31" name="Text 29"/>
          <p:cNvSpPr txBox="1"/>
          <p:nvPr/>
        </p:nvSpPr>
        <p:spPr>
          <a:xfrm>
            <a:off x="6217920" y="27980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32" name="Text 30"/>
          <p:cNvSpPr txBox="1"/>
          <p:nvPr/>
        </p:nvSpPr>
        <p:spPr>
          <a:xfrm>
            <a:off x="6858000" y="2724912"/>
            <a:ext cx="4572000" cy="603504"/>
          </a:xfrm>
          <a:prstGeom prst="rect">
            <a:avLst/>
          </a:prstGeom>
          <a:noFill/>
          <a:ln/>
        </p:spPr>
        <p:txBody>
          <a:bodyPr wrap="square" lIns="0" tIns="0" rIns="0" bIns="0" rtlCol="0" anchor="t"/>
          <a:lstStyle/>
          <a:p>
            <a:pPr indent="0" marL="0">
              <a:buNone/>
            </a:pPr>
            <a:r>
              <a:rPr lang="en-US" sz="1500" b="1" dirty="0">
                <a:solidFill>
                  <a:schemeClr val="tx1"/>
                </a:solidFill>
              </a:rPr>
              <a:t>Back-to-back writes</a:t>
            </a:r>
            <a:endParaRPr lang="en-US" sz="1400" dirty="0"/>
          </a:p>
          <a:p>
            <a:pPr indent="0" marL="0">
              <a:buNone/>
            </a:pPr>
            <a:r>
              <a:rPr lang="en-US" sz="1400" dirty="0">
                <a:solidFill>
                  <a:schemeClr val="accent4"/>
                </a:solidFill>
              </a:rPr>
              <a:t>Eight writes, then read-back</a:t>
            </a:r>
            <a:endParaRPr lang="en-US" sz="1400" dirty="0"/>
          </a:p>
        </p:txBody>
      </p:sp>
      <p:sp>
        <p:nvSpPr>
          <p:cNvPr id="33" name="test-number"/>
          <p:cNvSpPr/>
          <p:nvPr/>
        </p:nvSpPr>
        <p:spPr>
          <a:xfrm>
            <a:off x="6217920" y="3474720"/>
            <a:ext cx="457200" cy="457200"/>
          </a:xfrm>
          <a:prstGeom prst="ellipse">
            <a:avLst/>
          </a:prstGeom>
          <a:solidFill>
            <a:schemeClr val="accent1"/>
          </a:solidFill>
          <a:ln/>
        </p:spPr>
      </p:sp>
      <p:sp>
        <p:nvSpPr>
          <p:cNvPr id="34" name="Text 32"/>
          <p:cNvSpPr txBox="1"/>
          <p:nvPr/>
        </p:nvSpPr>
        <p:spPr>
          <a:xfrm>
            <a:off x="621792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35" name="Text 33"/>
          <p:cNvSpPr txBox="1"/>
          <p:nvPr/>
        </p:nvSpPr>
        <p:spPr>
          <a:xfrm>
            <a:off x="6858000" y="3401568"/>
            <a:ext cx="4572000" cy="603504"/>
          </a:xfrm>
          <a:prstGeom prst="rect">
            <a:avLst/>
          </a:prstGeom>
          <a:noFill/>
          <a:ln/>
        </p:spPr>
        <p:txBody>
          <a:bodyPr wrap="square" lIns="0" tIns="0" rIns="0" bIns="0" rtlCol="0" anchor="t"/>
          <a:lstStyle/>
          <a:p>
            <a:pPr indent="0" marL="0">
              <a:buNone/>
            </a:pPr>
            <a:r>
              <a:rPr lang="en-US" sz="1500" b="1" dirty="0">
                <a:solidFill>
                  <a:schemeClr val="tx1"/>
                </a:solidFill>
              </a:rPr>
              <a:t>Mixed traffic</a:t>
            </a:r>
            <a:endParaRPr lang="en-US" sz="1400" dirty="0"/>
          </a:p>
          <a:p>
            <a:pPr indent="0" marL="0">
              <a:buNone/>
            </a:pPr>
            <a:r>
              <a:rPr lang="en-US" sz="1400" dirty="0">
                <a:solidFill>
                  <a:schemeClr val="accent4"/>
                </a:solidFill>
              </a:rPr>
              <a:t>Writes and reads, varied waits</a:t>
            </a:r>
            <a:endParaRPr lang="en-US" sz="1400" dirty="0"/>
          </a:p>
        </p:txBody>
      </p:sp>
      <p:sp>
        <p:nvSpPr>
          <p:cNvPr id="36" name="test-number"/>
          <p:cNvSpPr/>
          <p:nvPr/>
        </p:nvSpPr>
        <p:spPr>
          <a:xfrm>
            <a:off x="6217920" y="4151376"/>
            <a:ext cx="457200" cy="457200"/>
          </a:xfrm>
          <a:prstGeom prst="ellipse">
            <a:avLst/>
          </a:prstGeom>
          <a:solidFill>
            <a:schemeClr val="accent1"/>
          </a:solidFill>
          <a:ln/>
        </p:spPr>
      </p:sp>
      <p:sp>
        <p:nvSpPr>
          <p:cNvPr id="37" name="Text 35"/>
          <p:cNvSpPr txBox="1"/>
          <p:nvPr/>
        </p:nvSpPr>
        <p:spPr>
          <a:xfrm>
            <a:off x="6217920" y="41513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38" name="Text 36"/>
          <p:cNvSpPr txBox="1"/>
          <p:nvPr/>
        </p:nvSpPr>
        <p:spPr>
          <a:xfrm>
            <a:off x="6858000" y="4078224"/>
            <a:ext cx="4572000" cy="603504"/>
          </a:xfrm>
          <a:prstGeom prst="rect">
            <a:avLst/>
          </a:prstGeom>
          <a:noFill/>
          <a:ln/>
        </p:spPr>
        <p:txBody>
          <a:bodyPr wrap="square" lIns="0" tIns="0" rIns="0" bIns="0" rtlCol="0" anchor="t"/>
          <a:lstStyle/>
          <a:p>
            <a:pPr indent="0" marL="0">
              <a:buNone/>
            </a:pPr>
            <a:r>
              <a:rPr lang="en-US" sz="1500" b="1" dirty="0">
                <a:solidFill>
                  <a:schemeClr val="tx1"/>
                </a:solidFill>
              </a:rPr>
              <a:t>ID and USER</a:t>
            </a:r>
            <a:endParaRPr lang="en-US" sz="1400" dirty="0"/>
          </a:p>
          <a:p>
            <a:pPr indent="0" marL="0">
              <a:buNone/>
            </a:pPr>
            <a:r>
              <a:rPr lang="en-US" sz="1400" dirty="0">
                <a:solidFill>
                  <a:schemeClr val="accent4"/>
                </a:solidFill>
              </a:rPr>
              <a:t>Propagation to B and R</a:t>
            </a:r>
            <a:endParaRPr lang="en-US" sz="1400" dirty="0"/>
          </a:p>
        </p:txBody>
      </p:sp>
      <p:sp>
        <p:nvSpPr>
          <p:cNvPr id="39" name="test-number"/>
          <p:cNvSpPr/>
          <p:nvPr/>
        </p:nvSpPr>
        <p:spPr>
          <a:xfrm>
            <a:off x="6217920" y="4828032"/>
            <a:ext cx="457200" cy="457200"/>
          </a:xfrm>
          <a:prstGeom prst="ellipse">
            <a:avLst/>
          </a:prstGeom>
          <a:solidFill>
            <a:schemeClr val="accent1"/>
          </a:solidFill>
          <a:ln/>
        </p:spPr>
      </p:sp>
      <p:sp>
        <p:nvSpPr>
          <p:cNvPr id="40" name="Text 38"/>
          <p:cNvSpPr txBox="1"/>
          <p:nvPr/>
        </p:nvSpPr>
        <p:spPr>
          <a:xfrm>
            <a:off x="6217920" y="482803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13</a:t>
            </a:r>
            <a:endParaRPr lang="en-US" sz="1400" dirty="0"/>
          </a:p>
        </p:txBody>
      </p:sp>
      <p:sp>
        <p:nvSpPr>
          <p:cNvPr id="41" name="Text 39"/>
          <p:cNvSpPr txBox="1"/>
          <p:nvPr/>
        </p:nvSpPr>
        <p:spPr>
          <a:xfrm>
            <a:off x="6858000" y="4754880"/>
            <a:ext cx="4572000" cy="603504"/>
          </a:xfrm>
          <a:prstGeom prst="rect">
            <a:avLst/>
          </a:prstGeom>
          <a:noFill/>
          <a:ln/>
        </p:spPr>
        <p:txBody>
          <a:bodyPr wrap="square" lIns="0" tIns="0" rIns="0" bIns="0" rtlCol="0" anchor="t"/>
          <a:lstStyle/>
          <a:p>
            <a:pPr indent="0" marL="0">
              <a:buNone/>
            </a:pPr>
            <a:r>
              <a:rPr lang="en-US" sz="1500" b="1" dirty="0">
                <a:solidFill>
                  <a:schemeClr val="tx1"/>
                </a:solidFill>
              </a:rPr>
              <a:t>PSLVERR</a:t>
            </a:r>
            <a:endParaRPr lang="en-US" sz="1400" dirty="0"/>
          </a:p>
          <a:p>
            <a:pPr indent="0" marL="0">
              <a:buNone/>
            </a:pPr>
            <a:r>
              <a:rPr lang="en-US" sz="1400" dirty="0">
                <a:solidFill>
                  <a:schemeClr val="accent4"/>
                </a:solidFill>
              </a:rPr>
              <a:t>Documents that it is ignored</a:t>
            </a:r>
            <a:endParaRPr lang="en-US" sz="1400" dirty="0"/>
          </a:p>
        </p:txBody>
      </p:sp>
      <p:sp>
        <p:nvSpPr>
          <p:cNvPr id="42" name="test-number"/>
          <p:cNvSpPr/>
          <p:nvPr/>
        </p:nvSpPr>
        <p:spPr>
          <a:xfrm>
            <a:off x="6217920" y="5504688"/>
            <a:ext cx="457200" cy="457200"/>
          </a:xfrm>
          <a:prstGeom prst="ellipse">
            <a:avLst/>
          </a:prstGeom>
          <a:solidFill>
            <a:schemeClr val="accent1"/>
          </a:solidFill>
          <a:ln/>
        </p:spPr>
      </p:sp>
      <p:sp>
        <p:nvSpPr>
          <p:cNvPr id="43" name="Text 41"/>
          <p:cNvSpPr txBox="1"/>
          <p:nvPr/>
        </p:nvSpPr>
        <p:spPr>
          <a:xfrm>
            <a:off x="6217920" y="550468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14</a:t>
            </a:r>
            <a:endParaRPr lang="en-US" sz="1400" dirty="0"/>
          </a:p>
        </p:txBody>
      </p:sp>
      <p:sp>
        <p:nvSpPr>
          <p:cNvPr id="44" name="Text 42"/>
          <p:cNvSpPr txBox="1"/>
          <p:nvPr/>
        </p:nvSpPr>
        <p:spPr>
          <a:xfrm>
            <a:off x="6858000" y="5431536"/>
            <a:ext cx="4572000" cy="603504"/>
          </a:xfrm>
          <a:prstGeom prst="rect">
            <a:avLst/>
          </a:prstGeom>
          <a:noFill/>
          <a:ln/>
        </p:spPr>
        <p:txBody>
          <a:bodyPr wrap="square" lIns="0" tIns="0" rIns="0" bIns="0" rtlCol="0" anchor="t"/>
          <a:lstStyle/>
          <a:p>
            <a:pPr indent="0" marL="0">
              <a:buNone/>
            </a:pPr>
            <a:r>
              <a:rPr lang="en-US" sz="1500" b="1" dirty="0">
                <a:solidFill>
                  <a:schemeClr val="tx1"/>
                </a:solidFill>
              </a:rPr>
              <a:t>WSTRB</a:t>
            </a:r>
            <a:endParaRPr lang="en-US" sz="1400" dirty="0"/>
          </a:p>
          <a:p>
            <a:pPr indent="0" marL="0">
              <a:buNone/>
            </a:pPr>
            <a:r>
              <a:rPr lang="en-US" sz="1400" dirty="0">
                <a:solidFill>
                  <a:schemeClr val="accent4"/>
                </a:solidFill>
              </a:rPr>
              <a:t>Documents the full-word write</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Deep dive: read vs write priority</a:t>
            </a:r>
            <a:endParaRPr lang="en-US" sz="3400" dirty="0"/>
          </a:p>
        </p:txBody>
      </p:sp>
      <p:sp>
        <p:nvSpPr>
          <p:cNvPr id="3" name="step-card"/>
          <p:cNvSpPr/>
          <p:nvPr/>
        </p:nvSpPr>
        <p:spPr>
          <a:xfrm>
            <a:off x="548640" y="1417320"/>
            <a:ext cx="2560320" cy="2377440"/>
          </a:xfrm>
          <a:prstGeom prst="roundRect">
            <a:avLst>
              <a:gd name="adj" fmla="val 4615"/>
            </a:avLst>
          </a:prstGeom>
          <a:solidFill>
            <a:schemeClr val="bg2"/>
          </a:solidFill>
          <a:ln/>
        </p:spPr>
      </p:sp>
      <p:sp>
        <p:nvSpPr>
          <p:cNvPr id="4" name="step-number"/>
          <p:cNvSpPr/>
          <p:nvPr/>
        </p:nvSpPr>
        <p:spPr>
          <a:xfrm>
            <a:off x="777240" y="1645920"/>
            <a:ext cx="502920" cy="502920"/>
          </a:xfrm>
          <a:prstGeom prst="ellipse">
            <a:avLst/>
          </a:prstGeom>
          <a:solidFill>
            <a:schemeClr val="accent1"/>
          </a:solidFill>
          <a:ln/>
        </p:spPr>
      </p:sp>
      <p:sp>
        <p:nvSpPr>
          <p:cNvPr id="5" name="Text 3"/>
          <p:cNvSpPr txBox="1"/>
          <p:nvPr/>
        </p:nvSpPr>
        <p:spPr>
          <a:xfrm>
            <a:off x="77724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77240" y="2286000"/>
            <a:ext cx="2194560" cy="548640"/>
          </a:xfrm>
          <a:prstGeom prst="rect">
            <a:avLst/>
          </a:prstGeom>
          <a:noFill/>
          <a:ln/>
        </p:spPr>
        <p:txBody>
          <a:bodyPr wrap="square" lIns="0" tIns="0" rIns="0" bIns="0" rtlCol="0" anchor="t"/>
          <a:lstStyle/>
          <a:p>
            <a:pPr indent="0" marL="0">
              <a:buNone/>
            </a:pPr>
            <a:r>
              <a:rPr lang="en-US" sz="1600" b="1" dirty="0">
                <a:solidFill>
                  <a:schemeClr val="tx1"/>
                </a:solidFill>
              </a:rPr>
              <a:t>Dispatch together</a:t>
            </a:r>
            <a:endParaRPr lang="en-US" sz="1600" dirty="0"/>
          </a:p>
        </p:txBody>
      </p:sp>
      <p:sp>
        <p:nvSpPr>
          <p:cNvPr id="7" name="Text 5"/>
          <p:cNvSpPr txBox="1"/>
          <p:nvPr/>
        </p:nvSpPr>
        <p:spPr>
          <a:xfrm>
            <a:off x="777240" y="2880360"/>
            <a:ext cx="2194560" cy="868680"/>
          </a:xfrm>
          <a:prstGeom prst="rect">
            <a:avLst/>
          </a:prstGeom>
          <a:noFill/>
          <a:ln/>
        </p:spPr>
        <p:txBody>
          <a:bodyPr wrap="square" lIns="0" tIns="0" rIns="0" bIns="0" rtlCol="0" anchor="t"/>
          <a:lstStyle/>
          <a:p>
            <a:pPr indent="0" marL="0">
              <a:buNone/>
            </a:pPr>
            <a:r>
              <a:rPr lang="en-US" sz="1400" dirty="0">
                <a:solidFill>
                  <a:schemeClr val="accent4"/>
                </a:solidFill>
              </a:rPr>
              <a:t>The vseq sends the write and the read with wait_resp = 0, so neither waits for the other.</a:t>
            </a:r>
            <a:endParaRPr lang="en-US" sz="1400" dirty="0"/>
          </a:p>
        </p:txBody>
      </p:sp>
      <p:sp>
        <p:nvSpPr>
          <p:cNvPr id="8" name="step-card"/>
          <p:cNvSpPr/>
          <p:nvPr/>
        </p:nvSpPr>
        <p:spPr>
          <a:xfrm>
            <a:off x="3383280" y="1417320"/>
            <a:ext cx="2560320" cy="2377440"/>
          </a:xfrm>
          <a:prstGeom prst="roundRect">
            <a:avLst>
              <a:gd name="adj" fmla="val 4615"/>
            </a:avLst>
          </a:prstGeom>
          <a:solidFill>
            <a:schemeClr val="bg2"/>
          </a:solidFill>
          <a:ln/>
        </p:spPr>
      </p:sp>
      <p:sp>
        <p:nvSpPr>
          <p:cNvPr id="9" name="step-number"/>
          <p:cNvSpPr/>
          <p:nvPr/>
        </p:nvSpPr>
        <p:spPr>
          <a:xfrm>
            <a:off x="3611880" y="1645920"/>
            <a:ext cx="502920" cy="502920"/>
          </a:xfrm>
          <a:prstGeom prst="ellipse">
            <a:avLst/>
          </a:prstGeom>
          <a:solidFill>
            <a:schemeClr val="accent1"/>
          </a:solidFill>
          <a:ln/>
        </p:spPr>
      </p:sp>
      <p:sp>
        <p:nvSpPr>
          <p:cNvPr id="10" name="Text 8"/>
          <p:cNvSpPr txBox="1"/>
          <p:nvPr/>
        </p:nvSpPr>
        <p:spPr>
          <a:xfrm>
            <a:off x="361188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3611880" y="2286000"/>
            <a:ext cx="2194560" cy="548640"/>
          </a:xfrm>
          <a:prstGeom prst="rect">
            <a:avLst/>
          </a:prstGeom>
          <a:noFill/>
          <a:ln/>
        </p:spPr>
        <p:txBody>
          <a:bodyPr wrap="square" lIns="0" tIns="0" rIns="0" bIns="0" rtlCol="0" anchor="t"/>
          <a:lstStyle/>
          <a:p>
            <a:pPr indent="0" marL="0">
              <a:buNone/>
            </a:pPr>
            <a:r>
              <a:rPr lang="en-US" sz="1600" b="1" dirty="0">
                <a:solidFill>
                  <a:schemeClr val="tx1"/>
                </a:solidFill>
              </a:rPr>
              <a:t>Valid in the same cycle</a:t>
            </a:r>
            <a:endParaRPr lang="en-US" sz="1600" dirty="0"/>
          </a:p>
        </p:txBody>
      </p:sp>
      <p:sp>
        <p:nvSpPr>
          <p:cNvPr id="12" name="Text 10"/>
          <p:cNvSpPr txBox="1"/>
          <p:nvPr/>
        </p:nvSpPr>
        <p:spPr>
          <a:xfrm>
            <a:off x="3611880" y="2880360"/>
            <a:ext cx="2194560" cy="868680"/>
          </a:xfrm>
          <a:prstGeom prst="rect">
            <a:avLst/>
          </a:prstGeom>
          <a:noFill/>
          <a:ln/>
        </p:spPr>
        <p:txBody>
          <a:bodyPr wrap="square" lIns="0" tIns="0" rIns="0" bIns="0" rtlCol="0" anchor="t"/>
          <a:lstStyle/>
          <a:p>
            <a:pPr indent="0" marL="0">
              <a:buNone/>
            </a:pPr>
            <a:r>
              <a:rPr lang="en-US" sz="1400" dirty="0">
                <a:solidFill>
                  <a:schemeClr val="accent4"/>
                </a:solidFill>
              </a:rPr>
              <a:t>The AW, W and AR engines all raise VALID on the same negedge.</a:t>
            </a:r>
            <a:endParaRPr lang="en-US" sz="1400" dirty="0"/>
          </a:p>
        </p:txBody>
      </p:sp>
      <p:sp>
        <p:nvSpPr>
          <p:cNvPr id="13" name="step-card"/>
          <p:cNvSpPr/>
          <p:nvPr/>
        </p:nvSpPr>
        <p:spPr>
          <a:xfrm>
            <a:off x="6217920" y="1417320"/>
            <a:ext cx="2560320" cy="2377440"/>
          </a:xfrm>
          <a:prstGeom prst="roundRect">
            <a:avLst>
              <a:gd name="adj" fmla="val 4615"/>
            </a:avLst>
          </a:prstGeom>
          <a:solidFill>
            <a:schemeClr val="bg2"/>
          </a:solidFill>
          <a:ln/>
        </p:spPr>
      </p:sp>
      <p:sp>
        <p:nvSpPr>
          <p:cNvPr id="14" name="step-number"/>
          <p:cNvSpPr/>
          <p:nvPr/>
        </p:nvSpPr>
        <p:spPr>
          <a:xfrm>
            <a:off x="6446520" y="1645920"/>
            <a:ext cx="502920" cy="502920"/>
          </a:xfrm>
          <a:prstGeom prst="ellipse">
            <a:avLst/>
          </a:prstGeom>
          <a:solidFill>
            <a:schemeClr val="accent1"/>
          </a:solidFill>
          <a:ln/>
        </p:spPr>
      </p:sp>
      <p:sp>
        <p:nvSpPr>
          <p:cNvPr id="15" name="Text 13"/>
          <p:cNvSpPr txBox="1"/>
          <p:nvPr/>
        </p:nvSpPr>
        <p:spPr>
          <a:xfrm>
            <a:off x="644652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6446520" y="2286000"/>
            <a:ext cx="2194560" cy="548640"/>
          </a:xfrm>
          <a:prstGeom prst="rect">
            <a:avLst/>
          </a:prstGeom>
          <a:noFill/>
          <a:ln/>
        </p:spPr>
        <p:txBody>
          <a:bodyPr wrap="square" lIns="0" tIns="0" rIns="0" bIns="0" rtlCol="0" anchor="t"/>
          <a:lstStyle/>
          <a:p>
            <a:pPr indent="0" marL="0">
              <a:buNone/>
            </a:pPr>
            <a:r>
              <a:rPr lang="en-US" sz="1600" b="1" dirty="0">
                <a:solidFill>
                  <a:schemeClr val="tx1"/>
                </a:solidFill>
              </a:rPr>
              <a:t>One posedge, three pushes</a:t>
            </a:r>
            <a:endParaRPr lang="en-US" sz="1600" dirty="0"/>
          </a:p>
        </p:txBody>
      </p:sp>
      <p:sp>
        <p:nvSpPr>
          <p:cNvPr id="17" name="Text 15"/>
          <p:cNvSpPr txBox="1"/>
          <p:nvPr/>
        </p:nvSpPr>
        <p:spPr>
          <a:xfrm>
            <a:off x="6446520" y="2880360"/>
            <a:ext cx="2194560" cy="868680"/>
          </a:xfrm>
          <a:prstGeom prst="rect">
            <a:avLst/>
          </a:prstGeom>
          <a:noFill/>
          <a:ln/>
        </p:spPr>
        <p:txBody>
          <a:bodyPr wrap="square" lIns="0" tIns="0" rIns="0" bIns="0" rtlCol="0" anchor="t"/>
          <a:lstStyle/>
          <a:p>
            <a:pPr indent="0" marL="0">
              <a:buNone/>
            </a:pPr>
            <a:r>
              <a:rPr lang="en-US" sz="1400" dirty="0">
                <a:solidFill>
                  <a:schemeClr val="accent4"/>
                </a:solidFill>
              </a:rPr>
              <a:t>All three handshakes finish on one edge and fill their FIFOs.</a:t>
            </a:r>
            <a:endParaRPr lang="en-US" sz="1400" dirty="0"/>
          </a:p>
        </p:txBody>
      </p:sp>
      <p:sp>
        <p:nvSpPr>
          <p:cNvPr id="18" name="step-card"/>
          <p:cNvSpPr/>
          <p:nvPr/>
        </p:nvSpPr>
        <p:spPr>
          <a:xfrm>
            <a:off x="9052560" y="1417320"/>
            <a:ext cx="2560320" cy="2377440"/>
          </a:xfrm>
          <a:prstGeom prst="roundRect">
            <a:avLst>
              <a:gd name="adj" fmla="val 4615"/>
            </a:avLst>
          </a:prstGeom>
          <a:solidFill>
            <a:schemeClr val="bg2"/>
          </a:solidFill>
          <a:ln/>
        </p:spPr>
      </p:sp>
      <p:sp>
        <p:nvSpPr>
          <p:cNvPr id="19" name="step-number"/>
          <p:cNvSpPr/>
          <p:nvPr/>
        </p:nvSpPr>
        <p:spPr>
          <a:xfrm>
            <a:off x="9281160" y="1645920"/>
            <a:ext cx="502920" cy="502920"/>
          </a:xfrm>
          <a:prstGeom prst="ellipse">
            <a:avLst/>
          </a:prstGeom>
          <a:solidFill>
            <a:schemeClr val="accent2"/>
          </a:solidFill>
          <a:ln/>
        </p:spPr>
      </p:sp>
      <p:sp>
        <p:nvSpPr>
          <p:cNvPr id="20" name="Text 18"/>
          <p:cNvSpPr txBox="1"/>
          <p:nvPr/>
        </p:nvSpPr>
        <p:spPr>
          <a:xfrm>
            <a:off x="928116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9281160" y="2286000"/>
            <a:ext cx="2194560" cy="548640"/>
          </a:xfrm>
          <a:prstGeom prst="rect">
            <a:avLst/>
          </a:prstGeom>
          <a:noFill/>
          <a:ln/>
        </p:spPr>
        <p:txBody>
          <a:bodyPr wrap="square" lIns="0" tIns="0" rIns="0" bIns="0" rtlCol="0" anchor="t"/>
          <a:lstStyle/>
          <a:p>
            <a:pPr indent="0" marL="0">
              <a:buNone/>
            </a:pPr>
            <a:r>
              <a:rPr lang="en-US" sz="1600" b="1" dirty="0">
                <a:solidFill>
                  <a:schemeClr val="tx1"/>
                </a:solidFill>
              </a:rPr>
              <a:t>FSM picks the read</a:t>
            </a:r>
            <a:endParaRPr lang="en-US" sz="1600" dirty="0"/>
          </a:p>
        </p:txBody>
      </p:sp>
      <p:sp>
        <p:nvSpPr>
          <p:cNvPr id="22" name="Text 20"/>
          <p:cNvSpPr txBox="1"/>
          <p:nvPr/>
        </p:nvSpPr>
        <p:spPr>
          <a:xfrm>
            <a:off x="9281160" y="2880360"/>
            <a:ext cx="2194560" cy="868680"/>
          </a:xfrm>
          <a:prstGeom prst="rect">
            <a:avLst/>
          </a:prstGeom>
          <a:noFill/>
          <a:ln/>
        </p:spPr>
        <p:txBody>
          <a:bodyPr wrap="square" lIns="0" tIns="0" rIns="0" bIns="0" rtlCol="0" anchor="t"/>
          <a:lstStyle/>
          <a:p>
            <a:pPr indent="0" marL="0">
              <a:buNone/>
            </a:pPr>
            <a:r>
              <a:rPr lang="en-US" sz="1400" dirty="0">
                <a:solidFill>
                  <a:schemeClr val="accent4"/>
                </a:solidFill>
              </a:rPr>
              <a:t>ARVALID is tested first, so the APB read runs before the write.</a:t>
            </a:r>
            <a:endParaRPr lang="en-US" sz="1400" dirty="0"/>
          </a:p>
        </p:txBody>
      </p:sp>
      <p:sp>
        <p:nvSpPr>
          <p:cNvPr id="23" name="code-card"/>
          <p:cNvSpPr/>
          <p:nvPr/>
        </p:nvSpPr>
        <p:spPr>
          <a:xfrm>
            <a:off x="548640" y="4069080"/>
            <a:ext cx="5669280" cy="2011680"/>
          </a:xfrm>
          <a:prstGeom prst="roundRect">
            <a:avLst>
              <a:gd name="adj" fmla="val 5455"/>
            </a:avLst>
          </a:prstGeom>
          <a:solidFill>
            <a:schemeClr val="tx1"/>
          </a:solidFill>
          <a:ln/>
        </p:spPr>
      </p:sp>
      <p:sp>
        <p:nvSpPr>
          <p:cNvPr id="24" name="Text 22"/>
          <p:cNvSpPr txBox="1"/>
          <p:nvPr/>
        </p:nvSpPr>
        <p:spPr>
          <a:xfrm>
            <a:off x="822960" y="4206240"/>
            <a:ext cx="5120640" cy="274320"/>
          </a:xfrm>
          <a:prstGeom prst="rect">
            <a:avLst/>
          </a:prstGeom>
          <a:noFill/>
          <a:ln/>
        </p:spPr>
        <p:txBody>
          <a:bodyPr wrap="square" lIns="0" tIns="0" rIns="0" bIns="0" rtlCol="0" anchor="t"/>
          <a:lstStyle/>
          <a:p>
            <a:pPr indent="0" marL="0">
              <a:buNone/>
            </a:pPr>
            <a:r>
              <a:rPr lang="en-US" sz="1200" dirty="0">
                <a:solidFill>
                  <a:schemeClr val="bg2"/>
                </a:solidFill>
              </a:rPr>
              <a:t>IDLE state in axi2apb.sv (simplified)</a:t>
            </a:r>
            <a:endParaRPr lang="en-US" sz="1200" dirty="0"/>
          </a:p>
        </p:txBody>
      </p:sp>
      <p:sp>
        <p:nvSpPr>
          <p:cNvPr id="25" name="Text 23"/>
          <p:cNvSpPr txBox="1"/>
          <p:nvPr/>
        </p:nvSpPr>
        <p:spPr>
          <a:xfrm>
            <a:off x="822960" y="4617720"/>
            <a:ext cx="5212080" cy="1280160"/>
          </a:xfrm>
          <a:prstGeom prst="rect">
            <a:avLst/>
          </a:prstGeom>
          <a:noFill/>
          <a:ln/>
        </p:spPr>
        <p:txBody>
          <a:bodyPr wrap="square" lIns="0" tIns="0" rIns="0" bIns="0" rtlCol="0" anchor="t"/>
          <a:lstStyle/>
          <a:p>
            <a:pPr indent="0" marL="0">
              <a:spcAft>
                <a:spcPts val="600"/>
              </a:spcAft>
              <a:buNone/>
            </a:pPr>
            <a:r>
              <a:rPr lang="en-US" sz="1400" dirty="0">
                <a:solidFill>
                  <a:schemeClr val="bg1"/>
                </a:solidFill>
                <a:latin typeface="Courier New" pitchFamily="34" charset="0"/>
                <a:ea typeface="Courier New" pitchFamily="34" charset="-122"/>
                <a:cs typeface="Courier New" pitchFamily="34" charset="-120"/>
              </a:rPr>
              <a:t>if (ARVALID)          // read wins</a:t>
            </a:r>
            <a:endParaRPr lang="en-US" sz="1400" dirty="0"/>
          </a:p>
          <a:p>
            <a:pPr indent="0" marL="0">
              <a:spcAft>
                <a:spcPts val="600"/>
              </a:spcAft>
              <a:buNone/>
            </a:pPr>
            <a:r>
              <a:rPr lang="en-US" sz="1400" dirty="0">
                <a:solidFill>
                  <a:schemeClr val="bg1"/>
                </a:solidFill>
                <a:latin typeface="Courier New" pitchFamily="34" charset="0"/>
                <a:ea typeface="Courier New" pitchFamily="34" charset="-122"/>
                <a:cs typeface="Courier New" pitchFamily="34" charset="-120"/>
              </a:rPr>
              <a:t>    start APB read</a:t>
            </a:r>
            <a:endParaRPr lang="en-US" sz="1400" dirty="0"/>
          </a:p>
          <a:p>
            <a:pPr indent="0" marL="0">
              <a:spcAft>
                <a:spcPts val="600"/>
              </a:spcAft>
              <a:buNone/>
            </a:pPr>
            <a:r>
              <a:rPr lang="en-US" sz="1400" dirty="0">
                <a:solidFill>
                  <a:schemeClr val="bg1"/>
                </a:solidFill>
                <a:latin typeface="Courier New" pitchFamily="34" charset="0"/>
                <a:ea typeface="Courier New" pitchFamily="34" charset="-122"/>
                <a:cs typeface="Courier New" pitchFamily="34" charset="-120"/>
              </a:rPr>
              <a:t>else if (AWVALID)     // write if no read</a:t>
            </a:r>
            <a:endParaRPr lang="en-US" sz="1400" dirty="0"/>
          </a:p>
          <a:p>
            <a:pPr indent="0" marL="0">
              <a:spcAft>
                <a:spcPts val="600"/>
              </a:spcAft>
              <a:buNone/>
            </a:pPr>
            <a:r>
              <a:rPr lang="en-US" sz="1400" dirty="0">
                <a:solidFill>
                  <a:schemeClr val="bg1"/>
                </a:solidFill>
                <a:latin typeface="Courier New" pitchFamily="34" charset="0"/>
                <a:ea typeface="Courier New" pitchFamily="34" charset="-122"/>
                <a:cs typeface="Courier New" pitchFamily="34" charset="-120"/>
              </a:rPr>
              <a:t>    start APB write</a:t>
            </a:r>
            <a:endParaRPr lang="en-US" sz="1400" dirty="0"/>
          </a:p>
        </p:txBody>
      </p:sp>
      <p:sp>
        <p:nvSpPr>
          <p:cNvPr id="26" name="Text 24"/>
          <p:cNvSpPr txBox="1"/>
          <p:nvPr/>
        </p:nvSpPr>
        <p:spPr>
          <a:xfrm>
            <a:off x="6583680" y="4069080"/>
            <a:ext cx="5029200" cy="320040"/>
          </a:xfrm>
          <a:prstGeom prst="rect">
            <a:avLst/>
          </a:prstGeom>
          <a:noFill/>
          <a:ln/>
        </p:spPr>
        <p:txBody>
          <a:bodyPr wrap="square" lIns="0" tIns="0" rIns="0" bIns="0" rtlCol="0" anchor="t"/>
          <a:lstStyle/>
          <a:p>
            <a:pPr indent="0" marL="0">
              <a:buNone/>
            </a:pPr>
            <a:r>
              <a:rPr lang="en-US" sz="1600" b="1" dirty="0">
                <a:solidFill>
                  <a:schemeClr val="tx1"/>
                </a:solidFill>
              </a:rPr>
              <a:t>APB bus order seen by the scoreboard</a:t>
            </a:r>
            <a:endParaRPr lang="en-US" sz="1600" dirty="0"/>
          </a:p>
        </p:txBody>
      </p:sp>
      <p:sp>
        <p:nvSpPr>
          <p:cNvPr id="27" name="slot-read"/>
          <p:cNvSpPr txBox="1"/>
          <p:nvPr/>
        </p:nvSpPr>
        <p:spPr>
          <a:xfrm>
            <a:off x="6583680" y="4572000"/>
            <a:ext cx="2377440" cy="868680"/>
          </a:xfrm>
          <a:prstGeom prst="roundRect">
            <a:avLst>
              <a:gd name="adj" fmla="val 10526"/>
            </a:avLst>
          </a:prstGeom>
          <a:solidFill>
            <a:schemeClr val="accent5"/>
          </a:solidFill>
          <a:ln/>
        </p:spPr>
        <p:txBody>
          <a:bodyPr wrap="square" lIns="635" tIns="635" rIns="635" bIns="635" rtlCol="0" anchor="ctr"/>
          <a:lstStyle/>
          <a:p>
            <a:pPr algn="ctr" indent="0" marL="0">
              <a:buNone/>
            </a:pPr>
            <a:r>
              <a:rPr lang="en-US" sz="1500" b="1" dirty="0">
                <a:solidFill>
                  <a:schemeClr val="bg1"/>
                </a:solidFill>
              </a:rPr>
              <a:t>1st: READ 0x500</a:t>
            </a:r>
            <a:endParaRPr lang="en-US" sz="1500" dirty="0"/>
          </a:p>
        </p:txBody>
      </p:sp>
      <p:sp>
        <p:nvSpPr>
          <p:cNvPr id="28" name="arrow"/>
          <p:cNvSpPr/>
          <p:nvPr/>
        </p:nvSpPr>
        <p:spPr>
          <a:xfrm>
            <a:off x="8961120" y="5006340"/>
            <a:ext cx="274320" cy="0"/>
          </a:xfrm>
          <a:prstGeom prst="line">
            <a:avLst/>
          </a:prstGeom>
          <a:noFill/>
          <a:ln w="19050">
            <a:solidFill>
              <a:schemeClr val="accent4"/>
            </a:solidFill>
            <a:prstDash val="solid"/>
            <a:tailEnd type="triangle"/>
          </a:ln>
        </p:spPr>
      </p:sp>
      <p:sp>
        <p:nvSpPr>
          <p:cNvPr id="29" name="slot-write"/>
          <p:cNvSpPr txBox="1"/>
          <p:nvPr/>
        </p:nvSpPr>
        <p:spPr>
          <a:xfrm>
            <a:off x="9235440" y="4572000"/>
            <a:ext cx="2377440" cy="868680"/>
          </a:xfrm>
          <a:prstGeom prst="roundRect">
            <a:avLst>
              <a:gd name="adj" fmla="val 10526"/>
            </a:avLst>
          </a:prstGeom>
          <a:solidFill>
            <a:schemeClr val="accent1"/>
          </a:solidFill>
          <a:ln/>
        </p:spPr>
        <p:txBody>
          <a:bodyPr wrap="square" lIns="635" tIns="635" rIns="635" bIns="635" rtlCol="0" anchor="ctr"/>
          <a:lstStyle/>
          <a:p>
            <a:pPr algn="ctr" indent="0" marL="0">
              <a:buNone/>
            </a:pPr>
            <a:r>
              <a:rPr lang="en-US" sz="1500" b="1" dirty="0">
                <a:solidFill>
                  <a:schemeClr val="bg1"/>
                </a:solidFill>
              </a:rPr>
              <a:t>2nd: WRITE 0x504</a:t>
            </a:r>
            <a:endParaRPr lang="en-US" sz="1500" dirty="0"/>
          </a:p>
        </p:txBody>
      </p:sp>
      <p:sp>
        <p:nvSpPr>
          <p:cNvPr id="30" name="Text 28"/>
          <p:cNvSpPr txBox="1"/>
          <p:nvPr/>
        </p:nvSpPr>
        <p:spPr>
          <a:xfrm>
            <a:off x="6583680" y="5623560"/>
            <a:ext cx="5029200" cy="365760"/>
          </a:xfrm>
          <a:prstGeom prst="rect">
            <a:avLst/>
          </a:prstGeom>
          <a:noFill/>
          <a:ln/>
        </p:spPr>
        <p:txBody>
          <a:bodyPr wrap="square" lIns="0" tIns="0" rIns="0" bIns="0" rtlCol="0" anchor="t"/>
          <a:lstStyle/>
          <a:p>
            <a:pPr indent="0" marL="0">
              <a:buNone/>
            </a:pPr>
            <a:r>
              <a:rPr lang="en-US" sz="1400" dirty="0">
                <a:solidFill>
                  <a:schemeClr val="accent4"/>
                </a:solidFill>
              </a:rPr>
              <a:t>The test fails if the order is WRITE then READ.</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rPr>
              <a:t>Build and run flow</a:t>
            </a:r>
            <a:endParaRPr lang="en-US" sz="3400" dirty="0"/>
          </a:p>
        </p:txBody>
      </p:sp>
      <p:sp>
        <p:nvSpPr>
          <p:cNvPr id="3" name="flow-step"/>
          <p:cNvSpPr txBox="1"/>
          <p:nvPr/>
        </p:nvSpPr>
        <p:spPr>
          <a:xfrm>
            <a:off x="548640" y="1417320"/>
            <a:ext cx="2377440" cy="1188720"/>
          </a:xfrm>
          <a:prstGeom prst="roundRect">
            <a:avLst>
              <a:gd name="adj" fmla="val 7692"/>
            </a:avLst>
          </a:prstGeom>
          <a:solidFill>
            <a:schemeClr val="tx2"/>
          </a:solidFill>
          <a:ln/>
        </p:spPr>
        <p:txBody>
          <a:bodyPr wrap="square" lIns="635" tIns="635" rIns="635" bIns="635" rtlCol="0" anchor="ctr"/>
          <a:lstStyle/>
          <a:p>
            <a:pPr algn="ctr" indent="0" marL="0">
              <a:buNone/>
            </a:pPr>
            <a:r>
              <a:rPr lang="en-US" sz="1600" b="1" dirty="0">
                <a:solidFill>
                  <a:schemeClr val="bg1"/>
                </a:solidFill>
              </a:rPr>
              <a:t>build.flist</a:t>
            </a:r>
            <a:endParaRPr lang="en-US" sz="1500" dirty="0"/>
          </a:p>
          <a:p>
            <a:pPr algn="ctr" indent="0" marL="0">
              <a:buNone/>
            </a:pPr>
            <a:r>
              <a:rPr lang="en-US" sz="1400" b="1" dirty="0">
                <a:solidFill>
                  <a:schemeClr val="bg1"/>
                </a:solidFill>
              </a:rPr>
              <a:t>compile order</a:t>
            </a:r>
            <a:endParaRPr lang="en-US" sz="1500" dirty="0"/>
          </a:p>
        </p:txBody>
      </p:sp>
      <p:sp>
        <p:nvSpPr>
          <p:cNvPr id="4" name="arrow"/>
          <p:cNvSpPr/>
          <p:nvPr/>
        </p:nvSpPr>
        <p:spPr>
          <a:xfrm>
            <a:off x="2926080" y="2011680"/>
            <a:ext cx="521208" cy="0"/>
          </a:xfrm>
          <a:prstGeom prst="line">
            <a:avLst/>
          </a:prstGeom>
          <a:noFill/>
          <a:ln w="19050">
            <a:solidFill>
              <a:schemeClr val="accent4"/>
            </a:solidFill>
            <a:prstDash val="solid"/>
            <a:tailEnd type="triangle"/>
          </a:ln>
        </p:spPr>
      </p:sp>
      <p:sp>
        <p:nvSpPr>
          <p:cNvPr id="5" name="flow-step"/>
          <p:cNvSpPr txBox="1"/>
          <p:nvPr/>
        </p:nvSpPr>
        <p:spPr>
          <a:xfrm>
            <a:off x="3447288" y="1417320"/>
            <a:ext cx="2377440" cy="1188720"/>
          </a:xfrm>
          <a:prstGeom prst="roundRect">
            <a:avLst>
              <a:gd name="adj" fmla="val 7692"/>
            </a:avLst>
          </a:prstGeom>
          <a:solidFill>
            <a:schemeClr val="tx2"/>
          </a:solidFill>
          <a:ln/>
        </p:spPr>
        <p:txBody>
          <a:bodyPr wrap="square" lIns="635" tIns="635" rIns="635" bIns="635" rtlCol="0" anchor="ctr"/>
          <a:lstStyle/>
          <a:p>
            <a:pPr algn="ctr" indent="0" marL="0">
              <a:buNone/>
            </a:pPr>
            <a:r>
              <a:rPr lang="en-US" sz="1600" b="1" dirty="0">
                <a:solidFill>
                  <a:schemeClr val="bg1"/>
                </a:solidFill>
              </a:rPr>
              <a:t>make compile</a:t>
            </a:r>
            <a:endParaRPr lang="en-US" sz="1500" dirty="0"/>
          </a:p>
          <a:p>
            <a:pPr algn="ctr" indent="0" marL="0">
              <a:buNone/>
            </a:pPr>
            <a:r>
              <a:rPr lang="en-US" sz="1400" b="1" dirty="0">
                <a:solidFill>
                  <a:schemeClr val="bg1"/>
                </a:solidFill>
              </a:rPr>
              <a:t>VCS builds one simv</a:t>
            </a:r>
            <a:endParaRPr lang="en-US" sz="1500" dirty="0"/>
          </a:p>
        </p:txBody>
      </p:sp>
      <p:sp>
        <p:nvSpPr>
          <p:cNvPr id="6" name="arrow"/>
          <p:cNvSpPr/>
          <p:nvPr/>
        </p:nvSpPr>
        <p:spPr>
          <a:xfrm>
            <a:off x="5824728" y="2011680"/>
            <a:ext cx="521208" cy="0"/>
          </a:xfrm>
          <a:prstGeom prst="line">
            <a:avLst/>
          </a:prstGeom>
          <a:noFill/>
          <a:ln w="19050">
            <a:solidFill>
              <a:schemeClr val="accent4"/>
            </a:solidFill>
            <a:prstDash val="solid"/>
            <a:tailEnd type="triangle"/>
          </a:ln>
        </p:spPr>
      </p:sp>
      <p:sp>
        <p:nvSpPr>
          <p:cNvPr id="7" name="flow-step"/>
          <p:cNvSpPr txBox="1"/>
          <p:nvPr/>
        </p:nvSpPr>
        <p:spPr>
          <a:xfrm>
            <a:off x="6345936" y="1417320"/>
            <a:ext cx="2377440" cy="1188720"/>
          </a:xfrm>
          <a:prstGeom prst="roundRect">
            <a:avLst>
              <a:gd name="adj" fmla="val 7692"/>
            </a:avLst>
          </a:prstGeom>
          <a:solidFill>
            <a:schemeClr val="tx2"/>
          </a:solidFill>
          <a:ln/>
        </p:spPr>
        <p:txBody>
          <a:bodyPr wrap="square" lIns="635" tIns="635" rIns="635" bIns="635" rtlCol="0" anchor="ctr"/>
          <a:lstStyle/>
          <a:p>
            <a:pPr algn="ctr" indent="0" marL="0">
              <a:buNone/>
            </a:pPr>
            <a:r>
              <a:rPr lang="en-US" sz="1600" b="1" dirty="0">
                <a:solidFill>
                  <a:schemeClr val="bg1"/>
                </a:solidFill>
              </a:rPr>
              <a:t>make sim</a:t>
            </a:r>
            <a:endParaRPr lang="en-US" sz="1500" dirty="0"/>
          </a:p>
          <a:p>
            <a:pPr algn="ctr" indent="0" marL="0">
              <a:buNone/>
            </a:pPr>
            <a:r>
              <a:rPr lang="en-US" sz="1400" b="1" dirty="0">
                <a:solidFill>
                  <a:schemeClr val="bg1"/>
                </a:solidFill>
              </a:rPr>
              <a:t>one test, one seed</a:t>
            </a:r>
            <a:endParaRPr lang="en-US" sz="1500" dirty="0"/>
          </a:p>
        </p:txBody>
      </p:sp>
      <p:sp>
        <p:nvSpPr>
          <p:cNvPr id="8" name="arrow"/>
          <p:cNvSpPr/>
          <p:nvPr/>
        </p:nvSpPr>
        <p:spPr>
          <a:xfrm>
            <a:off x="8723376" y="2011680"/>
            <a:ext cx="521208" cy="0"/>
          </a:xfrm>
          <a:prstGeom prst="line">
            <a:avLst/>
          </a:prstGeom>
          <a:noFill/>
          <a:ln w="19050">
            <a:solidFill>
              <a:schemeClr val="accent4"/>
            </a:solidFill>
            <a:prstDash val="solid"/>
            <a:tailEnd type="triangle"/>
          </a:ln>
        </p:spPr>
      </p:sp>
      <p:sp>
        <p:nvSpPr>
          <p:cNvPr id="9" name="flow-step"/>
          <p:cNvSpPr txBox="1"/>
          <p:nvPr/>
        </p:nvSpPr>
        <p:spPr>
          <a:xfrm>
            <a:off x="9244584" y="1417320"/>
            <a:ext cx="2377440" cy="1188720"/>
          </a:xfrm>
          <a:prstGeom prst="roundRect">
            <a:avLst>
              <a:gd name="adj" fmla="val 7692"/>
            </a:avLst>
          </a:prstGeom>
          <a:solidFill>
            <a:schemeClr val="accent1"/>
          </a:solidFill>
          <a:ln/>
        </p:spPr>
        <p:txBody>
          <a:bodyPr wrap="square" lIns="635" tIns="635" rIns="635" bIns="635" rtlCol="0" anchor="ctr"/>
          <a:lstStyle/>
          <a:p>
            <a:pPr algn="ctr" indent="0" marL="0">
              <a:buNone/>
            </a:pPr>
            <a:r>
              <a:rPr lang="en-US" sz="1600" b="1" dirty="0">
                <a:solidFill>
                  <a:schemeClr val="bg1"/>
                </a:solidFill>
              </a:rPr>
              <a:t>make regress</a:t>
            </a:r>
            <a:endParaRPr lang="en-US" sz="1500" dirty="0"/>
          </a:p>
          <a:p>
            <a:pPr algn="ctr" indent="0" marL="0">
              <a:buNone/>
            </a:pPr>
            <a:r>
              <a:rPr lang="en-US" sz="1400" b="1" dirty="0">
                <a:solidFill>
                  <a:schemeClr val="bg1"/>
                </a:solidFill>
              </a:rPr>
              <a:t>all tests, summary, coverage</a:t>
            </a:r>
            <a:endParaRPr lang="en-US" sz="1500" dirty="0"/>
          </a:p>
        </p:txBody>
      </p:sp>
      <p:sp>
        <p:nvSpPr>
          <p:cNvPr id="10" name="cmd-card"/>
          <p:cNvSpPr/>
          <p:nvPr/>
        </p:nvSpPr>
        <p:spPr>
          <a:xfrm>
            <a:off x="548640" y="2926080"/>
            <a:ext cx="6309360" cy="3154680"/>
          </a:xfrm>
          <a:prstGeom prst="roundRect">
            <a:avLst>
              <a:gd name="adj" fmla="val 3478"/>
            </a:avLst>
          </a:prstGeom>
          <a:solidFill>
            <a:schemeClr val="tx1"/>
          </a:solidFill>
          <a:ln/>
        </p:spPr>
      </p:sp>
      <p:sp>
        <p:nvSpPr>
          <p:cNvPr id="11" name="Text 9"/>
          <p:cNvSpPr txBox="1"/>
          <p:nvPr/>
        </p:nvSpPr>
        <p:spPr>
          <a:xfrm>
            <a:off x="822960" y="3063240"/>
            <a:ext cx="2743200" cy="274320"/>
          </a:xfrm>
          <a:prstGeom prst="rect">
            <a:avLst/>
          </a:prstGeom>
          <a:noFill/>
          <a:ln/>
        </p:spPr>
        <p:txBody>
          <a:bodyPr wrap="square" lIns="0" tIns="0" rIns="0" bIns="0" rtlCol="0" anchor="t"/>
          <a:lstStyle/>
          <a:p>
            <a:pPr indent="0" marL="0">
              <a:buNone/>
            </a:pPr>
            <a:r>
              <a:rPr lang="en-US" sz="1200" dirty="0">
                <a:solidFill>
                  <a:schemeClr val="bg2"/>
                </a:solidFill>
              </a:rPr>
              <a:t>Commands</a:t>
            </a:r>
            <a:endParaRPr lang="en-US" sz="1200" dirty="0"/>
          </a:p>
        </p:txBody>
      </p:sp>
      <p:sp>
        <p:nvSpPr>
          <p:cNvPr id="12" name="Text 10"/>
          <p:cNvSpPr txBox="1"/>
          <p:nvPr/>
        </p:nvSpPr>
        <p:spPr>
          <a:xfrm>
            <a:off x="822960" y="3474720"/>
            <a:ext cx="5852160" cy="2377440"/>
          </a:xfrm>
          <a:prstGeom prst="rect">
            <a:avLst/>
          </a:prstGeom>
          <a:noFill/>
          <a:ln/>
        </p:spPr>
        <p:txBody>
          <a:bodyPr wrap="square" lIns="0" tIns="0" rIns="0" bIns="0" rtlCol="0" anchor="t"/>
          <a:lstStyle/>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make compile</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make sim TEST=axi2apb_smoke_test</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make sim TEST=axi2apb_rw_priority_test SEED=7</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make regress     # 14 tests + summary</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make cov         # urg coverage report</a:t>
            </a:r>
            <a:endParaRPr lang="en-US" sz="1400" dirty="0"/>
          </a:p>
        </p:txBody>
      </p:sp>
      <p:sp>
        <p:nvSpPr>
          <p:cNvPr id="13" name="icon-circle"/>
          <p:cNvSpPr/>
          <p:nvPr/>
        </p:nvSpPr>
        <p:spPr>
          <a:xfrm>
            <a:off x="7223760" y="2971800"/>
            <a:ext cx="640080" cy="640080"/>
          </a:xfrm>
          <a:prstGeom prst="ellipse">
            <a:avLst/>
          </a:prstGeom>
          <a:solidFill>
            <a:schemeClr val="accent1"/>
          </a:solidFill>
          <a:ln/>
        </p:spPr>
      </p:sp>
      <p:pic>
        <p:nvPicPr>
          <p:cNvPr id="14" name="icon FaCheckCircle" descr="preencoded.png">    </p:cNvPr>
          <p:cNvPicPr>
            <a:picLocks noChangeAspect="1"/>
          </p:cNvPicPr>
          <p:nvPr/>
        </p:nvPicPr>
        <p:blipFill>
          <a:blip r:embed="rId1"/>
          <a:stretch>
            <a:fillRect/>
          </a:stretch>
        </p:blipFill>
        <p:spPr>
          <a:xfrm>
            <a:off x="7383780" y="3131820"/>
            <a:ext cx="320040" cy="320040"/>
          </a:xfrm>
          <a:prstGeom prst="rect">
            <a:avLst/>
          </a:prstGeom>
        </p:spPr>
      </p:pic>
      <p:sp>
        <p:nvSpPr>
          <p:cNvPr id="15" name="Text 12"/>
          <p:cNvSpPr txBox="1"/>
          <p:nvPr/>
        </p:nvSpPr>
        <p:spPr>
          <a:xfrm>
            <a:off x="8092440" y="2971800"/>
            <a:ext cx="3520440" cy="320040"/>
          </a:xfrm>
          <a:prstGeom prst="rect">
            <a:avLst/>
          </a:prstGeom>
          <a:noFill/>
          <a:ln/>
        </p:spPr>
        <p:txBody>
          <a:bodyPr wrap="square" lIns="0" tIns="0" rIns="0" bIns="0" rtlCol="0" anchor="t"/>
          <a:lstStyle/>
          <a:p>
            <a:pPr indent="0" marL="0">
              <a:buNone/>
            </a:pPr>
            <a:r>
              <a:rPr lang="en-US" sz="1600" b="1" dirty="0">
                <a:solidFill>
                  <a:schemeClr val="tx1"/>
                </a:solidFill>
              </a:rPr>
              <a:t>Pass or fail in the log</a:t>
            </a:r>
            <a:endParaRPr lang="en-US" sz="1600" dirty="0"/>
          </a:p>
        </p:txBody>
      </p:sp>
      <p:sp>
        <p:nvSpPr>
          <p:cNvPr id="16" name="Text 13"/>
          <p:cNvSpPr txBox="1"/>
          <p:nvPr/>
        </p:nvSpPr>
        <p:spPr>
          <a:xfrm>
            <a:off x="8092440" y="3337560"/>
            <a:ext cx="3520440" cy="914400"/>
          </a:xfrm>
          <a:prstGeom prst="rect">
            <a:avLst/>
          </a:prstGeom>
          <a:noFill/>
          <a:ln/>
        </p:spPr>
        <p:txBody>
          <a:bodyPr wrap="square" lIns="0" tIns="0" rIns="0" bIns="0" rtlCol="0" anchor="t"/>
          <a:lstStyle/>
          <a:p>
            <a:pPr indent="0" marL="0">
              <a:buNone/>
            </a:pPr>
            <a:r>
              <a:rPr lang="en-US" sz="1400" dirty="0">
                <a:solidFill>
                  <a:schemeClr val="accent4"/>
                </a:solidFill>
              </a:rPr>
              <a:t>Each log ends with TEST PASSED or TEST FAILED.</a:t>
            </a:r>
            <a:endParaRPr lang="en-US" sz="1400" dirty="0"/>
          </a:p>
        </p:txBody>
      </p:sp>
      <p:sp>
        <p:nvSpPr>
          <p:cNvPr id="17" name="icon-circle"/>
          <p:cNvSpPr/>
          <p:nvPr/>
        </p:nvSpPr>
        <p:spPr>
          <a:xfrm>
            <a:off x="7223760" y="4069080"/>
            <a:ext cx="640080" cy="640080"/>
          </a:xfrm>
          <a:prstGeom prst="ellipse">
            <a:avLst/>
          </a:prstGeom>
          <a:solidFill>
            <a:schemeClr val="accent5"/>
          </a:solidFill>
          <a:ln/>
        </p:spPr>
      </p:sp>
      <p:pic>
        <p:nvPicPr>
          <p:cNvPr id="18" name="icon FaRandom" descr="preencoded.png">    </p:cNvPr>
          <p:cNvPicPr>
            <a:picLocks noChangeAspect="1"/>
          </p:cNvPicPr>
          <p:nvPr/>
        </p:nvPicPr>
        <p:blipFill>
          <a:blip r:embed="rId2"/>
          <a:stretch>
            <a:fillRect/>
          </a:stretch>
        </p:blipFill>
        <p:spPr>
          <a:xfrm>
            <a:off x="7383780" y="4229100"/>
            <a:ext cx="320040" cy="320040"/>
          </a:xfrm>
          <a:prstGeom prst="rect">
            <a:avLst/>
          </a:prstGeom>
        </p:spPr>
      </p:pic>
      <p:sp>
        <p:nvSpPr>
          <p:cNvPr id="19" name="Text 15"/>
          <p:cNvSpPr txBox="1"/>
          <p:nvPr/>
        </p:nvSpPr>
        <p:spPr>
          <a:xfrm>
            <a:off x="8092440" y="4069080"/>
            <a:ext cx="3520440" cy="320040"/>
          </a:xfrm>
          <a:prstGeom prst="rect">
            <a:avLst/>
          </a:prstGeom>
          <a:noFill/>
          <a:ln/>
        </p:spPr>
        <p:txBody>
          <a:bodyPr wrap="square" lIns="0" tIns="0" rIns="0" bIns="0" rtlCol="0" anchor="t"/>
          <a:lstStyle/>
          <a:p>
            <a:pPr indent="0" marL="0">
              <a:buNone/>
            </a:pPr>
            <a:r>
              <a:rPr lang="en-US" sz="1600" b="1" dirty="0">
                <a:solidFill>
                  <a:schemeClr val="tx1"/>
                </a:solidFill>
              </a:rPr>
              <a:t>One build, many runs</a:t>
            </a:r>
            <a:endParaRPr lang="en-US" sz="1600" dirty="0"/>
          </a:p>
        </p:txBody>
      </p:sp>
      <p:sp>
        <p:nvSpPr>
          <p:cNvPr id="20" name="Text 16"/>
          <p:cNvSpPr txBox="1"/>
          <p:nvPr/>
        </p:nvSpPr>
        <p:spPr>
          <a:xfrm>
            <a:off x="8092440" y="4434840"/>
            <a:ext cx="3520440" cy="914400"/>
          </a:xfrm>
          <a:prstGeom prst="rect">
            <a:avLst/>
          </a:prstGeom>
          <a:noFill/>
          <a:ln/>
        </p:spPr>
        <p:txBody>
          <a:bodyPr wrap="square" lIns="0" tIns="0" rIns="0" bIns="0" rtlCol="0" anchor="t"/>
          <a:lstStyle/>
          <a:p>
            <a:pPr indent="0" marL="0">
              <a:buNone/>
            </a:pPr>
            <a:r>
              <a:rPr lang="en-US" sz="1400" dirty="0">
                <a:solidFill>
                  <a:schemeClr val="accent4"/>
                </a:solidFill>
              </a:rPr>
              <a:t>The same simv runs every test. Change SEED for another seed.</a:t>
            </a:r>
            <a:endParaRPr lang="en-US" sz="1400" dirty="0"/>
          </a:p>
        </p:txBody>
      </p:sp>
      <p:sp>
        <p:nvSpPr>
          <p:cNvPr id="21" name="icon-circle"/>
          <p:cNvSpPr/>
          <p:nvPr/>
        </p:nvSpPr>
        <p:spPr>
          <a:xfrm>
            <a:off x="7223760" y="5166360"/>
            <a:ext cx="640080" cy="640080"/>
          </a:xfrm>
          <a:prstGeom prst="ellipse">
            <a:avLst/>
          </a:prstGeom>
          <a:solidFill>
            <a:schemeClr val="accent2"/>
          </a:solidFill>
          <a:ln/>
        </p:spPr>
      </p:sp>
      <p:pic>
        <p:nvPicPr>
          <p:cNvPr id="22" name="icon FaChartBar" descr="preencoded.png">    </p:cNvPr>
          <p:cNvPicPr>
            <a:picLocks noChangeAspect="1"/>
          </p:cNvPicPr>
          <p:nvPr/>
        </p:nvPicPr>
        <p:blipFill>
          <a:blip r:embed="rId3"/>
          <a:stretch>
            <a:fillRect/>
          </a:stretch>
        </p:blipFill>
        <p:spPr>
          <a:xfrm>
            <a:off x="7383780" y="5326380"/>
            <a:ext cx="320040" cy="320040"/>
          </a:xfrm>
          <a:prstGeom prst="rect">
            <a:avLst/>
          </a:prstGeom>
        </p:spPr>
      </p:pic>
      <p:sp>
        <p:nvSpPr>
          <p:cNvPr id="23" name="Text 18"/>
          <p:cNvSpPr txBox="1"/>
          <p:nvPr/>
        </p:nvSpPr>
        <p:spPr>
          <a:xfrm>
            <a:off x="8092440" y="5166360"/>
            <a:ext cx="3520440" cy="320040"/>
          </a:xfrm>
          <a:prstGeom prst="rect">
            <a:avLst/>
          </a:prstGeom>
          <a:noFill/>
          <a:ln/>
        </p:spPr>
        <p:txBody>
          <a:bodyPr wrap="square" lIns="0" tIns="0" rIns="0" bIns="0" rtlCol="0" anchor="t"/>
          <a:lstStyle/>
          <a:p>
            <a:pPr indent="0" marL="0">
              <a:buNone/>
            </a:pPr>
            <a:r>
              <a:rPr lang="en-US" sz="1600" b="1" dirty="0">
                <a:solidFill>
                  <a:schemeClr val="tx1"/>
                </a:solidFill>
              </a:rPr>
              <a:t>Coverage</a:t>
            </a:r>
            <a:endParaRPr lang="en-US" sz="1600" dirty="0"/>
          </a:p>
        </p:txBody>
      </p:sp>
      <p:sp>
        <p:nvSpPr>
          <p:cNvPr id="24" name="Text 19"/>
          <p:cNvSpPr txBox="1"/>
          <p:nvPr/>
        </p:nvSpPr>
        <p:spPr>
          <a:xfrm>
            <a:off x="8092440" y="5532120"/>
            <a:ext cx="3520440" cy="914400"/>
          </a:xfrm>
          <a:prstGeom prst="rect">
            <a:avLst/>
          </a:prstGeom>
          <a:noFill/>
          <a:ln/>
        </p:spPr>
        <p:txBody>
          <a:bodyPr wrap="square" lIns="0" tIns="0" rIns="0" bIns="0" rtlCol="0" anchor="t"/>
          <a:lstStyle/>
          <a:p>
            <a:pPr indent="0" marL="0">
              <a:buNone/>
            </a:pPr>
            <a:r>
              <a:rPr lang="en-US" sz="1400" dirty="0">
                <a:solidFill>
                  <a:schemeClr val="accent4"/>
                </a:solidFill>
              </a:rPr>
              <a:t>VCS code coverage plus functional covergroups, merged by urg.</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C8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bg1"/>
                </a:solidFill>
              </a:rPr>
              <a:t>Status and next steps</a:t>
            </a:r>
            <a:endParaRPr lang="en-US" sz="3400" dirty="0"/>
          </a:p>
        </p:txBody>
      </p:sp>
      <p:sp>
        <p:nvSpPr>
          <p:cNvPr id="3" name="status-card"/>
          <p:cNvSpPr/>
          <p:nvPr/>
        </p:nvSpPr>
        <p:spPr>
          <a:xfrm>
            <a:off x="548640" y="1463040"/>
            <a:ext cx="3566160" cy="4572000"/>
          </a:xfrm>
          <a:prstGeom prst="roundRect">
            <a:avLst>
              <a:gd name="adj" fmla="val 3077"/>
            </a:avLst>
          </a:prstGeom>
          <a:solidFill>
            <a:schemeClr val="tx2"/>
          </a:solidFill>
          <a:ln/>
        </p:spPr>
      </p:sp>
      <p:sp>
        <p:nvSpPr>
          <p:cNvPr id="4" name="icon-circle"/>
          <p:cNvSpPr/>
          <p:nvPr/>
        </p:nvSpPr>
        <p:spPr>
          <a:xfrm>
            <a:off x="822960" y="1737360"/>
            <a:ext cx="640080" cy="640080"/>
          </a:xfrm>
          <a:prstGeom prst="ellipse">
            <a:avLst/>
          </a:prstGeom>
          <a:solidFill>
            <a:schemeClr val="accent2"/>
          </a:solidFill>
          <a:ln/>
        </p:spPr>
      </p:sp>
      <p:pic>
        <p:nvPicPr>
          <p:cNvPr id="5" name="icon FaBug" descr="preencoded.png">    </p:cNvPr>
          <p:cNvPicPr>
            <a:picLocks noChangeAspect="1"/>
          </p:cNvPicPr>
          <p:nvPr/>
        </p:nvPicPr>
        <p:blipFill>
          <a:blip r:embed="rId1"/>
          <a:stretch>
            <a:fillRect/>
          </a:stretch>
        </p:blipFill>
        <p:spPr>
          <a:xfrm>
            <a:off x="982980" y="1897380"/>
            <a:ext cx="320040" cy="320040"/>
          </a:xfrm>
          <a:prstGeom prst="rect">
            <a:avLst/>
          </a:prstGeom>
        </p:spPr>
      </p:pic>
      <p:sp>
        <p:nvSpPr>
          <p:cNvPr id="6" name="Text 3"/>
          <p:cNvSpPr txBox="1"/>
          <p:nvPr/>
        </p:nvSpPr>
        <p:spPr>
          <a:xfrm>
            <a:off x="1645920" y="1874520"/>
            <a:ext cx="2286000" cy="411480"/>
          </a:xfrm>
          <a:prstGeom prst="rect">
            <a:avLst/>
          </a:prstGeom>
          <a:noFill/>
          <a:ln/>
        </p:spPr>
        <p:txBody>
          <a:bodyPr wrap="square" lIns="0" tIns="0" rIns="0" bIns="0" rtlCol="0" anchor="t"/>
          <a:lstStyle/>
          <a:p>
            <a:pPr indent="0" marL="0">
              <a:buNone/>
            </a:pPr>
            <a:r>
              <a:rPr lang="en-US" sz="2000" b="1" dirty="0">
                <a:solidFill>
                  <a:schemeClr val="bg1"/>
                </a:solidFill>
              </a:rPr>
              <a:t>Findings to report</a:t>
            </a:r>
            <a:endParaRPr lang="en-US" sz="2000" dirty="0"/>
          </a:p>
        </p:txBody>
      </p:sp>
      <p:sp>
        <p:nvSpPr>
          <p:cNvPr id="7" name="Text 4"/>
          <p:cNvSpPr txBox="1"/>
          <p:nvPr/>
        </p:nvSpPr>
        <p:spPr>
          <a:xfrm>
            <a:off x="822960" y="2743200"/>
            <a:ext cx="3063240" cy="31089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bg2"/>
                </a:solidFill>
              </a:rPr>
              <a:t>fifo module missing from the RTL; a model was added</a:t>
            </a:r>
            <a:endParaRPr lang="en-US" sz="1400" dirty="0"/>
          </a:p>
          <a:p>
            <a:pPr marL="342900" indent="-342900">
              <a:spcAft>
                <a:spcPts val="1000"/>
              </a:spcAft>
              <a:buSzPct val="100000"/>
              <a:buChar char="•"/>
            </a:pPr>
            <a:r>
              <a:rPr lang="en-US" sz="1400" dirty="0">
                <a:solidFill>
                  <a:schemeClr val="bg2"/>
                </a:solidFill>
              </a:rPr>
              <a:t>FSM leaves NS unassigned in some branches (latch)</a:t>
            </a:r>
            <a:endParaRPr lang="en-US" sz="1400" dirty="0"/>
          </a:p>
          <a:p>
            <a:pPr marL="342900" indent="-342900">
              <a:spcAft>
                <a:spcPts val="1000"/>
              </a:spcAft>
              <a:buSzPct val="100000"/>
              <a:buChar char="•"/>
            </a:pPr>
            <a:r>
              <a:rPr lang="en-US" sz="1400" dirty="0">
                <a:solidFill>
                  <a:schemeClr val="bg2"/>
                </a:solidFill>
              </a:rPr>
              <a:t>PSEL is always 1; no APB setup phase</a:t>
            </a:r>
            <a:endParaRPr lang="en-US" sz="1400" dirty="0"/>
          </a:p>
          <a:p>
            <a:pPr marL="342900" indent="-342900">
              <a:spcAft>
                <a:spcPts val="1000"/>
              </a:spcAft>
              <a:buSzPct val="100000"/>
              <a:buChar char="•"/>
            </a:pPr>
            <a:r>
              <a:rPr lang="en-US" sz="1400" dirty="0">
                <a:solidFill>
                  <a:schemeClr val="bg2"/>
                </a:solidFill>
              </a:rPr>
              <a:t>PSLVERR and WSTRB are ignored by the design</a:t>
            </a:r>
            <a:endParaRPr lang="en-US" sz="1400" dirty="0"/>
          </a:p>
        </p:txBody>
      </p:sp>
      <p:sp>
        <p:nvSpPr>
          <p:cNvPr id="8" name="status-card"/>
          <p:cNvSpPr/>
          <p:nvPr/>
        </p:nvSpPr>
        <p:spPr>
          <a:xfrm>
            <a:off x="4297680" y="1463040"/>
            <a:ext cx="3566160" cy="4572000"/>
          </a:xfrm>
          <a:prstGeom prst="roundRect">
            <a:avLst>
              <a:gd name="adj" fmla="val 3077"/>
            </a:avLst>
          </a:prstGeom>
          <a:solidFill>
            <a:schemeClr val="tx2"/>
          </a:solidFill>
          <a:ln/>
        </p:spPr>
      </p:sp>
      <p:sp>
        <p:nvSpPr>
          <p:cNvPr id="9" name="icon-circle"/>
          <p:cNvSpPr/>
          <p:nvPr/>
        </p:nvSpPr>
        <p:spPr>
          <a:xfrm>
            <a:off x="4572000" y="1737360"/>
            <a:ext cx="640080" cy="640080"/>
          </a:xfrm>
          <a:prstGeom prst="ellipse">
            <a:avLst/>
          </a:prstGeom>
          <a:solidFill>
            <a:schemeClr val="accent3"/>
          </a:solidFill>
          <a:ln/>
        </p:spPr>
      </p:sp>
      <p:pic>
        <p:nvPicPr>
          <p:cNvPr id="10" name="icon FaClipboardCheck" descr="preencoded.png">    </p:cNvPr>
          <p:cNvPicPr>
            <a:picLocks noChangeAspect="1"/>
          </p:cNvPicPr>
          <p:nvPr/>
        </p:nvPicPr>
        <p:blipFill>
          <a:blip r:embed="rId2"/>
          <a:stretch>
            <a:fillRect/>
          </a:stretch>
        </p:blipFill>
        <p:spPr>
          <a:xfrm>
            <a:off x="4732020" y="1897380"/>
            <a:ext cx="320040" cy="320040"/>
          </a:xfrm>
          <a:prstGeom prst="rect">
            <a:avLst/>
          </a:prstGeom>
        </p:spPr>
      </p:pic>
      <p:sp>
        <p:nvSpPr>
          <p:cNvPr id="11" name="Text 7"/>
          <p:cNvSpPr txBox="1"/>
          <p:nvPr/>
        </p:nvSpPr>
        <p:spPr>
          <a:xfrm>
            <a:off x="5394960" y="1874520"/>
            <a:ext cx="2286000" cy="411480"/>
          </a:xfrm>
          <a:prstGeom prst="rect">
            <a:avLst/>
          </a:prstGeom>
          <a:noFill/>
          <a:ln/>
        </p:spPr>
        <p:txBody>
          <a:bodyPr wrap="square" lIns="0" tIns="0" rIns="0" bIns="0" rtlCol="0" anchor="t"/>
          <a:lstStyle/>
          <a:p>
            <a:pPr indent="0" marL="0">
              <a:buNone/>
            </a:pPr>
            <a:r>
              <a:rPr lang="en-US" sz="2000" b="1" dirty="0">
                <a:solidFill>
                  <a:schemeClr val="bg1"/>
                </a:solidFill>
              </a:rPr>
              <a:t>Where we are</a:t>
            </a:r>
            <a:endParaRPr lang="en-US" sz="2000" dirty="0"/>
          </a:p>
        </p:txBody>
      </p:sp>
      <p:sp>
        <p:nvSpPr>
          <p:cNvPr id="12" name="Text 8"/>
          <p:cNvSpPr txBox="1"/>
          <p:nvPr/>
        </p:nvSpPr>
        <p:spPr>
          <a:xfrm>
            <a:off x="4572000" y="2743200"/>
            <a:ext cx="3063240" cy="31089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bg2"/>
                </a:solidFill>
              </a:rPr>
              <a:t>14 directed tests, scoreboard and coverage are written</a:t>
            </a:r>
            <a:endParaRPr lang="en-US" sz="1400" dirty="0"/>
          </a:p>
          <a:p>
            <a:pPr marL="342900" indent="-342900">
              <a:spcAft>
                <a:spcPts val="1000"/>
              </a:spcAft>
              <a:buSzPct val="100000"/>
              <a:buChar char="•"/>
            </a:pPr>
            <a:r>
              <a:rPr lang="en-US" sz="1400" dirty="0">
                <a:solidFill>
                  <a:schemeClr val="bg2"/>
                </a:solidFill>
              </a:rPr>
              <a:t>Not yet compiled or simulated on VCS</a:t>
            </a:r>
            <a:endParaRPr lang="en-US" sz="1400" dirty="0"/>
          </a:p>
          <a:p>
            <a:pPr marL="342900" indent="-342900">
              <a:spcAft>
                <a:spcPts val="1000"/>
              </a:spcAft>
              <a:buSzPct val="100000"/>
              <a:buChar char="•"/>
            </a:pPr>
            <a:r>
              <a:rPr lang="en-US" sz="1400" dirty="0">
                <a:solidFill>
                  <a:schemeClr val="bg2"/>
                </a:solidFill>
              </a:rPr>
              <a:t>First run: fix compile issues, then check each test result</a:t>
            </a:r>
            <a:endParaRPr lang="en-US" sz="1400" dirty="0"/>
          </a:p>
        </p:txBody>
      </p:sp>
      <p:sp>
        <p:nvSpPr>
          <p:cNvPr id="13" name="status-card"/>
          <p:cNvSpPr/>
          <p:nvPr/>
        </p:nvSpPr>
        <p:spPr>
          <a:xfrm>
            <a:off x="8046720" y="1463040"/>
            <a:ext cx="3566160" cy="4572000"/>
          </a:xfrm>
          <a:prstGeom prst="roundRect">
            <a:avLst>
              <a:gd name="adj" fmla="val 3077"/>
            </a:avLst>
          </a:prstGeom>
          <a:solidFill>
            <a:schemeClr val="tx2"/>
          </a:solidFill>
          <a:ln/>
        </p:spPr>
      </p:sp>
      <p:sp>
        <p:nvSpPr>
          <p:cNvPr id="14" name="icon-circle"/>
          <p:cNvSpPr/>
          <p:nvPr/>
        </p:nvSpPr>
        <p:spPr>
          <a:xfrm>
            <a:off x="8321040" y="1737360"/>
            <a:ext cx="640080" cy="640080"/>
          </a:xfrm>
          <a:prstGeom prst="ellipse">
            <a:avLst/>
          </a:prstGeom>
          <a:solidFill>
            <a:schemeClr val="accent1"/>
          </a:solidFill>
          <a:ln/>
        </p:spPr>
      </p:sp>
      <p:pic>
        <p:nvPicPr>
          <p:cNvPr id="15" name="icon FaRoute" descr="preencoded.png">    </p:cNvPr>
          <p:cNvPicPr>
            <a:picLocks noChangeAspect="1"/>
          </p:cNvPicPr>
          <p:nvPr/>
        </p:nvPicPr>
        <p:blipFill>
          <a:blip r:embed="rId3"/>
          <a:stretch>
            <a:fillRect/>
          </a:stretch>
        </p:blipFill>
        <p:spPr>
          <a:xfrm>
            <a:off x="8481060" y="1897380"/>
            <a:ext cx="320040" cy="320040"/>
          </a:xfrm>
          <a:prstGeom prst="rect">
            <a:avLst/>
          </a:prstGeom>
        </p:spPr>
      </p:pic>
      <p:sp>
        <p:nvSpPr>
          <p:cNvPr id="16" name="Text 11"/>
          <p:cNvSpPr txBox="1"/>
          <p:nvPr/>
        </p:nvSpPr>
        <p:spPr>
          <a:xfrm>
            <a:off x="9144000" y="1874520"/>
            <a:ext cx="2286000" cy="411480"/>
          </a:xfrm>
          <a:prstGeom prst="rect">
            <a:avLst/>
          </a:prstGeom>
          <a:noFill/>
          <a:ln/>
        </p:spPr>
        <p:txBody>
          <a:bodyPr wrap="square" lIns="0" tIns="0" rIns="0" bIns="0" rtlCol="0" anchor="t"/>
          <a:lstStyle/>
          <a:p>
            <a:pPr indent="0" marL="0">
              <a:buNone/>
            </a:pPr>
            <a:r>
              <a:rPr lang="en-US" sz="2000" b="1" dirty="0">
                <a:solidFill>
                  <a:schemeClr val="bg1"/>
                </a:solidFill>
              </a:rPr>
              <a:t>Next steps</a:t>
            </a:r>
            <a:endParaRPr lang="en-US" sz="2000" dirty="0"/>
          </a:p>
        </p:txBody>
      </p:sp>
      <p:sp>
        <p:nvSpPr>
          <p:cNvPr id="17" name="Text 12"/>
          <p:cNvSpPr txBox="1"/>
          <p:nvPr/>
        </p:nvSpPr>
        <p:spPr>
          <a:xfrm>
            <a:off x="8321040" y="2743200"/>
            <a:ext cx="3063240" cy="31089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bg2"/>
                </a:solidFill>
              </a:rPr>
              <a:t>Run make regress and triage failures</a:t>
            </a:r>
            <a:endParaRPr lang="en-US" sz="1400" dirty="0"/>
          </a:p>
          <a:p>
            <a:pPr marL="342900" indent="-342900">
              <a:spcAft>
                <a:spcPts val="1000"/>
              </a:spcAft>
              <a:buSzPct val="100000"/>
              <a:buChar char="•"/>
            </a:pPr>
            <a:r>
              <a:rPr lang="en-US" sz="1400" dirty="0">
                <a:solidFill>
                  <a:schemeClr val="bg2"/>
                </a:solidFill>
              </a:rPr>
              <a:t>Add constrained-random sequences</a:t>
            </a:r>
            <a:endParaRPr lang="en-US" sz="1400" dirty="0"/>
          </a:p>
          <a:p>
            <a:pPr marL="342900" indent="-342900">
              <a:spcAft>
                <a:spcPts val="1000"/>
              </a:spcAft>
              <a:buSzPct val="100000"/>
              <a:buChar char="•"/>
            </a:pPr>
            <a:r>
              <a:rPr lang="en-US" sz="1400" dirty="0">
                <a:solidFill>
                  <a:schemeClr val="bg2"/>
                </a:solidFill>
              </a:rPr>
              <a:t>Add assertions in the next phase</a:t>
            </a:r>
            <a:endParaRPr lang="en-US" sz="1400" dirty="0"/>
          </a:p>
          <a:p>
            <a:pPr marL="342900" indent="-342900">
              <a:spcAft>
                <a:spcPts val="1000"/>
              </a:spcAft>
              <a:buSzPct val="100000"/>
              <a:buChar char="•"/>
            </a:pPr>
            <a:r>
              <a:rPr lang="en-US" sz="1400" dirty="0">
                <a:solidFill>
                  <a:schemeClr val="bg2"/>
                </a:solidFill>
              </a:rPr>
              <a:t>Close coverage and write the final report</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3F6FA"/>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AXI2APB">
  <a:themeElements>
    <a:clrScheme name="AXI2APB">
      <a:dk1>
        <a:srgbClr val="0F1B2D"/>
      </a:dk1>
      <a:lt1>
        <a:srgbClr val="FFFFFF"/>
      </a:lt1>
      <a:dk2>
        <a:srgbClr val="1B2B45"/>
      </a:dk2>
      <a:lt2>
        <a:srgbClr val="F3F6FA"/>
      </a:lt2>
      <a:accent1>
        <a:srgbClr val="12806E"/>
      </a:accent1>
      <a:accent2>
        <a:srgbClr val="D14A22"/>
      </a:accent2>
      <a:accent3>
        <a:srgbClr val="F2A541"/>
      </a:accent3>
      <a:accent4>
        <a:srgbClr val="5B6C8F"/>
      </a:accent4>
      <a:accent5>
        <a:srgbClr val="6B5BD2"/>
      </a:accent5>
      <a:accent6>
        <a:srgbClr val="2D7DD2"/>
      </a:accent6>
      <a:hlink>
        <a:srgbClr val="12806E"/>
      </a:hlink>
      <a:folHlink>
        <a:srgbClr val="5B6C8F"/>
      </a:folHlink>
    </a:clrScheme>
    <a:fontScheme name="AXI2AP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AXI2APB UVM Verification</dc:title>
  <dc:subject>PptxGenJS Presentation</dc:subject>
  <dc:creator>PptxGenJS</dc:creator>
  <cp:lastModifiedBy>PptxGenJS</cp:lastModifiedBy>
  <cp:revision>1</cp:revision>
  <dcterms:created xsi:type="dcterms:W3CDTF">2026-10-18T08:44:57Z</dcterms:created>
  <dcterms:modified xsi:type="dcterms:W3CDTF">2026-10-18T08:44:57Z</dcterms:modified>
</cp:coreProperties>
</file>